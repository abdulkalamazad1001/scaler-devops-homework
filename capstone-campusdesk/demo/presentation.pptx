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5504541-fcae-1efe-14a8-c766d9b9166a}">
          <p14:sldIdLst>
            <p14:sldId id="256"/>
            <p14:sldId id="257"/>
            <p14:sldId id="258"/>
          </p14:sldIdLst>
        </p14:section>
        <p14:section name="Architecture" id="{3d2ebd5c-9064-eb49-76df-c4ef7e231aef}">
          <p14:sldIdLst>
            <p14:sldId id="259"/>
            <p14:sldId id="260"/>
          </p14:sldIdLst>
        </p14:section>
        <p14:section name="Build and test" id="{c3a6a9fa-816c-0b06-0960-ea6c53245cd5}">
          <p14:sldIdLst>
            <p14:sldId id="261"/>
            <p14:sldId id="262"/>
            <p14:sldId id="263"/>
          </p14:sldIdLst>
        </p14:section>
        <p14:section name="Deliver" id="{7bde3f20-5dd4-297c-15c7-f434e7f3d236}">
          <p14:sldIdLst>
            <p14:sldId id="264"/>
            <p14:sldId id="265"/>
          </p14:sldIdLst>
        </p14:section>
        <p14:section name="Run" id="{46c83345-0d3e-a121-d5c0-b8c92b245286}">
          <p14:sldIdLst>
            <p14:sldId id="266"/>
            <p14:sldId id="267"/>
            <p14:sldId id="268"/>
          </p14:sldIdLst>
        </p14:section>
        <p14:section name="Operate" id="{7c385185-7222-b161-1e29-7fcede5ef508}">
          <p14:sldIdLst>
            <p14:sldId id="269"/>
            <p14:sldId id="270"/>
            <p14:sldId id="271"/>
          </p14:sldIdLst>
        </p14:section>
        <p14:section name="Wrap up" id="{b9ec28f0-d4b9-f235-5a2a-39e9004eb738}">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T. Abdul Kalam Azad, 24BCS10053. My capstone is CampusDesk: a campus IT helpdesk. The application is my own; around it I built the full DevOps delivery path from the course: tests, containers, CI/CD with security gates, a container registry, GitOps with Argo CD, Kubernetes with Helm, Terraform for AWS, and monitoring with Prometheus and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campus IT requests arrive by email, calls and walk-ins, so nothing has a clear owner or status. CampusDesk gives one queue. A student reports an issue, the support team sets the category, priority and assignee, everyone can search and filter, and tickets move from open to in progress to resolved. The overview cards show the live counts, including unresolved urgent tickets.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story on one slide. I push to main. GitHub Actions runs the security gates and tests, builds both images and Trivy blocks anything with a HIGH or CRITICAL CVE. Only then are the images pushed to GHCR, tagged with the full commit SHA, never latest. CI then commits those tags into values-release.json. Argo CD watches the repo and syncs the Helm chart into Kubernetes. Terraform creates the AWS network and EKS cluster underneath, and Prometheus and Grafana watch the running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campusdesk namespace: Traefik Ingress routes slash to two frontend pods and slash api plus slash metrics to two to four backend pods, scaled by an HPA. PostgreSQL runs as a StatefulSet with a persistent volume. A migration Job runs alembic upgrade once per release before the backend is ready, instead of every replica racing to migrate. Prometheus scrapes each backend pod through a headless service, and Grafana reads from Prometheus. Argo CD renders the Helm chart, and Terraform builds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in nine layers. React and Vite for the UI, served by an unprivileged nginx. FastAPI with SQLAlchemy and Pydantic for the API, PostgreSQL 17 with Alembic for the schema. pytest, Ruff and Playwright for quality. Docker and Compose locally. GitHub Actions with five security tools and GHCR. Helm, Traefik, the HPA and Argo CD on Kubernetes. Terraform for AWS. Prometheus and Grafana for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app itself: the create ticket dialog, and the same UI on a phone, it works down to 320 pixels. The API has full CRUD on slash api slash tickets plus stats, and three system endpoints: health for liveness, ready for readiness that checks the database, and metrics for Prometheus. The API is strict: categories, priorities and statuses are enums, unknown fields are rejected with 422, and a failed database write is rolled back and returns 503. Swagger docs are at slash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the first gate. Forty pytest cases cover health and readiness, full CRUD, filters and pagination, validation edge cases like NUL characters PostgreSQL can't store, failure handling and metrics. The important design choice: tests never touch the application database. Locally they use in-memory SQLite, in CI a separate PostgreSQL service, and the suite refuses to run if the test URL equals the real one. Playwright browser checks then test the deployed app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images. The backend is Python 3.13 on Alpine, upgraded at build time, with dependencies installed before the code so layers cache well, and pip removed afterwards so nothing can be installed at runtime. It runs as user 10001. The frontend is a multi-stage build: Node builds the React app, then only the dist folder is copied into an unprivileged nginx image running as user 101, so Node never ships. Docker Compose brings up postgres, a one-shot migration, the backend and the frontend on port 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four jobs. source-security and test run in parallel: Bandit, pip-audit, npm audit and Gitleaks on one side; Ruff, pytest against a real PostgreSQL service, the Alembic round trip, the frontend build, helm lint and terraform validate on the other. If both pass, build-scan-deploy builds the two images, Trivy scans them, and the chart is installed on a fresh kind cluster with smoke and browser tests. Only then does publish, the only job with write permission, push the exact tested images to GHCR tagged with the commit SHA, and commit those tags for Argo CD. No gate uses continue-on-error.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Bandit scans Python source, pip-audit and npm audit check dependencies, Gitleaks looks for secrets, and Trivy scans both images and fails the job on any HIGH or CRITICAL CVE. The gate actually stopped me: my first Debian-based backend image had 48 findings, including CVE-2025-47273, a path traversal in old setuptools that could let a crafted package name write files outside the target directory. I moved to patched Alpine and removed pip and setuptools after install, since the service never installs packages at runtime. Now both images scan clean. A clean scan is not a guarantee, it only means no known HIGH or CRITICAL CVE today, so every build rescans.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creates everything. A Traefik Ingress on campusdesk.localhost routes slash to two frontend pods and slash api to the backend, which starts at two replicas and an HPA can scale to four at 70 percent CPU. PostgreSQL is a StatefulSet with a 2 gigabyte persistent volume. A migration Job runs once per release. Backend probes: startup and liveness on health, readiness on ready, so a database outage stops traffic without restarting healthy pods in a loop. Database and Grafana passwords are generated by Helm on first install and reused on upgrade. On the right is kubectl get pods, services, ingress and HPA, all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GitOps means Git is the record of what's deployed. After every gate passes, CI commits the new image tags into values-release.json, with skip ci so it doesn't loop. The Argo CD Application tracks main, sees the commit and syncs the Helm chart; self-heal undoes any manual change in the cluster. So every commit that passes the pipeline is deployed, and nothing else is. I left automatic pruning off on purpose, so a bad commit can never delete resources like the database volume. Here the application is Synced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runs workloads, but it doesn't create the network. Terraform does. The CampusDesk config uses the community vpc and eks modules: a 10.42 slash 16 VPC in ap-south-1 across two availability zones, two public subnets with a single NAT gateway, two private subnets for the worker nodes, and an EKS cluster with a managed node group of t3.medium nodes, desired two, scaling one to three. CI runs terraform fmt and validate on every push. The console screenshots are from my ShelfWise EKS run: plan with 22 resources, apply, the active cluster and nodes, then destroy with nothing left, so there are no runaway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custom Prometheus metrics: a request counter and a latency histogram, labelled by route template rather than ticket ID, so the number of time series stays bounded. Prometheus discovers every backend pod through a headless service, so one replica can't hide another's counters. The Grafana dashboard, provisioned from the chart, shows healthy replicas, requests per second, P95 latency, traffic by route and status codes. There are two alert rules: backend unavailable for two minutes, and more than five percent 5xx responses for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the HPA works I ran a bounded load generator for 60 seconds with four workers. CPU went to 442 percent of the 70 percent target, and the HPA scaled the backend from two pods to four, its maximum. Across the run there were 15,833 successful requests and zero failures, so scaling happened without dropping traffic. The HPA needs resource requests on the pods and metrics-server, both set up by the chart and the local cluster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troubleshooting labs, each on separate demo objects so the real app keeps running. First, a broken image: pods sit in ImagePullBackOff, the events name a tag that doesn't exist, and I fix it with kubectl set image. Second, a broken service: it has a ClusterIP but no endpoints, because its selector doesn't match any pod labels; no matching labels means no traffic. Third, a pod that's Running but not Ready, because the readiness probe points at a path that returns 404. One lesson: helm rollback restores the chart, but it doesn't undo a database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decisions I want to call out. Health doesn't touch the database but ready does, so an outage stops traffic rather than causing a restart loop. Images are tagged with the full commit SHA, never latest, so every deployment traces to source. Publishing happens only after Trivy and the kind deploy pass, from a single job with write permission. Migrations run in their own Job. Metrics use route templates, not IDs, to keep cardinality bounded. And Argo CD pruning is off so a bad commit can't delete the database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biggest lesson is that a gate only matters if a failure really blocks the release, and Trivy proved that by stopping a vulnerable image. Git as the deployment record makes every release traceable. Liveness and readiness are different questions. Known limits: there's no authentication yet, PostgreSQL is a single instance, the Ingress is plain HTTP, and local monitoring storage is ephemeral. Production would add auth, a managed database with backups, and TLS. Thank you. Now I'll show the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8778240" cy="137160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3611880"/>
            <a:ext cx="7863840" cy="914400"/>
          </a:xfrm>
          <a:prstGeom prst="rect">
            <a:avLst/>
          </a:prstGeom>
          <a:noFill/>
          <a:ln/>
        </p:spPr>
        <p:txBody>
          <a:bodyPr wrap="square" rtlCol="0"/>
          <a:lstStyle>
            <a:lvl1pPr indent="0" marL="0">
              <a:buNone/>
              <a:defRPr lang="en-US" sz="2200" dirty="0">
                <a:solidFill>
                  <a:schemeClr val="accent3"/>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T. Abdul Kalam Azad  |  24BCS10053  |  CampusDesk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rtlCol="0"/>
          <a:lstStyle>
            <a:lvl1pPr algn="l" indent="0" marL="0">
              <a:buNone/>
              <a:defRPr lang="en-US" sz="36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T. Abdul Kalam Azad  |  24BCS10053  |  CampusDesk</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4.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4.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4.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8778240" cy="13716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CampusDesk</a:t>
            </a:r>
            <a:endParaRPr lang="en-US" sz="5400" dirty="0"/>
          </a:p>
        </p:txBody>
      </p:sp>
      <p:sp>
        <p:nvSpPr>
          <p:cNvPr id="3" name="Text 0"/>
          <p:cNvSpPr/>
          <p:nvPr>
            <p:ph idx="101" type="body" hasCustomPrompt="1"/>
          </p:nvPr>
        </p:nvSpPr>
        <p:spPr>
          <a:xfrm>
            <a:off x="548640" y="3611880"/>
            <a:ext cx="7863840" cy="914400"/>
          </a:xfrm>
          <a:prstGeom prst="rect">
            <a:avLst/>
          </a:prstGeom>
          <a:noFill/>
          <a:ln/>
        </p:spPr>
        <p:txBody>
          <a:bodyPr wrap="square" lIns="0" tIns="0" rIns="0" bIns="0" rtlCol="0" anchor="t"/>
          <a:lstStyle/>
          <a:p>
            <a:pPr indent="0" marL="0">
              <a:buNone/>
            </a:pPr>
            <a:r>
              <a:rPr lang="en-US" sz="2200" dirty="0">
                <a:solidFill>
                  <a:schemeClr val="accent3"/>
                </a:solidFill>
              </a:rPr>
              <a:t>A campus IT helpdesk, delivered from laptop to GitOps-managed Kubernetes</a:t>
            </a:r>
            <a:endParaRPr lang="en-US" sz="2200" dirty="0"/>
          </a:p>
        </p:txBody>
      </p:sp>
      <p:sp>
        <p:nvSpPr>
          <p:cNvPr id="4" name="Text 2"/>
          <p:cNvSpPr txBox="1"/>
          <p:nvPr/>
        </p:nvSpPr>
        <p:spPr>
          <a:xfrm>
            <a:off x="548640" y="1600200"/>
            <a:ext cx="45720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DEVOPS CAPSTONE</a:t>
            </a:r>
            <a:endParaRPr lang="en-US" sz="1400" dirty="0"/>
          </a:p>
        </p:txBody>
      </p:sp>
      <p:sp>
        <p:nvSpPr>
          <p:cNvPr id="5" name="Text 3"/>
          <p:cNvSpPr txBox="1"/>
          <p:nvPr/>
        </p:nvSpPr>
        <p:spPr>
          <a:xfrm>
            <a:off x="548640" y="5074920"/>
            <a:ext cx="4572000" cy="731520"/>
          </a:xfrm>
          <a:prstGeom prst="rect">
            <a:avLst/>
          </a:prstGeom>
          <a:noFill/>
          <a:ln/>
        </p:spPr>
        <p:txBody>
          <a:bodyPr wrap="square" lIns="0" tIns="0" rIns="0" bIns="0" rtlCol="0" anchor="t"/>
          <a:lstStyle/>
          <a:p>
            <a:pPr indent="0" marL="0">
              <a:buNone/>
            </a:pPr>
            <a:r>
              <a:rPr lang="en-US" sz="1600" b="1" dirty="0">
                <a:solidFill>
                  <a:schemeClr val="bg1"/>
                </a:solidFill>
              </a:rPr>
              <a:t>T. Abdul Kalam Azad</a:t>
            </a:r>
            <a:endParaRPr lang="en-US" sz="1600" dirty="0"/>
          </a:p>
          <a:p>
            <a:pPr indent="0" marL="0">
              <a:buNone/>
            </a:pPr>
            <a:r>
              <a:rPr lang="en-US" sz="1600" dirty="0">
                <a:solidFill>
                  <a:schemeClr val="bg1"/>
                </a:solidFill>
              </a:rPr>
              <a:t>24BCS10053</a:t>
            </a:r>
            <a:endParaRPr lang="en-US" sz="1600" dirty="0"/>
          </a:p>
        </p:txBody>
      </p:sp>
      <p:sp>
        <p:nvSpPr>
          <p:cNvPr id="6" name="icon tile FaReact"/>
          <p:cNvSpPr/>
          <p:nvPr/>
        </p:nvSpPr>
        <p:spPr>
          <a:xfrm>
            <a:off x="9829800" y="1188720"/>
            <a:ext cx="731520" cy="731520"/>
          </a:xfrm>
          <a:prstGeom prst="roundRect">
            <a:avLst>
              <a:gd name="adj" fmla="val 15000"/>
            </a:avLst>
          </a:prstGeom>
          <a:solidFill>
            <a:schemeClr val="accent1"/>
          </a:solidFill>
          <a:ln/>
        </p:spPr>
      </p:sp>
      <p:pic>
        <p:nvPicPr>
          <p:cNvPr id="7" name="Image 0" descr="React icon">    </p:cNvPr>
          <p:cNvPicPr>
            <a:picLocks noChangeAspect="1"/>
          </p:cNvPicPr>
          <p:nvPr/>
        </p:nvPicPr>
        <p:blipFill>
          <a:blip r:embed="rId1"/>
          <a:stretch>
            <a:fillRect/>
          </a:stretch>
        </p:blipFill>
        <p:spPr>
          <a:xfrm>
            <a:off x="10005365" y="1364285"/>
            <a:ext cx="380390" cy="380390"/>
          </a:xfrm>
          <a:prstGeom prst="rect">
            <a:avLst/>
          </a:prstGeom>
        </p:spPr>
      </p:pic>
      <p:sp>
        <p:nvSpPr>
          <p:cNvPr id="8" name="icon tile FaPython"/>
          <p:cNvSpPr/>
          <p:nvPr/>
        </p:nvSpPr>
        <p:spPr>
          <a:xfrm>
            <a:off x="10744200" y="1188720"/>
            <a:ext cx="731520" cy="731520"/>
          </a:xfrm>
          <a:prstGeom prst="roundRect">
            <a:avLst>
              <a:gd name="adj" fmla="val 15000"/>
            </a:avLst>
          </a:prstGeom>
          <a:solidFill>
            <a:schemeClr val="accent2"/>
          </a:solidFill>
          <a:ln/>
        </p:spPr>
      </p:sp>
      <p:pic>
        <p:nvPicPr>
          <p:cNvPr id="9" name="Image 1" descr="Python icon">    </p:cNvPr>
          <p:cNvPicPr>
            <a:picLocks noChangeAspect="1"/>
          </p:cNvPicPr>
          <p:nvPr/>
        </p:nvPicPr>
        <p:blipFill>
          <a:blip r:embed="rId2"/>
          <a:stretch>
            <a:fillRect/>
          </a:stretch>
        </p:blipFill>
        <p:spPr>
          <a:xfrm>
            <a:off x="10919765" y="1364285"/>
            <a:ext cx="380390" cy="380390"/>
          </a:xfrm>
          <a:prstGeom prst="rect">
            <a:avLst/>
          </a:prstGeom>
        </p:spPr>
      </p:pic>
      <p:sp>
        <p:nvSpPr>
          <p:cNvPr id="10" name="icon tile FaDocker"/>
          <p:cNvSpPr/>
          <p:nvPr/>
        </p:nvSpPr>
        <p:spPr>
          <a:xfrm>
            <a:off x="9829800" y="2148840"/>
            <a:ext cx="731520" cy="731520"/>
          </a:xfrm>
          <a:prstGeom prst="roundRect">
            <a:avLst>
              <a:gd name="adj" fmla="val 15000"/>
            </a:avLst>
          </a:prstGeom>
          <a:solidFill>
            <a:schemeClr val="accent1"/>
          </a:solidFill>
          <a:ln/>
        </p:spPr>
      </p:sp>
      <p:pic>
        <p:nvPicPr>
          <p:cNvPr id="11" name="Image 2" descr="Docker icon">    </p:cNvPr>
          <p:cNvPicPr>
            <a:picLocks noChangeAspect="1"/>
          </p:cNvPicPr>
          <p:nvPr/>
        </p:nvPicPr>
        <p:blipFill>
          <a:blip r:embed="rId3"/>
          <a:stretch>
            <a:fillRect/>
          </a:stretch>
        </p:blipFill>
        <p:spPr>
          <a:xfrm>
            <a:off x="10005365" y="2324405"/>
            <a:ext cx="380390" cy="380390"/>
          </a:xfrm>
          <a:prstGeom prst="rect">
            <a:avLst/>
          </a:prstGeom>
        </p:spPr>
      </p:pic>
      <p:sp>
        <p:nvSpPr>
          <p:cNvPr id="12" name="icon tile FaGithub"/>
          <p:cNvSpPr/>
          <p:nvPr/>
        </p:nvSpPr>
        <p:spPr>
          <a:xfrm>
            <a:off x="10744200" y="2148840"/>
            <a:ext cx="731520" cy="731520"/>
          </a:xfrm>
          <a:prstGeom prst="roundRect">
            <a:avLst>
              <a:gd name="adj" fmla="val 15000"/>
            </a:avLst>
          </a:prstGeom>
          <a:solidFill>
            <a:schemeClr val="accent1"/>
          </a:solidFill>
          <a:ln/>
        </p:spPr>
      </p:sp>
      <p:pic>
        <p:nvPicPr>
          <p:cNvPr id="13" name="Image 3" descr="Github icon">    </p:cNvPr>
          <p:cNvPicPr>
            <a:picLocks noChangeAspect="1"/>
          </p:cNvPicPr>
          <p:nvPr/>
        </p:nvPicPr>
        <p:blipFill>
          <a:blip r:embed="rId4"/>
          <a:stretch>
            <a:fillRect/>
          </a:stretch>
        </p:blipFill>
        <p:spPr>
          <a:xfrm>
            <a:off x="10919765" y="2324405"/>
            <a:ext cx="380390" cy="380390"/>
          </a:xfrm>
          <a:prstGeom prst="rect">
            <a:avLst/>
          </a:prstGeom>
        </p:spPr>
      </p:pic>
      <p:sp>
        <p:nvSpPr>
          <p:cNvPr id="14" name="icon tile FaDharmachakra"/>
          <p:cNvSpPr/>
          <p:nvPr/>
        </p:nvSpPr>
        <p:spPr>
          <a:xfrm>
            <a:off x="9829800" y="3108960"/>
            <a:ext cx="731520" cy="731520"/>
          </a:xfrm>
          <a:prstGeom prst="roundRect">
            <a:avLst>
              <a:gd name="adj" fmla="val 15000"/>
            </a:avLst>
          </a:prstGeom>
          <a:solidFill>
            <a:schemeClr val="accent2"/>
          </a:solidFill>
          <a:ln/>
        </p:spPr>
      </p:sp>
      <p:pic>
        <p:nvPicPr>
          <p:cNvPr id="15" name="Image 4" descr="Dharmachakra icon">    </p:cNvPr>
          <p:cNvPicPr>
            <a:picLocks noChangeAspect="1"/>
          </p:cNvPicPr>
          <p:nvPr/>
        </p:nvPicPr>
        <p:blipFill>
          <a:blip r:embed="rId5"/>
          <a:stretch>
            <a:fillRect/>
          </a:stretch>
        </p:blipFill>
        <p:spPr>
          <a:xfrm>
            <a:off x="10005365" y="3284525"/>
            <a:ext cx="380390" cy="380390"/>
          </a:xfrm>
          <a:prstGeom prst="rect">
            <a:avLst/>
          </a:prstGeom>
        </p:spPr>
      </p:pic>
      <p:sp>
        <p:nvSpPr>
          <p:cNvPr id="16" name="icon tile FaAws"/>
          <p:cNvSpPr/>
          <p:nvPr/>
        </p:nvSpPr>
        <p:spPr>
          <a:xfrm>
            <a:off x="10744200" y="3108960"/>
            <a:ext cx="731520" cy="731520"/>
          </a:xfrm>
          <a:prstGeom prst="roundRect">
            <a:avLst>
              <a:gd name="adj" fmla="val 15000"/>
            </a:avLst>
          </a:prstGeom>
          <a:solidFill>
            <a:schemeClr val="accent1"/>
          </a:solidFill>
          <a:ln/>
        </p:spPr>
      </p:sp>
      <p:pic>
        <p:nvPicPr>
          <p:cNvPr id="17" name="Image 5" descr="Aws icon">    </p:cNvPr>
          <p:cNvPicPr>
            <a:picLocks noChangeAspect="1"/>
          </p:cNvPicPr>
          <p:nvPr/>
        </p:nvPicPr>
        <p:blipFill>
          <a:blip r:embed="rId6"/>
          <a:stretch>
            <a:fillRect/>
          </a:stretch>
        </p:blipFill>
        <p:spPr>
          <a:xfrm>
            <a:off x="10919765" y="3284525"/>
            <a:ext cx="380390" cy="380390"/>
          </a:xfrm>
          <a:prstGeom prst="rect">
            <a:avLst/>
          </a:prstGeom>
        </p:spPr>
      </p:pic>
      <p:sp>
        <p:nvSpPr>
          <p:cNvPr id="18" name="icon tile FaChartLine"/>
          <p:cNvSpPr/>
          <p:nvPr/>
        </p:nvSpPr>
        <p:spPr>
          <a:xfrm>
            <a:off x="9829800" y="4069080"/>
            <a:ext cx="731520" cy="731520"/>
          </a:xfrm>
          <a:prstGeom prst="roundRect">
            <a:avLst>
              <a:gd name="adj" fmla="val 15000"/>
            </a:avLst>
          </a:prstGeom>
          <a:solidFill>
            <a:schemeClr val="accent1"/>
          </a:solidFill>
          <a:ln/>
        </p:spPr>
      </p:sp>
      <p:pic>
        <p:nvPicPr>
          <p:cNvPr id="19" name="Image 6" descr="ChartLine icon">    </p:cNvPr>
          <p:cNvPicPr>
            <a:picLocks noChangeAspect="1"/>
          </p:cNvPicPr>
          <p:nvPr/>
        </p:nvPicPr>
        <p:blipFill>
          <a:blip r:embed="rId7"/>
          <a:stretch>
            <a:fillRect/>
          </a:stretch>
        </p:blipFill>
        <p:spPr>
          <a:xfrm>
            <a:off x="10005365" y="4244645"/>
            <a:ext cx="380390" cy="3803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Campus IT requests need one clear queue</a:t>
            </a:r>
            <a:endParaRPr lang="en-US" sz="3600" dirty="0"/>
          </a:p>
        </p:txBody>
      </p:sp>
      <p:sp>
        <p:nvSpPr>
          <p:cNvPr id="3" name="icon tile FaBullhorn"/>
          <p:cNvSpPr/>
          <p:nvPr/>
        </p:nvSpPr>
        <p:spPr>
          <a:xfrm>
            <a:off x="548640" y="1508760"/>
            <a:ext cx="777240" cy="777240"/>
          </a:xfrm>
          <a:prstGeom prst="roundRect">
            <a:avLst>
              <a:gd name="adj" fmla="val 14118"/>
            </a:avLst>
          </a:prstGeom>
          <a:solidFill>
            <a:schemeClr val="accent1"/>
          </a:solidFill>
          <a:ln/>
        </p:spPr>
      </p:sp>
      <p:pic>
        <p:nvPicPr>
          <p:cNvPr id="4" name="Image 0" descr="Bullhorn icon">    </p:cNvPr>
          <p:cNvPicPr>
            <a:picLocks noChangeAspect="1"/>
          </p:cNvPicPr>
          <p:nvPr/>
        </p:nvPicPr>
        <p:blipFill>
          <a:blip r:embed="rId1"/>
          <a:stretch>
            <a:fillRect/>
          </a:stretch>
        </p:blipFill>
        <p:spPr>
          <a:xfrm>
            <a:off x="735178" y="1695298"/>
            <a:ext cx="404165" cy="404165"/>
          </a:xfrm>
          <a:prstGeom prst="rect">
            <a:avLst/>
          </a:prstGeom>
        </p:spPr>
      </p:pic>
      <p:sp>
        <p:nvSpPr>
          <p:cNvPr id="5" name="Text 2"/>
          <p:cNvSpPr txBox="1"/>
          <p:nvPr/>
        </p:nvSpPr>
        <p:spPr>
          <a:xfrm>
            <a:off x="1554480" y="1527048"/>
            <a:ext cx="42062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Report</a:t>
            </a:r>
            <a:endParaRPr lang="en-US" sz="1800" dirty="0"/>
          </a:p>
        </p:txBody>
      </p:sp>
      <p:sp>
        <p:nvSpPr>
          <p:cNvPr id="6" name="Text 3"/>
          <p:cNvSpPr txBox="1"/>
          <p:nvPr/>
        </p:nvSpPr>
        <p:spPr>
          <a:xfrm>
            <a:off x="1554480" y="1874520"/>
            <a:ext cx="4206240" cy="548640"/>
          </a:xfrm>
          <a:prstGeom prst="rect">
            <a:avLst/>
          </a:prstGeom>
          <a:noFill/>
          <a:ln/>
        </p:spPr>
        <p:txBody>
          <a:bodyPr wrap="square" lIns="0" tIns="0" rIns="0" bIns="0" rtlCol="0" anchor="t"/>
          <a:lstStyle/>
          <a:p>
            <a:pPr indent="0" marL="0">
              <a:buNone/>
            </a:pPr>
            <a:r>
              <a:rPr lang="en-US" sz="1400" dirty="0">
                <a:solidFill>
                  <a:schemeClr val="accent5"/>
                </a:solidFill>
              </a:rPr>
              <a:t>Students and staff raise network, hardware, software or access issues</a:t>
            </a:r>
            <a:endParaRPr lang="en-US" sz="1400" dirty="0"/>
          </a:p>
        </p:txBody>
      </p:sp>
      <p:sp>
        <p:nvSpPr>
          <p:cNvPr id="7" name="icon tile FaListCheck"/>
          <p:cNvSpPr/>
          <p:nvPr/>
        </p:nvSpPr>
        <p:spPr>
          <a:xfrm>
            <a:off x="548640" y="2679192"/>
            <a:ext cx="777240" cy="777240"/>
          </a:xfrm>
          <a:prstGeom prst="roundRect">
            <a:avLst>
              <a:gd name="adj" fmla="val 14118"/>
            </a:avLst>
          </a:prstGeom>
          <a:solidFill>
            <a:schemeClr val="accent1"/>
          </a:solidFill>
          <a:ln/>
        </p:spPr>
      </p:sp>
      <p:pic>
        <p:nvPicPr>
          <p:cNvPr id="8" name="Image 1" descr="ListCheck icon">    </p:cNvPr>
          <p:cNvPicPr>
            <a:picLocks noChangeAspect="1"/>
          </p:cNvPicPr>
          <p:nvPr/>
        </p:nvPicPr>
        <p:blipFill>
          <a:blip r:embed="rId2"/>
          <a:stretch>
            <a:fillRect/>
          </a:stretch>
        </p:blipFill>
        <p:spPr>
          <a:xfrm>
            <a:off x="735178" y="2865730"/>
            <a:ext cx="404165" cy="404165"/>
          </a:xfrm>
          <a:prstGeom prst="rect">
            <a:avLst/>
          </a:prstGeom>
        </p:spPr>
      </p:pic>
      <p:sp>
        <p:nvSpPr>
          <p:cNvPr id="9" name="Text 5"/>
          <p:cNvSpPr txBox="1"/>
          <p:nvPr/>
        </p:nvSpPr>
        <p:spPr>
          <a:xfrm>
            <a:off x="1554480" y="2697480"/>
            <a:ext cx="42062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Prioritise</a:t>
            </a:r>
            <a:endParaRPr lang="en-US" sz="1800" dirty="0"/>
          </a:p>
        </p:txBody>
      </p:sp>
      <p:sp>
        <p:nvSpPr>
          <p:cNvPr id="10" name="Text 6"/>
          <p:cNvSpPr txBox="1"/>
          <p:nvPr/>
        </p:nvSpPr>
        <p:spPr>
          <a:xfrm>
            <a:off x="1554480" y="3044952"/>
            <a:ext cx="4206240" cy="548640"/>
          </a:xfrm>
          <a:prstGeom prst="rect">
            <a:avLst/>
          </a:prstGeom>
          <a:noFill/>
          <a:ln/>
        </p:spPr>
        <p:txBody>
          <a:bodyPr wrap="square" lIns="0" tIns="0" rIns="0" bIns="0" rtlCol="0" anchor="t"/>
          <a:lstStyle/>
          <a:p>
            <a:pPr indent="0" marL="0">
              <a:buNone/>
            </a:pPr>
            <a:r>
              <a:rPr lang="en-US" sz="1400" dirty="0">
                <a:solidFill>
                  <a:schemeClr val="accent5"/>
                </a:solidFill>
              </a:rPr>
              <a:t>Support sets category, priority (low to urgent) and an assignee</a:t>
            </a:r>
            <a:endParaRPr lang="en-US" sz="1400" dirty="0"/>
          </a:p>
        </p:txBody>
      </p:sp>
      <p:sp>
        <p:nvSpPr>
          <p:cNvPr id="11" name="icon tile FaMagnifyingGlass"/>
          <p:cNvSpPr/>
          <p:nvPr/>
        </p:nvSpPr>
        <p:spPr>
          <a:xfrm>
            <a:off x="548640" y="3849624"/>
            <a:ext cx="777240" cy="777240"/>
          </a:xfrm>
          <a:prstGeom prst="roundRect">
            <a:avLst>
              <a:gd name="adj" fmla="val 14118"/>
            </a:avLst>
          </a:prstGeom>
          <a:solidFill>
            <a:schemeClr val="accent1"/>
          </a:solidFill>
          <a:ln/>
        </p:spPr>
      </p:sp>
      <p:pic>
        <p:nvPicPr>
          <p:cNvPr id="12" name="Image 2" descr="MagnifyingGlass icon">    </p:cNvPr>
          <p:cNvPicPr>
            <a:picLocks noChangeAspect="1"/>
          </p:cNvPicPr>
          <p:nvPr/>
        </p:nvPicPr>
        <p:blipFill>
          <a:blip r:embed="rId3"/>
          <a:stretch>
            <a:fillRect/>
          </a:stretch>
        </p:blipFill>
        <p:spPr>
          <a:xfrm>
            <a:off x="735178" y="4036162"/>
            <a:ext cx="404165" cy="404165"/>
          </a:xfrm>
          <a:prstGeom prst="rect">
            <a:avLst/>
          </a:prstGeom>
        </p:spPr>
      </p:pic>
      <p:sp>
        <p:nvSpPr>
          <p:cNvPr id="13" name="Text 8"/>
          <p:cNvSpPr txBox="1"/>
          <p:nvPr/>
        </p:nvSpPr>
        <p:spPr>
          <a:xfrm>
            <a:off x="1554480" y="3867912"/>
            <a:ext cx="42062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Track</a:t>
            </a:r>
            <a:endParaRPr lang="en-US" sz="1800" dirty="0"/>
          </a:p>
        </p:txBody>
      </p:sp>
      <p:sp>
        <p:nvSpPr>
          <p:cNvPr id="14" name="Text 9"/>
          <p:cNvSpPr txBox="1"/>
          <p:nvPr/>
        </p:nvSpPr>
        <p:spPr>
          <a:xfrm>
            <a:off x="1554480" y="4215384"/>
            <a:ext cx="4206240" cy="548640"/>
          </a:xfrm>
          <a:prstGeom prst="rect">
            <a:avLst/>
          </a:prstGeom>
          <a:noFill/>
          <a:ln/>
        </p:spPr>
        <p:txBody>
          <a:bodyPr wrap="square" lIns="0" tIns="0" rIns="0" bIns="0" rtlCol="0" anchor="t"/>
          <a:lstStyle/>
          <a:p>
            <a:pPr indent="0" marL="0">
              <a:buNone/>
            </a:pPr>
            <a:r>
              <a:rPr lang="en-US" sz="1400" dirty="0">
                <a:solidFill>
                  <a:schemeClr val="accent5"/>
                </a:solidFill>
              </a:rPr>
              <a:t>Status filters and search across title, requester and location</a:t>
            </a:r>
            <a:endParaRPr lang="en-US" sz="1400" dirty="0"/>
          </a:p>
        </p:txBody>
      </p:sp>
      <p:sp>
        <p:nvSpPr>
          <p:cNvPr id="15" name="icon tile FaCircleCheck"/>
          <p:cNvSpPr/>
          <p:nvPr/>
        </p:nvSpPr>
        <p:spPr>
          <a:xfrm>
            <a:off x="548640" y="5020056"/>
            <a:ext cx="777240" cy="777240"/>
          </a:xfrm>
          <a:prstGeom prst="roundRect">
            <a:avLst>
              <a:gd name="adj" fmla="val 14118"/>
            </a:avLst>
          </a:prstGeom>
          <a:solidFill>
            <a:schemeClr val="accent2"/>
          </a:solidFill>
          <a:ln/>
        </p:spPr>
      </p:sp>
      <p:pic>
        <p:nvPicPr>
          <p:cNvPr id="16" name="Image 3" descr="CircleCheck icon">    </p:cNvPr>
          <p:cNvPicPr>
            <a:picLocks noChangeAspect="1"/>
          </p:cNvPicPr>
          <p:nvPr/>
        </p:nvPicPr>
        <p:blipFill>
          <a:blip r:embed="rId4"/>
          <a:stretch>
            <a:fillRect/>
          </a:stretch>
        </p:blipFill>
        <p:spPr>
          <a:xfrm>
            <a:off x="735178" y="5206594"/>
            <a:ext cx="404165" cy="404165"/>
          </a:xfrm>
          <a:prstGeom prst="rect">
            <a:avLst/>
          </a:prstGeom>
        </p:spPr>
      </p:pic>
      <p:sp>
        <p:nvSpPr>
          <p:cNvPr id="17" name="Text 11"/>
          <p:cNvSpPr txBox="1"/>
          <p:nvPr/>
        </p:nvSpPr>
        <p:spPr>
          <a:xfrm>
            <a:off x="1554480" y="5038344"/>
            <a:ext cx="420624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Resolve</a:t>
            </a:r>
            <a:endParaRPr lang="en-US" sz="1800" dirty="0"/>
          </a:p>
        </p:txBody>
      </p:sp>
      <p:sp>
        <p:nvSpPr>
          <p:cNvPr id="18" name="Text 12"/>
          <p:cNvSpPr txBox="1"/>
          <p:nvPr/>
        </p:nvSpPr>
        <p:spPr>
          <a:xfrm>
            <a:off x="1554480" y="5385816"/>
            <a:ext cx="4206240" cy="548640"/>
          </a:xfrm>
          <a:prstGeom prst="rect">
            <a:avLst/>
          </a:prstGeom>
          <a:noFill/>
          <a:ln/>
        </p:spPr>
        <p:txBody>
          <a:bodyPr wrap="square" lIns="0" tIns="0" rIns="0" bIns="0" rtlCol="0" anchor="t"/>
          <a:lstStyle/>
          <a:p>
            <a:pPr indent="0" marL="0">
              <a:buNone/>
            </a:pPr>
            <a:r>
              <a:rPr lang="en-US" sz="1400" dirty="0">
                <a:solidFill>
                  <a:schemeClr val="accent5"/>
                </a:solidFill>
              </a:rPr>
              <a:t>Tickets move open, in progress, resolved; live stats on top</a:t>
            </a:r>
            <a:endParaRPr lang="en-US" sz="1400" dirty="0"/>
          </a:p>
        </p:txBody>
      </p:sp>
      <p:sp>
        <p:nvSpPr>
          <p:cNvPr id="19" name="frame CampusDesk service desk overview in the browser"/>
          <p:cNvSpPr/>
          <p:nvPr/>
        </p:nvSpPr>
        <p:spPr>
          <a:xfrm>
            <a:off x="6126272" y="1408176"/>
            <a:ext cx="5578257" cy="477316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20" name="Image 4" descr="CampusDesk service desk overview in the browser">    </p:cNvPr>
          <p:cNvPicPr>
            <a:picLocks noChangeAspect="1"/>
          </p:cNvPicPr>
          <p:nvPr/>
        </p:nvPicPr>
        <p:blipFill>
          <a:blip r:embed="rId5"/>
          <a:stretch>
            <a:fillRect/>
          </a:stretch>
        </p:blipFill>
        <p:spPr>
          <a:xfrm>
            <a:off x="6181136" y="1463040"/>
            <a:ext cx="5468529" cy="4663440"/>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One commit travels the whole delivery path</a:t>
            </a:r>
            <a:endParaRPr lang="en-US" sz="3600" dirty="0"/>
          </a:p>
        </p:txBody>
      </p:sp>
      <p:sp>
        <p:nvSpPr>
          <p:cNvPr id="3" name="icon tile FaLaptopCode"/>
          <p:cNvSpPr/>
          <p:nvPr/>
        </p:nvSpPr>
        <p:spPr>
          <a:xfrm>
            <a:off x="929618" y="1691640"/>
            <a:ext cx="822960" cy="822960"/>
          </a:xfrm>
          <a:prstGeom prst="roundRect">
            <a:avLst>
              <a:gd name="adj" fmla="val 13333"/>
            </a:avLst>
          </a:prstGeom>
          <a:solidFill>
            <a:schemeClr val="accent1"/>
          </a:solidFill>
          <a:ln/>
        </p:spPr>
      </p:sp>
      <p:pic>
        <p:nvPicPr>
          <p:cNvPr id="4" name="Image 0" descr="LaptopCode icon">    </p:cNvPr>
          <p:cNvPicPr>
            <a:picLocks noChangeAspect="1"/>
          </p:cNvPicPr>
          <p:nvPr/>
        </p:nvPicPr>
        <p:blipFill>
          <a:blip r:embed="rId1"/>
          <a:stretch>
            <a:fillRect/>
          </a:stretch>
        </p:blipFill>
        <p:spPr>
          <a:xfrm>
            <a:off x="1127129" y="1889150"/>
            <a:ext cx="427939" cy="427939"/>
          </a:xfrm>
          <a:prstGeom prst="rect">
            <a:avLst/>
          </a:prstGeom>
        </p:spPr>
      </p:pic>
      <p:sp>
        <p:nvSpPr>
          <p:cNvPr id="5" name="Text 2"/>
          <p:cNvSpPr txBox="1"/>
          <p:nvPr/>
        </p:nvSpPr>
        <p:spPr>
          <a:xfrm>
            <a:off x="594360"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Developer</a:t>
            </a:r>
            <a:endParaRPr lang="en-US" sz="1500" dirty="0"/>
          </a:p>
        </p:txBody>
      </p:sp>
      <p:sp>
        <p:nvSpPr>
          <p:cNvPr id="6" name="Text 3"/>
          <p:cNvSpPr txBox="1"/>
          <p:nvPr/>
        </p:nvSpPr>
        <p:spPr>
          <a:xfrm>
            <a:off x="594360"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git push to main</a:t>
            </a:r>
            <a:endParaRPr lang="en-US" sz="1200" dirty="0"/>
          </a:p>
        </p:txBody>
      </p:sp>
      <p:sp>
        <p:nvSpPr>
          <p:cNvPr id="7" name="arrow"/>
          <p:cNvSpPr/>
          <p:nvPr/>
        </p:nvSpPr>
        <p:spPr>
          <a:xfrm>
            <a:off x="1844018" y="2103120"/>
            <a:ext cx="579076" cy="914"/>
          </a:xfrm>
          <a:prstGeom prst="line">
            <a:avLst/>
          </a:prstGeom>
          <a:noFill/>
          <a:ln w="22225">
            <a:solidFill>
              <a:srgbClr val="4F6F64"/>
            </a:solidFill>
            <a:prstDash val="solid"/>
            <a:tailEnd type="triangle"/>
          </a:ln>
        </p:spPr>
      </p:sp>
      <p:sp>
        <p:nvSpPr>
          <p:cNvPr id="8" name="icon tile FaGithub"/>
          <p:cNvSpPr/>
          <p:nvPr/>
        </p:nvSpPr>
        <p:spPr>
          <a:xfrm>
            <a:off x="2514535" y="1691640"/>
            <a:ext cx="822960" cy="822960"/>
          </a:xfrm>
          <a:prstGeom prst="roundRect">
            <a:avLst>
              <a:gd name="adj" fmla="val 13333"/>
            </a:avLst>
          </a:prstGeom>
          <a:solidFill>
            <a:schemeClr val="accent1"/>
          </a:solidFill>
          <a:ln/>
        </p:spPr>
      </p:sp>
      <p:pic>
        <p:nvPicPr>
          <p:cNvPr id="9" name="Image 1" descr="Github icon">    </p:cNvPr>
          <p:cNvPicPr>
            <a:picLocks noChangeAspect="1"/>
          </p:cNvPicPr>
          <p:nvPr/>
        </p:nvPicPr>
        <p:blipFill>
          <a:blip r:embed="rId2"/>
          <a:stretch>
            <a:fillRect/>
          </a:stretch>
        </p:blipFill>
        <p:spPr>
          <a:xfrm>
            <a:off x="2712045" y="1889150"/>
            <a:ext cx="427939" cy="427939"/>
          </a:xfrm>
          <a:prstGeom prst="rect">
            <a:avLst/>
          </a:prstGeom>
        </p:spPr>
      </p:pic>
      <p:sp>
        <p:nvSpPr>
          <p:cNvPr id="10" name="Text 6"/>
          <p:cNvSpPr txBox="1"/>
          <p:nvPr/>
        </p:nvSpPr>
        <p:spPr>
          <a:xfrm>
            <a:off x="2179276"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GitHub Actions</a:t>
            </a:r>
            <a:endParaRPr lang="en-US" sz="1500" dirty="0"/>
          </a:p>
        </p:txBody>
      </p:sp>
      <p:sp>
        <p:nvSpPr>
          <p:cNvPr id="11" name="Text 7"/>
          <p:cNvSpPr txBox="1"/>
          <p:nvPr/>
        </p:nvSpPr>
        <p:spPr>
          <a:xfrm>
            <a:off x="2179276"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security + tests</a:t>
            </a:r>
            <a:endParaRPr lang="en-US" sz="1200" dirty="0"/>
          </a:p>
        </p:txBody>
      </p:sp>
      <p:sp>
        <p:nvSpPr>
          <p:cNvPr id="12" name="arrow"/>
          <p:cNvSpPr/>
          <p:nvPr/>
        </p:nvSpPr>
        <p:spPr>
          <a:xfrm>
            <a:off x="3428935" y="2103120"/>
            <a:ext cx="579076" cy="914"/>
          </a:xfrm>
          <a:prstGeom prst="line">
            <a:avLst/>
          </a:prstGeom>
          <a:noFill/>
          <a:ln w="22225">
            <a:solidFill>
              <a:srgbClr val="4F6F64"/>
            </a:solidFill>
            <a:prstDash val="solid"/>
            <a:tailEnd type="triangle"/>
          </a:ln>
        </p:spPr>
      </p:sp>
      <p:sp>
        <p:nvSpPr>
          <p:cNvPr id="13" name="icon tile FaShieldHalved"/>
          <p:cNvSpPr/>
          <p:nvPr/>
        </p:nvSpPr>
        <p:spPr>
          <a:xfrm>
            <a:off x="4099451" y="1691640"/>
            <a:ext cx="822960" cy="822960"/>
          </a:xfrm>
          <a:prstGeom prst="roundRect">
            <a:avLst>
              <a:gd name="adj" fmla="val 13333"/>
            </a:avLst>
          </a:prstGeom>
          <a:solidFill>
            <a:schemeClr val="accent2"/>
          </a:solidFill>
          <a:ln/>
        </p:spPr>
      </p:sp>
      <p:pic>
        <p:nvPicPr>
          <p:cNvPr id="14" name="Image 2" descr="ShieldHalved icon">    </p:cNvPr>
          <p:cNvPicPr>
            <a:picLocks noChangeAspect="1"/>
          </p:cNvPicPr>
          <p:nvPr/>
        </p:nvPicPr>
        <p:blipFill>
          <a:blip r:embed="rId3"/>
          <a:stretch>
            <a:fillRect/>
          </a:stretch>
        </p:blipFill>
        <p:spPr>
          <a:xfrm>
            <a:off x="4296962" y="1889150"/>
            <a:ext cx="427939" cy="427939"/>
          </a:xfrm>
          <a:prstGeom prst="rect">
            <a:avLst/>
          </a:prstGeom>
        </p:spPr>
      </p:pic>
      <p:sp>
        <p:nvSpPr>
          <p:cNvPr id="15" name="Text 10"/>
          <p:cNvSpPr txBox="1"/>
          <p:nvPr/>
        </p:nvSpPr>
        <p:spPr>
          <a:xfrm>
            <a:off x="3764193"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Trivy</a:t>
            </a:r>
            <a:endParaRPr lang="en-US" sz="1500" dirty="0"/>
          </a:p>
        </p:txBody>
      </p:sp>
      <p:sp>
        <p:nvSpPr>
          <p:cNvPr id="16" name="Text 11"/>
          <p:cNvSpPr txBox="1"/>
          <p:nvPr/>
        </p:nvSpPr>
        <p:spPr>
          <a:xfrm>
            <a:off x="3764193"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HIGH/CRITICAL gate</a:t>
            </a:r>
            <a:endParaRPr lang="en-US" sz="1200" dirty="0"/>
          </a:p>
        </p:txBody>
      </p:sp>
      <p:sp>
        <p:nvSpPr>
          <p:cNvPr id="17" name="arrow"/>
          <p:cNvSpPr/>
          <p:nvPr/>
        </p:nvSpPr>
        <p:spPr>
          <a:xfrm>
            <a:off x="5013851" y="2103120"/>
            <a:ext cx="579076" cy="914"/>
          </a:xfrm>
          <a:prstGeom prst="line">
            <a:avLst/>
          </a:prstGeom>
          <a:noFill/>
          <a:ln w="22225">
            <a:solidFill>
              <a:srgbClr val="4F6F64"/>
            </a:solidFill>
            <a:prstDash val="solid"/>
            <a:tailEnd type="triangle"/>
          </a:ln>
        </p:spPr>
      </p:sp>
      <p:sp>
        <p:nvSpPr>
          <p:cNvPr id="18" name="icon tile FaBoxOpen"/>
          <p:cNvSpPr/>
          <p:nvPr/>
        </p:nvSpPr>
        <p:spPr>
          <a:xfrm>
            <a:off x="5684368" y="1691640"/>
            <a:ext cx="822960" cy="822960"/>
          </a:xfrm>
          <a:prstGeom prst="roundRect">
            <a:avLst>
              <a:gd name="adj" fmla="val 13333"/>
            </a:avLst>
          </a:prstGeom>
          <a:solidFill>
            <a:schemeClr val="accent1"/>
          </a:solidFill>
          <a:ln/>
        </p:spPr>
      </p:sp>
      <p:pic>
        <p:nvPicPr>
          <p:cNvPr id="19" name="Image 3" descr="BoxOpen icon">    </p:cNvPr>
          <p:cNvPicPr>
            <a:picLocks noChangeAspect="1"/>
          </p:cNvPicPr>
          <p:nvPr/>
        </p:nvPicPr>
        <p:blipFill>
          <a:blip r:embed="rId4"/>
          <a:stretch>
            <a:fillRect/>
          </a:stretch>
        </p:blipFill>
        <p:spPr>
          <a:xfrm>
            <a:off x="5881878" y="1889150"/>
            <a:ext cx="427939" cy="427939"/>
          </a:xfrm>
          <a:prstGeom prst="rect">
            <a:avLst/>
          </a:prstGeom>
        </p:spPr>
      </p:pic>
      <p:sp>
        <p:nvSpPr>
          <p:cNvPr id="20" name="Text 14"/>
          <p:cNvSpPr txBox="1"/>
          <p:nvPr/>
        </p:nvSpPr>
        <p:spPr>
          <a:xfrm>
            <a:off x="5349109"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GHCR</a:t>
            </a:r>
            <a:endParaRPr lang="en-US" sz="1500" dirty="0"/>
          </a:p>
        </p:txBody>
      </p:sp>
      <p:sp>
        <p:nvSpPr>
          <p:cNvPr id="21" name="Text 15"/>
          <p:cNvSpPr txBox="1"/>
          <p:nvPr/>
        </p:nvSpPr>
        <p:spPr>
          <a:xfrm>
            <a:off x="5349109"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image : commit SHA</a:t>
            </a:r>
            <a:endParaRPr lang="en-US" sz="1200" dirty="0"/>
          </a:p>
        </p:txBody>
      </p:sp>
      <p:sp>
        <p:nvSpPr>
          <p:cNvPr id="22" name="arrow"/>
          <p:cNvSpPr/>
          <p:nvPr/>
        </p:nvSpPr>
        <p:spPr>
          <a:xfrm>
            <a:off x="6598768" y="2103120"/>
            <a:ext cx="579076" cy="914"/>
          </a:xfrm>
          <a:prstGeom prst="line">
            <a:avLst/>
          </a:prstGeom>
          <a:noFill/>
          <a:ln w="22225">
            <a:solidFill>
              <a:srgbClr val="4F6F64"/>
            </a:solidFill>
            <a:prstDash val="solid"/>
            <a:tailEnd type="triangle"/>
          </a:ln>
        </p:spPr>
      </p:sp>
      <p:sp>
        <p:nvSpPr>
          <p:cNvPr id="23" name="icon tile FaCodeBranch"/>
          <p:cNvSpPr/>
          <p:nvPr/>
        </p:nvSpPr>
        <p:spPr>
          <a:xfrm>
            <a:off x="7269284" y="1691640"/>
            <a:ext cx="822960" cy="822960"/>
          </a:xfrm>
          <a:prstGeom prst="roundRect">
            <a:avLst>
              <a:gd name="adj" fmla="val 13333"/>
            </a:avLst>
          </a:prstGeom>
          <a:solidFill>
            <a:schemeClr val="accent1"/>
          </a:solidFill>
          <a:ln/>
        </p:spPr>
      </p:sp>
      <p:pic>
        <p:nvPicPr>
          <p:cNvPr id="24" name="Image 4" descr="CodeBranch icon">    </p:cNvPr>
          <p:cNvPicPr>
            <a:picLocks noChangeAspect="1"/>
          </p:cNvPicPr>
          <p:nvPr/>
        </p:nvPicPr>
        <p:blipFill>
          <a:blip r:embed="rId5"/>
          <a:stretch>
            <a:fillRect/>
          </a:stretch>
        </p:blipFill>
        <p:spPr>
          <a:xfrm>
            <a:off x="7466794" y="1889150"/>
            <a:ext cx="427939" cy="427939"/>
          </a:xfrm>
          <a:prstGeom prst="rect">
            <a:avLst/>
          </a:prstGeom>
        </p:spPr>
      </p:pic>
      <p:sp>
        <p:nvSpPr>
          <p:cNvPr id="25" name="Text 18"/>
          <p:cNvSpPr txBox="1"/>
          <p:nvPr/>
        </p:nvSpPr>
        <p:spPr>
          <a:xfrm>
            <a:off x="6934026"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GitOps commit</a:t>
            </a:r>
            <a:endParaRPr lang="en-US" sz="1500" dirty="0"/>
          </a:p>
        </p:txBody>
      </p:sp>
      <p:sp>
        <p:nvSpPr>
          <p:cNvPr id="26" name="Text 19"/>
          <p:cNvSpPr txBox="1"/>
          <p:nvPr/>
        </p:nvSpPr>
        <p:spPr>
          <a:xfrm>
            <a:off x="6934026"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values-release.json</a:t>
            </a:r>
            <a:endParaRPr lang="en-US" sz="1200" dirty="0"/>
          </a:p>
        </p:txBody>
      </p:sp>
      <p:sp>
        <p:nvSpPr>
          <p:cNvPr id="27" name="arrow"/>
          <p:cNvSpPr/>
          <p:nvPr/>
        </p:nvSpPr>
        <p:spPr>
          <a:xfrm>
            <a:off x="8183684" y="2103120"/>
            <a:ext cx="579076" cy="914"/>
          </a:xfrm>
          <a:prstGeom prst="line">
            <a:avLst/>
          </a:prstGeom>
          <a:noFill/>
          <a:ln w="22225">
            <a:solidFill>
              <a:srgbClr val="4F6F64"/>
            </a:solidFill>
            <a:prstDash val="solid"/>
            <a:tailEnd type="triangle"/>
          </a:ln>
        </p:spPr>
      </p:sp>
      <p:sp>
        <p:nvSpPr>
          <p:cNvPr id="28" name="icon tile FaArrowsRotate"/>
          <p:cNvSpPr/>
          <p:nvPr/>
        </p:nvSpPr>
        <p:spPr>
          <a:xfrm>
            <a:off x="8854201" y="1691640"/>
            <a:ext cx="822960" cy="822960"/>
          </a:xfrm>
          <a:prstGeom prst="roundRect">
            <a:avLst>
              <a:gd name="adj" fmla="val 13333"/>
            </a:avLst>
          </a:prstGeom>
          <a:solidFill>
            <a:schemeClr val="accent1"/>
          </a:solidFill>
          <a:ln/>
        </p:spPr>
      </p:sp>
      <p:pic>
        <p:nvPicPr>
          <p:cNvPr id="29" name="Image 5" descr="ArrowsRotate icon">    </p:cNvPr>
          <p:cNvPicPr>
            <a:picLocks noChangeAspect="1"/>
          </p:cNvPicPr>
          <p:nvPr/>
        </p:nvPicPr>
        <p:blipFill>
          <a:blip r:embed="rId6"/>
          <a:stretch>
            <a:fillRect/>
          </a:stretch>
        </p:blipFill>
        <p:spPr>
          <a:xfrm>
            <a:off x="9051711" y="1889150"/>
            <a:ext cx="427939" cy="427939"/>
          </a:xfrm>
          <a:prstGeom prst="rect">
            <a:avLst/>
          </a:prstGeom>
        </p:spPr>
      </p:pic>
      <p:sp>
        <p:nvSpPr>
          <p:cNvPr id="30" name="Text 22"/>
          <p:cNvSpPr txBox="1"/>
          <p:nvPr/>
        </p:nvSpPr>
        <p:spPr>
          <a:xfrm>
            <a:off x="8518942"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Argo CD</a:t>
            </a:r>
            <a:endParaRPr lang="en-US" sz="1500" dirty="0"/>
          </a:p>
        </p:txBody>
      </p:sp>
      <p:sp>
        <p:nvSpPr>
          <p:cNvPr id="31" name="Text 23"/>
          <p:cNvSpPr txBox="1"/>
          <p:nvPr/>
        </p:nvSpPr>
        <p:spPr>
          <a:xfrm>
            <a:off x="8518942"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auto sync</a:t>
            </a:r>
            <a:endParaRPr lang="en-US" sz="1200" dirty="0"/>
          </a:p>
        </p:txBody>
      </p:sp>
      <p:sp>
        <p:nvSpPr>
          <p:cNvPr id="32" name="arrow"/>
          <p:cNvSpPr/>
          <p:nvPr/>
        </p:nvSpPr>
        <p:spPr>
          <a:xfrm>
            <a:off x="9768601" y="2103120"/>
            <a:ext cx="579076" cy="914"/>
          </a:xfrm>
          <a:prstGeom prst="line">
            <a:avLst/>
          </a:prstGeom>
          <a:noFill/>
          <a:ln w="22225">
            <a:solidFill>
              <a:srgbClr val="4F6F64"/>
            </a:solidFill>
            <a:prstDash val="solid"/>
            <a:tailEnd type="triangle"/>
          </a:ln>
        </p:spPr>
      </p:sp>
      <p:sp>
        <p:nvSpPr>
          <p:cNvPr id="33" name="icon tile FaDharmachakra"/>
          <p:cNvSpPr/>
          <p:nvPr/>
        </p:nvSpPr>
        <p:spPr>
          <a:xfrm>
            <a:off x="10439117" y="1691640"/>
            <a:ext cx="822960" cy="822960"/>
          </a:xfrm>
          <a:prstGeom prst="roundRect">
            <a:avLst>
              <a:gd name="adj" fmla="val 13333"/>
            </a:avLst>
          </a:prstGeom>
          <a:solidFill>
            <a:schemeClr val="accent1"/>
          </a:solidFill>
          <a:ln/>
        </p:spPr>
      </p:sp>
      <p:pic>
        <p:nvPicPr>
          <p:cNvPr id="34" name="Image 6" descr="Dharmachakra icon">    </p:cNvPr>
          <p:cNvPicPr>
            <a:picLocks noChangeAspect="1"/>
          </p:cNvPicPr>
          <p:nvPr/>
        </p:nvPicPr>
        <p:blipFill>
          <a:blip r:embed="rId7"/>
          <a:stretch>
            <a:fillRect/>
          </a:stretch>
        </p:blipFill>
        <p:spPr>
          <a:xfrm>
            <a:off x="10636627" y="1889150"/>
            <a:ext cx="427939" cy="427939"/>
          </a:xfrm>
          <a:prstGeom prst="rect">
            <a:avLst/>
          </a:prstGeom>
        </p:spPr>
      </p:pic>
      <p:sp>
        <p:nvSpPr>
          <p:cNvPr id="35" name="Text 26"/>
          <p:cNvSpPr txBox="1"/>
          <p:nvPr/>
        </p:nvSpPr>
        <p:spPr>
          <a:xfrm>
            <a:off x="10103859" y="2651760"/>
            <a:ext cx="1493476" cy="320040"/>
          </a:xfrm>
          <a:prstGeom prst="rect">
            <a:avLst/>
          </a:prstGeom>
          <a:noFill/>
          <a:ln/>
        </p:spPr>
        <p:txBody>
          <a:bodyPr wrap="square" lIns="0" tIns="0" rIns="0" bIns="0" rtlCol="0" anchor="t"/>
          <a:lstStyle/>
          <a:p>
            <a:pPr algn="ctr" indent="0" marL="0">
              <a:buNone/>
            </a:pPr>
            <a:r>
              <a:rPr lang="en-US" sz="1500" b="1" dirty="0">
                <a:solidFill>
                  <a:schemeClr val="tx1"/>
                </a:solidFill>
              </a:rPr>
              <a:t>Kubernetes</a:t>
            </a:r>
            <a:endParaRPr lang="en-US" sz="1500" dirty="0"/>
          </a:p>
        </p:txBody>
      </p:sp>
      <p:sp>
        <p:nvSpPr>
          <p:cNvPr id="36" name="Text 27"/>
          <p:cNvSpPr txBox="1"/>
          <p:nvPr/>
        </p:nvSpPr>
        <p:spPr>
          <a:xfrm>
            <a:off x="10103859" y="2971800"/>
            <a:ext cx="1493476" cy="457200"/>
          </a:xfrm>
          <a:prstGeom prst="rect">
            <a:avLst/>
          </a:prstGeom>
          <a:noFill/>
          <a:ln/>
        </p:spPr>
        <p:txBody>
          <a:bodyPr wrap="square" lIns="0" tIns="0" rIns="0" bIns="0" rtlCol="0" anchor="t"/>
          <a:lstStyle/>
          <a:p>
            <a:pPr algn="ctr" indent="0" marL="0">
              <a:buNone/>
            </a:pPr>
            <a:r>
              <a:rPr lang="en-US" sz="1200" dirty="0">
                <a:solidFill>
                  <a:schemeClr val="accent5"/>
                </a:solidFill>
              </a:rPr>
              <a:t>Helm release</a:t>
            </a:r>
            <a:endParaRPr lang="en-US" sz="1200" dirty="0"/>
          </a:p>
        </p:txBody>
      </p:sp>
      <p:sp>
        <p:nvSpPr>
          <p:cNvPr id="37" name="terraform band"/>
          <p:cNvSpPr/>
          <p:nvPr/>
        </p:nvSpPr>
        <p:spPr>
          <a:xfrm>
            <a:off x="548640" y="3931920"/>
            <a:ext cx="5394960" cy="1783080"/>
          </a:xfrm>
          <a:prstGeom prst="roundRect">
            <a:avLst>
              <a:gd name="adj" fmla="val 5128"/>
            </a:avLst>
          </a:prstGeom>
          <a:solidFill>
            <a:schemeClr val="bg2"/>
          </a:solidFill>
          <a:ln/>
        </p:spPr>
      </p:sp>
      <p:sp>
        <p:nvSpPr>
          <p:cNvPr id="38" name="icon tile FaAws"/>
          <p:cNvSpPr/>
          <p:nvPr/>
        </p:nvSpPr>
        <p:spPr>
          <a:xfrm>
            <a:off x="822960" y="4206240"/>
            <a:ext cx="685800" cy="685800"/>
          </a:xfrm>
          <a:prstGeom prst="roundRect">
            <a:avLst>
              <a:gd name="adj" fmla="val 16000"/>
            </a:avLst>
          </a:prstGeom>
          <a:solidFill>
            <a:schemeClr val="tx2"/>
          </a:solidFill>
          <a:ln/>
        </p:spPr>
      </p:sp>
      <p:pic>
        <p:nvPicPr>
          <p:cNvPr id="39" name="Image 7" descr="Aws icon">    </p:cNvPr>
          <p:cNvPicPr>
            <a:picLocks noChangeAspect="1"/>
          </p:cNvPicPr>
          <p:nvPr/>
        </p:nvPicPr>
        <p:blipFill>
          <a:blip r:embed="rId8"/>
          <a:stretch>
            <a:fillRect/>
          </a:stretch>
        </p:blipFill>
        <p:spPr>
          <a:xfrm>
            <a:off x="987552" y="4370832"/>
            <a:ext cx="356616" cy="356616"/>
          </a:xfrm>
          <a:prstGeom prst="rect">
            <a:avLst/>
          </a:prstGeom>
        </p:spPr>
      </p:pic>
      <p:sp>
        <p:nvSpPr>
          <p:cNvPr id="40" name="Text 30"/>
          <p:cNvSpPr txBox="1"/>
          <p:nvPr/>
        </p:nvSpPr>
        <p:spPr>
          <a:xfrm>
            <a:off x="1737360" y="4206240"/>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Terraform provisions the platform</a:t>
            </a:r>
            <a:endParaRPr lang="en-US" sz="1700" dirty="0"/>
          </a:p>
        </p:txBody>
      </p:sp>
      <p:sp>
        <p:nvSpPr>
          <p:cNvPr id="41" name="Text 31"/>
          <p:cNvSpPr txBox="1"/>
          <p:nvPr/>
        </p:nvSpPr>
        <p:spPr>
          <a:xfrm>
            <a:off x="1737360" y="4617720"/>
            <a:ext cx="4023360" cy="914400"/>
          </a:xfrm>
          <a:prstGeom prst="rect">
            <a:avLst/>
          </a:prstGeom>
          <a:noFill/>
          <a:ln/>
        </p:spPr>
        <p:txBody>
          <a:bodyPr wrap="square" lIns="0" tIns="0" rIns="0" bIns="0" rtlCol="0" anchor="t"/>
          <a:lstStyle/>
          <a:p>
            <a:pPr indent="0" marL="0">
              <a:buNone/>
            </a:pPr>
            <a:r>
              <a:rPr lang="en-US" sz="1400" dirty="0">
                <a:solidFill>
                  <a:schemeClr val="accent5"/>
                </a:solidFill>
              </a:rPr>
              <a:t>VPC with 2 public + 2 private subnets, NAT gateway, EKS and a managed node group in ap-south-1. The same Helm chart deploys to it with values-aws.yaml.</a:t>
            </a:r>
            <a:endParaRPr lang="en-US" sz="1400" dirty="0"/>
          </a:p>
        </p:txBody>
      </p:sp>
      <p:sp>
        <p:nvSpPr>
          <p:cNvPr id="42" name="observability band"/>
          <p:cNvSpPr/>
          <p:nvPr/>
        </p:nvSpPr>
        <p:spPr>
          <a:xfrm>
            <a:off x="6248095" y="3931920"/>
            <a:ext cx="5394960" cy="1783080"/>
          </a:xfrm>
          <a:prstGeom prst="roundRect">
            <a:avLst>
              <a:gd name="adj" fmla="val 5128"/>
            </a:avLst>
          </a:prstGeom>
          <a:solidFill>
            <a:schemeClr val="bg2"/>
          </a:solidFill>
          <a:ln/>
        </p:spPr>
      </p:sp>
      <p:sp>
        <p:nvSpPr>
          <p:cNvPr id="43" name="icon tile FaChartLine"/>
          <p:cNvSpPr/>
          <p:nvPr/>
        </p:nvSpPr>
        <p:spPr>
          <a:xfrm>
            <a:off x="6522415" y="4206240"/>
            <a:ext cx="685800" cy="685800"/>
          </a:xfrm>
          <a:prstGeom prst="roundRect">
            <a:avLst>
              <a:gd name="adj" fmla="val 16000"/>
            </a:avLst>
          </a:prstGeom>
          <a:solidFill>
            <a:schemeClr val="tx2"/>
          </a:solidFill>
          <a:ln/>
        </p:spPr>
      </p:sp>
      <p:pic>
        <p:nvPicPr>
          <p:cNvPr id="44" name="Image 8" descr="ChartLine icon">    </p:cNvPr>
          <p:cNvPicPr>
            <a:picLocks noChangeAspect="1"/>
          </p:cNvPicPr>
          <p:nvPr/>
        </p:nvPicPr>
        <p:blipFill>
          <a:blip r:embed="rId9"/>
          <a:stretch>
            <a:fillRect/>
          </a:stretch>
        </p:blipFill>
        <p:spPr>
          <a:xfrm>
            <a:off x="6687007" y="4370832"/>
            <a:ext cx="356616" cy="356616"/>
          </a:xfrm>
          <a:prstGeom prst="rect">
            <a:avLst/>
          </a:prstGeom>
        </p:spPr>
      </p:pic>
      <p:sp>
        <p:nvSpPr>
          <p:cNvPr id="45" name="Text 34"/>
          <p:cNvSpPr txBox="1"/>
          <p:nvPr/>
        </p:nvSpPr>
        <p:spPr>
          <a:xfrm>
            <a:off x="7436815" y="4206240"/>
            <a:ext cx="4023360" cy="36576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Prometheus + Grafana watch it run</a:t>
            </a:r>
            <a:endParaRPr lang="en-US" sz="1700" dirty="0"/>
          </a:p>
        </p:txBody>
      </p:sp>
      <p:sp>
        <p:nvSpPr>
          <p:cNvPr id="46" name="Text 35"/>
          <p:cNvSpPr txBox="1"/>
          <p:nvPr/>
        </p:nvSpPr>
        <p:spPr>
          <a:xfrm>
            <a:off x="7436815" y="4617720"/>
            <a:ext cx="4023360" cy="1280160"/>
          </a:xfrm>
          <a:prstGeom prst="rect">
            <a:avLst/>
          </a:prstGeom>
          <a:noFill/>
          <a:ln/>
        </p:spPr>
        <p:txBody>
          <a:bodyPr wrap="square" lIns="0" tIns="0" rIns="0" bIns="0" rtlCol="0" anchor="t"/>
          <a:lstStyle/>
          <a:p>
            <a:pPr indent="0" marL="0">
              <a:buNone/>
            </a:pPr>
            <a:r>
              <a:rPr lang="en-US" sz="1400" dirty="0">
                <a:solidFill>
                  <a:schemeClr val="accent5"/>
                </a:solidFill>
              </a:rPr>
              <a:t>Every backend pod exposes /metrics. Prometheus scrapes each replica; Grafana shows traffic, P95 latency and errors, with two alert rules.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Architecture at a glance</a:t>
            </a:r>
            <a:endParaRPr lang="en-US" sz="3600" dirty="0"/>
          </a:p>
        </p:txBody>
      </p:sp>
      <p:sp>
        <p:nvSpPr>
          <p:cNvPr id="3" name="frame CampusDesk architecture diagram"/>
          <p:cNvSpPr/>
          <p:nvPr/>
        </p:nvSpPr>
        <p:spPr>
          <a:xfrm>
            <a:off x="493776" y="1425321"/>
            <a:ext cx="11204143" cy="327583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4" name="Image 0" descr="CampusDesk architecture diagram">    </p:cNvPr>
          <p:cNvPicPr>
            <a:picLocks noChangeAspect="1"/>
          </p:cNvPicPr>
          <p:nvPr/>
        </p:nvPicPr>
        <p:blipFill>
          <a:blip r:embed="rId1"/>
          <a:stretch>
            <a:fillRect/>
          </a:stretch>
        </p:blipFill>
        <p:spPr>
          <a:xfrm>
            <a:off x="548640" y="1480185"/>
            <a:ext cx="11094415" cy="3166110"/>
          </a:xfrm>
          <a:prstGeom prst="rect">
            <a:avLst/>
          </a:prstGeom>
        </p:spPr>
      </p:pic>
      <p:sp>
        <p:nvSpPr>
          <p:cNvPr id="5" name="icon tile FaRoute"/>
          <p:cNvSpPr/>
          <p:nvPr/>
        </p:nvSpPr>
        <p:spPr>
          <a:xfrm>
            <a:off x="548640" y="4983480"/>
            <a:ext cx="548640" cy="548640"/>
          </a:xfrm>
          <a:prstGeom prst="roundRect">
            <a:avLst>
              <a:gd name="adj" fmla="val 20000"/>
            </a:avLst>
          </a:prstGeom>
          <a:solidFill>
            <a:schemeClr val="accent1"/>
          </a:solidFill>
          <a:ln/>
        </p:spPr>
      </p:sp>
      <p:pic>
        <p:nvPicPr>
          <p:cNvPr id="6" name="Image 1" descr="Route icon">    </p:cNvPr>
          <p:cNvPicPr>
            <a:picLocks noChangeAspect="1"/>
          </p:cNvPicPr>
          <p:nvPr/>
        </p:nvPicPr>
        <p:blipFill>
          <a:blip r:embed="rId2"/>
          <a:stretch>
            <a:fillRect/>
          </a:stretch>
        </p:blipFill>
        <p:spPr>
          <a:xfrm>
            <a:off x="680314" y="5115154"/>
            <a:ext cx="285293" cy="285293"/>
          </a:xfrm>
          <a:prstGeom prst="rect">
            <a:avLst/>
          </a:prstGeom>
        </p:spPr>
      </p:pic>
      <p:sp>
        <p:nvSpPr>
          <p:cNvPr id="7" name="Text 3"/>
          <p:cNvSpPr txBox="1"/>
          <p:nvPr/>
        </p:nvSpPr>
        <p:spPr>
          <a:xfrm>
            <a:off x="1280160" y="4983480"/>
            <a:ext cx="2783738" cy="320040"/>
          </a:xfrm>
          <a:prstGeom prst="rect">
            <a:avLst/>
          </a:prstGeom>
          <a:noFill/>
          <a:ln/>
        </p:spPr>
        <p:txBody>
          <a:bodyPr wrap="square" lIns="0" tIns="0" rIns="0" bIns="0" rtlCol="0" anchor="t"/>
          <a:lstStyle/>
          <a:p>
            <a:pPr indent="0" marL="0">
              <a:buNone/>
            </a:pPr>
            <a:r>
              <a:rPr lang="en-US" sz="1600" b="1" dirty="0">
                <a:solidFill>
                  <a:schemeClr val="tx1"/>
                </a:solidFill>
              </a:rPr>
              <a:t>Relative /api calls</a:t>
            </a:r>
            <a:endParaRPr lang="en-US" sz="1600" dirty="0"/>
          </a:p>
        </p:txBody>
      </p:sp>
      <p:sp>
        <p:nvSpPr>
          <p:cNvPr id="8" name="Text 4"/>
          <p:cNvSpPr txBox="1"/>
          <p:nvPr/>
        </p:nvSpPr>
        <p:spPr>
          <a:xfrm>
            <a:off x="1280160" y="5321808"/>
            <a:ext cx="2783738" cy="914400"/>
          </a:xfrm>
          <a:prstGeom prst="rect">
            <a:avLst/>
          </a:prstGeom>
          <a:noFill/>
          <a:ln/>
        </p:spPr>
        <p:txBody>
          <a:bodyPr wrap="square" lIns="0" tIns="0" rIns="0" bIns="0" rtlCol="0" anchor="t"/>
          <a:lstStyle/>
          <a:p>
            <a:pPr indent="0" marL="0">
              <a:buNone/>
            </a:pPr>
            <a:r>
              <a:rPr lang="en-US" sz="1300" dirty="0">
                <a:solidFill>
                  <a:schemeClr val="accent5"/>
                </a:solidFill>
              </a:rPr>
              <a:t>The browser never knows a backend hostname. The Ingress sends /api to FastAPI and / to the React frontend.</a:t>
            </a:r>
            <a:endParaRPr lang="en-US" sz="1300" dirty="0"/>
          </a:p>
        </p:txBody>
      </p:sp>
      <p:sp>
        <p:nvSpPr>
          <p:cNvPr id="9" name="icon tile FaDatabase"/>
          <p:cNvSpPr/>
          <p:nvPr/>
        </p:nvSpPr>
        <p:spPr>
          <a:xfrm>
            <a:off x="4338218" y="4983480"/>
            <a:ext cx="548640" cy="548640"/>
          </a:xfrm>
          <a:prstGeom prst="roundRect">
            <a:avLst>
              <a:gd name="adj" fmla="val 20000"/>
            </a:avLst>
          </a:prstGeom>
          <a:solidFill>
            <a:schemeClr val="accent1"/>
          </a:solidFill>
          <a:ln/>
        </p:spPr>
      </p:sp>
      <p:pic>
        <p:nvPicPr>
          <p:cNvPr id="10" name="Image 2" descr="Database icon">    </p:cNvPr>
          <p:cNvPicPr>
            <a:picLocks noChangeAspect="1"/>
          </p:cNvPicPr>
          <p:nvPr/>
        </p:nvPicPr>
        <p:blipFill>
          <a:blip r:embed="rId3"/>
          <a:stretch>
            <a:fillRect/>
          </a:stretch>
        </p:blipFill>
        <p:spPr>
          <a:xfrm>
            <a:off x="4469892" y="5115154"/>
            <a:ext cx="285293" cy="285293"/>
          </a:xfrm>
          <a:prstGeom prst="rect">
            <a:avLst/>
          </a:prstGeom>
        </p:spPr>
      </p:pic>
      <p:sp>
        <p:nvSpPr>
          <p:cNvPr id="11" name="Text 6"/>
          <p:cNvSpPr txBox="1"/>
          <p:nvPr/>
        </p:nvSpPr>
        <p:spPr>
          <a:xfrm>
            <a:off x="5069738" y="4983480"/>
            <a:ext cx="2783738" cy="320040"/>
          </a:xfrm>
          <a:prstGeom prst="rect">
            <a:avLst/>
          </a:prstGeom>
          <a:noFill/>
          <a:ln/>
        </p:spPr>
        <p:txBody>
          <a:bodyPr wrap="square" lIns="0" tIns="0" rIns="0" bIns="0" rtlCol="0" anchor="t"/>
          <a:lstStyle/>
          <a:p>
            <a:pPr indent="0" marL="0">
              <a:buNone/>
            </a:pPr>
            <a:r>
              <a:rPr lang="en-US" sz="1600" b="1" dirty="0">
                <a:solidFill>
                  <a:schemeClr val="tx1"/>
                </a:solidFill>
              </a:rPr>
              <a:t>Migrations run once</a:t>
            </a:r>
            <a:endParaRPr lang="en-US" sz="1600" dirty="0"/>
          </a:p>
        </p:txBody>
      </p:sp>
      <p:sp>
        <p:nvSpPr>
          <p:cNvPr id="12" name="Text 7"/>
          <p:cNvSpPr txBox="1"/>
          <p:nvPr/>
        </p:nvSpPr>
        <p:spPr>
          <a:xfrm>
            <a:off x="5069738" y="5321808"/>
            <a:ext cx="2783738" cy="914400"/>
          </a:xfrm>
          <a:prstGeom prst="rect">
            <a:avLst/>
          </a:prstGeom>
          <a:noFill/>
          <a:ln/>
        </p:spPr>
        <p:txBody>
          <a:bodyPr wrap="square" lIns="0" tIns="0" rIns="0" bIns="0" rtlCol="0" anchor="t"/>
          <a:lstStyle/>
          <a:p>
            <a:pPr indent="0" marL="0">
              <a:buNone/>
            </a:pPr>
            <a:r>
              <a:rPr lang="en-US" sz="1300" dirty="0">
                <a:solidFill>
                  <a:schemeClr val="accent5"/>
                </a:solidFill>
              </a:rPr>
              <a:t>An Alembic Job (Argo CD sync hook) upgrades the schema before the backend becomes ready.</a:t>
            </a:r>
            <a:endParaRPr lang="en-US" sz="1300" dirty="0"/>
          </a:p>
        </p:txBody>
      </p:sp>
      <p:sp>
        <p:nvSpPr>
          <p:cNvPr id="13" name="icon tile FaCloud"/>
          <p:cNvSpPr/>
          <p:nvPr/>
        </p:nvSpPr>
        <p:spPr>
          <a:xfrm>
            <a:off x="8127797" y="4983480"/>
            <a:ext cx="548640" cy="548640"/>
          </a:xfrm>
          <a:prstGeom prst="roundRect">
            <a:avLst>
              <a:gd name="adj" fmla="val 20000"/>
            </a:avLst>
          </a:prstGeom>
          <a:solidFill>
            <a:schemeClr val="accent1"/>
          </a:solidFill>
          <a:ln/>
        </p:spPr>
      </p:sp>
      <p:pic>
        <p:nvPicPr>
          <p:cNvPr id="14" name="Image 3" descr="Cloud icon">    </p:cNvPr>
          <p:cNvPicPr>
            <a:picLocks noChangeAspect="1"/>
          </p:cNvPicPr>
          <p:nvPr/>
        </p:nvPicPr>
        <p:blipFill>
          <a:blip r:embed="rId4"/>
          <a:stretch>
            <a:fillRect/>
          </a:stretch>
        </p:blipFill>
        <p:spPr>
          <a:xfrm>
            <a:off x="8259470" y="5115154"/>
            <a:ext cx="285293" cy="285293"/>
          </a:xfrm>
          <a:prstGeom prst="rect">
            <a:avLst/>
          </a:prstGeom>
        </p:spPr>
      </p:pic>
      <p:sp>
        <p:nvSpPr>
          <p:cNvPr id="15" name="Text 9"/>
          <p:cNvSpPr txBox="1"/>
          <p:nvPr/>
        </p:nvSpPr>
        <p:spPr>
          <a:xfrm>
            <a:off x="8859317" y="4983480"/>
            <a:ext cx="2783738" cy="320040"/>
          </a:xfrm>
          <a:prstGeom prst="rect">
            <a:avLst/>
          </a:prstGeom>
          <a:noFill/>
          <a:ln/>
        </p:spPr>
        <p:txBody>
          <a:bodyPr wrap="square" lIns="0" tIns="0" rIns="0" bIns="0" rtlCol="0" anchor="t"/>
          <a:lstStyle/>
          <a:p>
            <a:pPr indent="0" marL="0">
              <a:buNone/>
            </a:pPr>
            <a:r>
              <a:rPr lang="en-US" sz="1600" b="1" dirty="0">
                <a:solidFill>
                  <a:schemeClr val="tx1"/>
                </a:solidFill>
              </a:rPr>
              <a:t>One chart, two clusters</a:t>
            </a:r>
            <a:endParaRPr lang="en-US" sz="1600" dirty="0"/>
          </a:p>
        </p:txBody>
      </p:sp>
      <p:sp>
        <p:nvSpPr>
          <p:cNvPr id="16" name="Text 10"/>
          <p:cNvSpPr txBox="1"/>
          <p:nvPr/>
        </p:nvSpPr>
        <p:spPr>
          <a:xfrm>
            <a:off x="8859317" y="5321808"/>
            <a:ext cx="2783738" cy="914400"/>
          </a:xfrm>
          <a:prstGeom prst="rect">
            <a:avLst/>
          </a:prstGeom>
          <a:noFill/>
          <a:ln/>
        </p:spPr>
        <p:txBody>
          <a:bodyPr wrap="square" lIns="0" tIns="0" rIns="0" bIns="0" rtlCol="0" anchor="t"/>
          <a:lstStyle/>
          <a:p>
            <a:pPr indent="0" marL="0">
              <a:buNone/>
            </a:pPr>
            <a:r>
              <a:rPr lang="en-US" sz="1300" dirty="0">
                <a:solidFill>
                  <a:schemeClr val="accent5"/>
                </a:solidFill>
              </a:rPr>
              <a:t>The same Helm chart runs locally on kind and on Terraform-built EKS with values-aws.yaml.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Tech stack</a:t>
            </a:r>
            <a:endParaRPr lang="en-US" sz="3600" dirty="0"/>
          </a:p>
        </p:txBody>
      </p:sp>
      <p:sp>
        <p:nvSpPr>
          <p:cNvPr id="3" name="stack Frontend"/>
          <p:cNvSpPr/>
          <p:nvPr/>
        </p:nvSpPr>
        <p:spPr>
          <a:xfrm>
            <a:off x="548640" y="1463040"/>
            <a:ext cx="3515258" cy="1463040"/>
          </a:xfrm>
          <a:prstGeom prst="roundRect">
            <a:avLst>
              <a:gd name="adj" fmla="val 6250"/>
            </a:avLst>
          </a:prstGeom>
          <a:solidFill>
            <a:schemeClr val="bg2"/>
          </a:solidFill>
          <a:ln/>
        </p:spPr>
      </p:sp>
      <p:sp>
        <p:nvSpPr>
          <p:cNvPr id="4" name="icon tile FaReact"/>
          <p:cNvSpPr/>
          <p:nvPr/>
        </p:nvSpPr>
        <p:spPr>
          <a:xfrm>
            <a:off x="777240" y="1737360"/>
            <a:ext cx="640080" cy="640080"/>
          </a:xfrm>
          <a:prstGeom prst="roundRect">
            <a:avLst>
              <a:gd name="adj" fmla="val 17143"/>
            </a:avLst>
          </a:prstGeom>
          <a:solidFill>
            <a:schemeClr val="accent1"/>
          </a:solidFill>
          <a:ln/>
        </p:spPr>
      </p:sp>
      <p:pic>
        <p:nvPicPr>
          <p:cNvPr id="5" name="Image 0" descr="React icon">    </p:cNvPr>
          <p:cNvPicPr>
            <a:picLocks noChangeAspect="1"/>
          </p:cNvPicPr>
          <p:nvPr/>
        </p:nvPicPr>
        <p:blipFill>
          <a:blip r:embed="rId1"/>
          <a:stretch>
            <a:fillRect/>
          </a:stretch>
        </p:blipFill>
        <p:spPr>
          <a:xfrm>
            <a:off x="930859" y="1890979"/>
            <a:ext cx="332842" cy="332842"/>
          </a:xfrm>
          <a:prstGeom prst="rect">
            <a:avLst/>
          </a:prstGeom>
        </p:spPr>
      </p:pic>
      <p:sp>
        <p:nvSpPr>
          <p:cNvPr id="6" name="Text 3"/>
          <p:cNvSpPr txBox="1"/>
          <p:nvPr/>
        </p:nvSpPr>
        <p:spPr>
          <a:xfrm>
            <a:off x="1645920" y="1691640"/>
            <a:ext cx="2235098" cy="320040"/>
          </a:xfrm>
          <a:prstGeom prst="rect">
            <a:avLst/>
          </a:prstGeom>
          <a:noFill/>
          <a:ln/>
        </p:spPr>
        <p:txBody>
          <a:bodyPr wrap="square" lIns="0" tIns="0" rIns="0" bIns="0" rtlCol="0" anchor="t"/>
          <a:lstStyle/>
          <a:p>
            <a:pPr indent="0" marL="0">
              <a:buNone/>
            </a:pPr>
            <a:r>
              <a:rPr lang="en-US" sz="1600" b="1" dirty="0">
                <a:solidFill>
                  <a:schemeClr val="tx1"/>
                </a:solidFill>
              </a:rPr>
              <a:t>Frontend</a:t>
            </a:r>
            <a:endParaRPr lang="en-US" sz="1600" dirty="0"/>
          </a:p>
        </p:txBody>
      </p:sp>
      <p:sp>
        <p:nvSpPr>
          <p:cNvPr id="7" name="Text 4"/>
          <p:cNvSpPr txBox="1"/>
          <p:nvPr/>
        </p:nvSpPr>
        <p:spPr>
          <a:xfrm>
            <a:off x="1645920" y="202996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React 19, Vite 6, hand-written responsive CSS, served by unprivileged nginx</a:t>
            </a:r>
            <a:endParaRPr lang="en-US" sz="1300" dirty="0"/>
          </a:p>
        </p:txBody>
      </p:sp>
      <p:sp>
        <p:nvSpPr>
          <p:cNvPr id="8" name="stack Backend"/>
          <p:cNvSpPr/>
          <p:nvPr/>
        </p:nvSpPr>
        <p:spPr>
          <a:xfrm>
            <a:off x="4338218" y="1463040"/>
            <a:ext cx="3515258" cy="1463040"/>
          </a:xfrm>
          <a:prstGeom prst="roundRect">
            <a:avLst>
              <a:gd name="adj" fmla="val 6250"/>
            </a:avLst>
          </a:prstGeom>
          <a:solidFill>
            <a:schemeClr val="bg2"/>
          </a:solidFill>
          <a:ln/>
        </p:spPr>
      </p:sp>
      <p:sp>
        <p:nvSpPr>
          <p:cNvPr id="9" name="icon tile FaPython"/>
          <p:cNvSpPr/>
          <p:nvPr/>
        </p:nvSpPr>
        <p:spPr>
          <a:xfrm>
            <a:off x="4566818" y="1737360"/>
            <a:ext cx="640080" cy="640080"/>
          </a:xfrm>
          <a:prstGeom prst="roundRect">
            <a:avLst>
              <a:gd name="adj" fmla="val 17143"/>
            </a:avLst>
          </a:prstGeom>
          <a:solidFill>
            <a:schemeClr val="accent1"/>
          </a:solidFill>
          <a:ln/>
        </p:spPr>
      </p:sp>
      <p:pic>
        <p:nvPicPr>
          <p:cNvPr id="10" name="Image 1" descr="Python icon">    </p:cNvPr>
          <p:cNvPicPr>
            <a:picLocks noChangeAspect="1"/>
          </p:cNvPicPr>
          <p:nvPr/>
        </p:nvPicPr>
        <p:blipFill>
          <a:blip r:embed="rId2"/>
          <a:stretch>
            <a:fillRect/>
          </a:stretch>
        </p:blipFill>
        <p:spPr>
          <a:xfrm>
            <a:off x="4720438" y="1890979"/>
            <a:ext cx="332842" cy="332842"/>
          </a:xfrm>
          <a:prstGeom prst="rect">
            <a:avLst/>
          </a:prstGeom>
        </p:spPr>
      </p:pic>
      <p:sp>
        <p:nvSpPr>
          <p:cNvPr id="11" name="Text 7"/>
          <p:cNvSpPr txBox="1"/>
          <p:nvPr/>
        </p:nvSpPr>
        <p:spPr>
          <a:xfrm>
            <a:off x="5435498" y="1691640"/>
            <a:ext cx="2235098" cy="320040"/>
          </a:xfrm>
          <a:prstGeom prst="rect">
            <a:avLst/>
          </a:prstGeom>
          <a:noFill/>
          <a:ln/>
        </p:spPr>
        <p:txBody>
          <a:bodyPr wrap="square" lIns="0" tIns="0" rIns="0" bIns="0" rtlCol="0" anchor="t"/>
          <a:lstStyle/>
          <a:p>
            <a:pPr indent="0" marL="0">
              <a:buNone/>
            </a:pPr>
            <a:r>
              <a:rPr lang="en-US" sz="1600" b="1" dirty="0">
                <a:solidFill>
                  <a:schemeClr val="tx1"/>
                </a:solidFill>
              </a:rPr>
              <a:t>Backend</a:t>
            </a:r>
            <a:endParaRPr lang="en-US" sz="1600" dirty="0"/>
          </a:p>
        </p:txBody>
      </p:sp>
      <p:sp>
        <p:nvSpPr>
          <p:cNvPr id="12" name="Text 8"/>
          <p:cNvSpPr txBox="1"/>
          <p:nvPr/>
        </p:nvSpPr>
        <p:spPr>
          <a:xfrm>
            <a:off x="5435498" y="202996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Python 3.13, FastAPI, SQLAlchemy, Pydantic, Uvicorn</a:t>
            </a:r>
            <a:endParaRPr lang="en-US" sz="1300" dirty="0"/>
          </a:p>
        </p:txBody>
      </p:sp>
      <p:sp>
        <p:nvSpPr>
          <p:cNvPr id="13" name="stack Database"/>
          <p:cNvSpPr/>
          <p:nvPr/>
        </p:nvSpPr>
        <p:spPr>
          <a:xfrm>
            <a:off x="8127797" y="1463040"/>
            <a:ext cx="3515258" cy="1463040"/>
          </a:xfrm>
          <a:prstGeom prst="roundRect">
            <a:avLst>
              <a:gd name="adj" fmla="val 6250"/>
            </a:avLst>
          </a:prstGeom>
          <a:solidFill>
            <a:schemeClr val="bg2"/>
          </a:solidFill>
          <a:ln/>
        </p:spPr>
      </p:sp>
      <p:sp>
        <p:nvSpPr>
          <p:cNvPr id="14" name="icon tile FaDatabase"/>
          <p:cNvSpPr/>
          <p:nvPr/>
        </p:nvSpPr>
        <p:spPr>
          <a:xfrm>
            <a:off x="8356397" y="1737360"/>
            <a:ext cx="640080" cy="640080"/>
          </a:xfrm>
          <a:prstGeom prst="roundRect">
            <a:avLst>
              <a:gd name="adj" fmla="val 17143"/>
            </a:avLst>
          </a:prstGeom>
          <a:solidFill>
            <a:schemeClr val="accent1"/>
          </a:solidFill>
          <a:ln/>
        </p:spPr>
      </p:sp>
      <p:pic>
        <p:nvPicPr>
          <p:cNvPr id="15" name="Image 2" descr="Database icon">    </p:cNvPr>
          <p:cNvPicPr>
            <a:picLocks noChangeAspect="1"/>
          </p:cNvPicPr>
          <p:nvPr/>
        </p:nvPicPr>
        <p:blipFill>
          <a:blip r:embed="rId3"/>
          <a:stretch>
            <a:fillRect/>
          </a:stretch>
        </p:blipFill>
        <p:spPr>
          <a:xfrm>
            <a:off x="8510016" y="1890979"/>
            <a:ext cx="332842" cy="332842"/>
          </a:xfrm>
          <a:prstGeom prst="rect">
            <a:avLst/>
          </a:prstGeom>
        </p:spPr>
      </p:pic>
      <p:sp>
        <p:nvSpPr>
          <p:cNvPr id="16" name="Text 11"/>
          <p:cNvSpPr txBox="1"/>
          <p:nvPr/>
        </p:nvSpPr>
        <p:spPr>
          <a:xfrm>
            <a:off x="9225077" y="1691640"/>
            <a:ext cx="2235098" cy="320040"/>
          </a:xfrm>
          <a:prstGeom prst="rect">
            <a:avLst/>
          </a:prstGeom>
          <a:noFill/>
          <a:ln/>
        </p:spPr>
        <p:txBody>
          <a:bodyPr wrap="square" lIns="0" tIns="0" rIns="0" bIns="0" rtlCol="0" anchor="t"/>
          <a:lstStyle/>
          <a:p>
            <a:pPr indent="0" marL="0">
              <a:buNone/>
            </a:pPr>
            <a:r>
              <a:rPr lang="en-US" sz="1600" b="1" dirty="0">
                <a:solidFill>
                  <a:schemeClr val="tx1"/>
                </a:solidFill>
              </a:rPr>
              <a:t>Database</a:t>
            </a:r>
            <a:endParaRPr lang="en-US" sz="1600" dirty="0"/>
          </a:p>
        </p:txBody>
      </p:sp>
      <p:sp>
        <p:nvSpPr>
          <p:cNvPr id="17" name="Text 12"/>
          <p:cNvSpPr txBox="1"/>
          <p:nvPr/>
        </p:nvSpPr>
        <p:spPr>
          <a:xfrm>
            <a:off x="9225077" y="202996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PostgreSQL 17 with Alembic migrations</a:t>
            </a:r>
            <a:endParaRPr lang="en-US" sz="1300" dirty="0"/>
          </a:p>
        </p:txBody>
      </p:sp>
      <p:sp>
        <p:nvSpPr>
          <p:cNvPr id="18" name="stack Testing"/>
          <p:cNvSpPr/>
          <p:nvPr/>
        </p:nvSpPr>
        <p:spPr>
          <a:xfrm>
            <a:off x="548640" y="3108960"/>
            <a:ext cx="3515258" cy="1463040"/>
          </a:xfrm>
          <a:prstGeom prst="roundRect">
            <a:avLst>
              <a:gd name="adj" fmla="val 6250"/>
            </a:avLst>
          </a:prstGeom>
          <a:solidFill>
            <a:schemeClr val="bg2"/>
          </a:solidFill>
          <a:ln/>
        </p:spPr>
      </p:sp>
      <p:sp>
        <p:nvSpPr>
          <p:cNvPr id="19" name="icon tile FaVial"/>
          <p:cNvSpPr/>
          <p:nvPr/>
        </p:nvSpPr>
        <p:spPr>
          <a:xfrm>
            <a:off x="777240" y="3383280"/>
            <a:ext cx="640080" cy="640080"/>
          </a:xfrm>
          <a:prstGeom prst="roundRect">
            <a:avLst>
              <a:gd name="adj" fmla="val 17143"/>
            </a:avLst>
          </a:prstGeom>
          <a:solidFill>
            <a:schemeClr val="accent1"/>
          </a:solidFill>
          <a:ln/>
        </p:spPr>
      </p:sp>
      <p:pic>
        <p:nvPicPr>
          <p:cNvPr id="20" name="Image 3" descr="Vial icon">    </p:cNvPr>
          <p:cNvPicPr>
            <a:picLocks noChangeAspect="1"/>
          </p:cNvPicPr>
          <p:nvPr/>
        </p:nvPicPr>
        <p:blipFill>
          <a:blip r:embed="rId4"/>
          <a:stretch>
            <a:fillRect/>
          </a:stretch>
        </p:blipFill>
        <p:spPr>
          <a:xfrm>
            <a:off x="930859" y="3536899"/>
            <a:ext cx="332842" cy="332842"/>
          </a:xfrm>
          <a:prstGeom prst="rect">
            <a:avLst/>
          </a:prstGeom>
        </p:spPr>
      </p:pic>
      <p:sp>
        <p:nvSpPr>
          <p:cNvPr id="21" name="Text 15"/>
          <p:cNvSpPr txBox="1"/>
          <p:nvPr/>
        </p:nvSpPr>
        <p:spPr>
          <a:xfrm>
            <a:off x="1645920" y="3337560"/>
            <a:ext cx="2235098" cy="320040"/>
          </a:xfrm>
          <a:prstGeom prst="rect">
            <a:avLst/>
          </a:prstGeom>
          <a:noFill/>
          <a:ln/>
        </p:spPr>
        <p:txBody>
          <a:bodyPr wrap="square" lIns="0" tIns="0" rIns="0" bIns="0" rtlCol="0" anchor="t"/>
          <a:lstStyle/>
          <a:p>
            <a:pPr indent="0" marL="0">
              <a:buNone/>
            </a:pPr>
            <a:r>
              <a:rPr lang="en-US" sz="1600" b="1" dirty="0">
                <a:solidFill>
                  <a:schemeClr val="tx1"/>
                </a:solidFill>
              </a:rPr>
              <a:t>Testing</a:t>
            </a:r>
            <a:endParaRPr lang="en-US" sz="1600" dirty="0"/>
          </a:p>
        </p:txBody>
      </p:sp>
      <p:sp>
        <p:nvSpPr>
          <p:cNvPr id="22" name="Text 16"/>
          <p:cNvSpPr txBox="1"/>
          <p:nvPr/>
        </p:nvSpPr>
        <p:spPr>
          <a:xfrm>
            <a:off x="1645920" y="367588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pytest (SQLite locally, PostgreSQL in CI), Ruff, Playwright</a:t>
            </a:r>
            <a:endParaRPr lang="en-US" sz="1300" dirty="0"/>
          </a:p>
        </p:txBody>
      </p:sp>
      <p:sp>
        <p:nvSpPr>
          <p:cNvPr id="23" name="stack Containers"/>
          <p:cNvSpPr/>
          <p:nvPr/>
        </p:nvSpPr>
        <p:spPr>
          <a:xfrm>
            <a:off x="4338218" y="3108960"/>
            <a:ext cx="3515258" cy="1463040"/>
          </a:xfrm>
          <a:prstGeom prst="roundRect">
            <a:avLst>
              <a:gd name="adj" fmla="val 6250"/>
            </a:avLst>
          </a:prstGeom>
          <a:solidFill>
            <a:schemeClr val="bg2"/>
          </a:solidFill>
          <a:ln/>
        </p:spPr>
      </p:sp>
      <p:sp>
        <p:nvSpPr>
          <p:cNvPr id="24" name="icon tile FaDocker"/>
          <p:cNvSpPr/>
          <p:nvPr/>
        </p:nvSpPr>
        <p:spPr>
          <a:xfrm>
            <a:off x="4566818" y="3383280"/>
            <a:ext cx="640080" cy="640080"/>
          </a:xfrm>
          <a:prstGeom prst="roundRect">
            <a:avLst>
              <a:gd name="adj" fmla="val 17143"/>
            </a:avLst>
          </a:prstGeom>
          <a:solidFill>
            <a:schemeClr val="accent1"/>
          </a:solidFill>
          <a:ln/>
        </p:spPr>
      </p:sp>
      <p:pic>
        <p:nvPicPr>
          <p:cNvPr id="25" name="Image 4" descr="Docker icon">    </p:cNvPr>
          <p:cNvPicPr>
            <a:picLocks noChangeAspect="1"/>
          </p:cNvPicPr>
          <p:nvPr/>
        </p:nvPicPr>
        <p:blipFill>
          <a:blip r:embed="rId5"/>
          <a:stretch>
            <a:fillRect/>
          </a:stretch>
        </p:blipFill>
        <p:spPr>
          <a:xfrm>
            <a:off x="4720438" y="3536899"/>
            <a:ext cx="332842" cy="332842"/>
          </a:xfrm>
          <a:prstGeom prst="rect">
            <a:avLst/>
          </a:prstGeom>
        </p:spPr>
      </p:pic>
      <p:sp>
        <p:nvSpPr>
          <p:cNvPr id="26" name="Text 19"/>
          <p:cNvSpPr txBox="1"/>
          <p:nvPr/>
        </p:nvSpPr>
        <p:spPr>
          <a:xfrm>
            <a:off x="5435498" y="3337560"/>
            <a:ext cx="2235098" cy="320040"/>
          </a:xfrm>
          <a:prstGeom prst="rect">
            <a:avLst/>
          </a:prstGeom>
          <a:noFill/>
          <a:ln/>
        </p:spPr>
        <p:txBody>
          <a:bodyPr wrap="square" lIns="0" tIns="0" rIns="0" bIns="0" rtlCol="0" anchor="t"/>
          <a:lstStyle/>
          <a:p>
            <a:pPr indent="0" marL="0">
              <a:buNone/>
            </a:pPr>
            <a:r>
              <a:rPr lang="en-US" sz="1600" b="1" dirty="0">
                <a:solidFill>
                  <a:schemeClr val="tx1"/>
                </a:solidFill>
              </a:rPr>
              <a:t>Containers</a:t>
            </a:r>
            <a:endParaRPr lang="en-US" sz="1600" dirty="0"/>
          </a:p>
        </p:txBody>
      </p:sp>
      <p:sp>
        <p:nvSpPr>
          <p:cNvPr id="27" name="Text 20"/>
          <p:cNvSpPr txBox="1"/>
          <p:nvPr/>
        </p:nvSpPr>
        <p:spPr>
          <a:xfrm>
            <a:off x="5435498" y="367588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Non-root Alpine backend, multi-stage frontend, Docker Compose</a:t>
            </a:r>
            <a:endParaRPr lang="en-US" sz="1300" dirty="0"/>
          </a:p>
        </p:txBody>
      </p:sp>
      <p:sp>
        <p:nvSpPr>
          <p:cNvPr id="28" name="stack CI/CD + security"/>
          <p:cNvSpPr/>
          <p:nvPr/>
        </p:nvSpPr>
        <p:spPr>
          <a:xfrm>
            <a:off x="8127797" y="3108960"/>
            <a:ext cx="3515258" cy="1463040"/>
          </a:xfrm>
          <a:prstGeom prst="roundRect">
            <a:avLst>
              <a:gd name="adj" fmla="val 6250"/>
            </a:avLst>
          </a:prstGeom>
          <a:solidFill>
            <a:schemeClr val="bg2"/>
          </a:solidFill>
          <a:ln/>
        </p:spPr>
      </p:sp>
      <p:sp>
        <p:nvSpPr>
          <p:cNvPr id="29" name="icon tile FaGithub"/>
          <p:cNvSpPr/>
          <p:nvPr/>
        </p:nvSpPr>
        <p:spPr>
          <a:xfrm>
            <a:off x="8356397" y="3383280"/>
            <a:ext cx="640080" cy="640080"/>
          </a:xfrm>
          <a:prstGeom prst="roundRect">
            <a:avLst>
              <a:gd name="adj" fmla="val 17143"/>
            </a:avLst>
          </a:prstGeom>
          <a:solidFill>
            <a:schemeClr val="accent2"/>
          </a:solidFill>
          <a:ln/>
        </p:spPr>
      </p:sp>
      <p:pic>
        <p:nvPicPr>
          <p:cNvPr id="30" name="Image 5" descr="Github icon">    </p:cNvPr>
          <p:cNvPicPr>
            <a:picLocks noChangeAspect="1"/>
          </p:cNvPicPr>
          <p:nvPr/>
        </p:nvPicPr>
        <p:blipFill>
          <a:blip r:embed="rId6"/>
          <a:stretch>
            <a:fillRect/>
          </a:stretch>
        </p:blipFill>
        <p:spPr>
          <a:xfrm>
            <a:off x="8510016" y="3536899"/>
            <a:ext cx="332842" cy="332842"/>
          </a:xfrm>
          <a:prstGeom prst="rect">
            <a:avLst/>
          </a:prstGeom>
        </p:spPr>
      </p:pic>
      <p:sp>
        <p:nvSpPr>
          <p:cNvPr id="31" name="Text 23"/>
          <p:cNvSpPr txBox="1"/>
          <p:nvPr/>
        </p:nvSpPr>
        <p:spPr>
          <a:xfrm>
            <a:off x="9225077" y="3337560"/>
            <a:ext cx="2235098" cy="320040"/>
          </a:xfrm>
          <a:prstGeom prst="rect">
            <a:avLst/>
          </a:prstGeom>
          <a:noFill/>
          <a:ln/>
        </p:spPr>
        <p:txBody>
          <a:bodyPr wrap="square" lIns="0" tIns="0" rIns="0" bIns="0" rtlCol="0" anchor="t"/>
          <a:lstStyle/>
          <a:p>
            <a:pPr indent="0" marL="0">
              <a:buNone/>
            </a:pPr>
            <a:r>
              <a:rPr lang="en-US" sz="1600" b="1" dirty="0">
                <a:solidFill>
                  <a:schemeClr val="tx1"/>
                </a:solidFill>
              </a:rPr>
              <a:t>CI/CD + security</a:t>
            </a:r>
            <a:endParaRPr lang="en-US" sz="1600" dirty="0"/>
          </a:p>
        </p:txBody>
      </p:sp>
      <p:sp>
        <p:nvSpPr>
          <p:cNvPr id="32" name="Text 24"/>
          <p:cNvSpPr txBox="1"/>
          <p:nvPr/>
        </p:nvSpPr>
        <p:spPr>
          <a:xfrm>
            <a:off x="9225077" y="367588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GitHub Actions, Trivy, Bandit, pip-audit, npm audit, Gitleaks, GHCR</a:t>
            </a:r>
            <a:endParaRPr lang="en-US" sz="1300" dirty="0"/>
          </a:p>
        </p:txBody>
      </p:sp>
      <p:sp>
        <p:nvSpPr>
          <p:cNvPr id="33" name="stack Kubernetes"/>
          <p:cNvSpPr/>
          <p:nvPr/>
        </p:nvSpPr>
        <p:spPr>
          <a:xfrm>
            <a:off x="548640" y="4754880"/>
            <a:ext cx="3515258" cy="1463040"/>
          </a:xfrm>
          <a:prstGeom prst="roundRect">
            <a:avLst>
              <a:gd name="adj" fmla="val 6250"/>
            </a:avLst>
          </a:prstGeom>
          <a:solidFill>
            <a:schemeClr val="bg2"/>
          </a:solidFill>
          <a:ln/>
        </p:spPr>
      </p:sp>
      <p:sp>
        <p:nvSpPr>
          <p:cNvPr id="34" name="icon tile FaDharmachakra"/>
          <p:cNvSpPr/>
          <p:nvPr/>
        </p:nvSpPr>
        <p:spPr>
          <a:xfrm>
            <a:off x="777240" y="5029200"/>
            <a:ext cx="640080" cy="640080"/>
          </a:xfrm>
          <a:prstGeom prst="roundRect">
            <a:avLst>
              <a:gd name="adj" fmla="val 17143"/>
            </a:avLst>
          </a:prstGeom>
          <a:solidFill>
            <a:schemeClr val="accent1"/>
          </a:solidFill>
          <a:ln/>
        </p:spPr>
      </p:sp>
      <p:pic>
        <p:nvPicPr>
          <p:cNvPr id="35" name="Image 6" descr="Dharmachakra icon">    </p:cNvPr>
          <p:cNvPicPr>
            <a:picLocks noChangeAspect="1"/>
          </p:cNvPicPr>
          <p:nvPr/>
        </p:nvPicPr>
        <p:blipFill>
          <a:blip r:embed="rId7"/>
          <a:stretch>
            <a:fillRect/>
          </a:stretch>
        </p:blipFill>
        <p:spPr>
          <a:xfrm>
            <a:off x="930859" y="5182819"/>
            <a:ext cx="332842" cy="332842"/>
          </a:xfrm>
          <a:prstGeom prst="rect">
            <a:avLst/>
          </a:prstGeom>
        </p:spPr>
      </p:pic>
      <p:sp>
        <p:nvSpPr>
          <p:cNvPr id="36" name="Text 27"/>
          <p:cNvSpPr txBox="1"/>
          <p:nvPr/>
        </p:nvSpPr>
        <p:spPr>
          <a:xfrm>
            <a:off x="1645920" y="4983480"/>
            <a:ext cx="2235098" cy="320040"/>
          </a:xfrm>
          <a:prstGeom prst="rect">
            <a:avLst/>
          </a:prstGeom>
          <a:noFill/>
          <a:ln/>
        </p:spPr>
        <p:txBody>
          <a:bodyPr wrap="square" lIns="0" tIns="0" rIns="0" bIns="0" rtlCol="0" anchor="t"/>
          <a:lstStyle/>
          <a:p>
            <a:pPr indent="0" marL="0">
              <a:buNone/>
            </a:pPr>
            <a:r>
              <a:rPr lang="en-US" sz="1600" b="1" dirty="0">
                <a:solidFill>
                  <a:schemeClr val="tx1"/>
                </a:solidFill>
              </a:rPr>
              <a:t>Kubernetes</a:t>
            </a:r>
            <a:endParaRPr lang="en-US" sz="1600" dirty="0"/>
          </a:p>
        </p:txBody>
      </p:sp>
      <p:sp>
        <p:nvSpPr>
          <p:cNvPr id="37" name="Text 28"/>
          <p:cNvSpPr txBox="1"/>
          <p:nvPr/>
        </p:nvSpPr>
        <p:spPr>
          <a:xfrm>
            <a:off x="1645920" y="532180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Helm, Traefik Ingress, HPA with metrics-server, Argo CD</a:t>
            </a:r>
            <a:endParaRPr lang="en-US" sz="1300" dirty="0"/>
          </a:p>
        </p:txBody>
      </p:sp>
      <p:sp>
        <p:nvSpPr>
          <p:cNvPr id="38" name="stack Infrastructure"/>
          <p:cNvSpPr/>
          <p:nvPr/>
        </p:nvSpPr>
        <p:spPr>
          <a:xfrm>
            <a:off x="4338218" y="4754880"/>
            <a:ext cx="3515258" cy="1463040"/>
          </a:xfrm>
          <a:prstGeom prst="roundRect">
            <a:avLst>
              <a:gd name="adj" fmla="val 6250"/>
            </a:avLst>
          </a:prstGeom>
          <a:solidFill>
            <a:schemeClr val="bg2"/>
          </a:solidFill>
          <a:ln/>
        </p:spPr>
      </p:sp>
      <p:sp>
        <p:nvSpPr>
          <p:cNvPr id="39" name="icon tile FaAws"/>
          <p:cNvSpPr/>
          <p:nvPr/>
        </p:nvSpPr>
        <p:spPr>
          <a:xfrm>
            <a:off x="4566818" y="5029200"/>
            <a:ext cx="640080" cy="640080"/>
          </a:xfrm>
          <a:prstGeom prst="roundRect">
            <a:avLst>
              <a:gd name="adj" fmla="val 17143"/>
            </a:avLst>
          </a:prstGeom>
          <a:solidFill>
            <a:schemeClr val="accent1"/>
          </a:solidFill>
          <a:ln/>
        </p:spPr>
      </p:sp>
      <p:pic>
        <p:nvPicPr>
          <p:cNvPr id="40" name="Image 7" descr="Aws icon">    </p:cNvPr>
          <p:cNvPicPr>
            <a:picLocks noChangeAspect="1"/>
          </p:cNvPicPr>
          <p:nvPr/>
        </p:nvPicPr>
        <p:blipFill>
          <a:blip r:embed="rId8"/>
          <a:stretch>
            <a:fillRect/>
          </a:stretch>
        </p:blipFill>
        <p:spPr>
          <a:xfrm>
            <a:off x="4720438" y="5182819"/>
            <a:ext cx="332842" cy="332842"/>
          </a:xfrm>
          <a:prstGeom prst="rect">
            <a:avLst/>
          </a:prstGeom>
        </p:spPr>
      </p:pic>
      <p:sp>
        <p:nvSpPr>
          <p:cNvPr id="41" name="Text 31"/>
          <p:cNvSpPr txBox="1"/>
          <p:nvPr/>
        </p:nvSpPr>
        <p:spPr>
          <a:xfrm>
            <a:off x="5435498" y="4983480"/>
            <a:ext cx="2235098" cy="320040"/>
          </a:xfrm>
          <a:prstGeom prst="rect">
            <a:avLst/>
          </a:prstGeom>
          <a:noFill/>
          <a:ln/>
        </p:spPr>
        <p:txBody>
          <a:bodyPr wrap="square" lIns="0" tIns="0" rIns="0" bIns="0" rtlCol="0" anchor="t"/>
          <a:lstStyle/>
          <a:p>
            <a:pPr indent="0" marL="0">
              <a:buNone/>
            </a:pPr>
            <a:r>
              <a:rPr lang="en-US" sz="1600" b="1" dirty="0">
                <a:solidFill>
                  <a:schemeClr val="tx1"/>
                </a:solidFill>
              </a:rPr>
              <a:t>Infrastructure</a:t>
            </a:r>
            <a:endParaRPr lang="en-US" sz="1600" dirty="0"/>
          </a:p>
        </p:txBody>
      </p:sp>
      <p:sp>
        <p:nvSpPr>
          <p:cNvPr id="42" name="Text 32"/>
          <p:cNvSpPr txBox="1"/>
          <p:nvPr/>
        </p:nvSpPr>
        <p:spPr>
          <a:xfrm>
            <a:off x="5435498" y="532180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Terraform: AWS VPC, NAT, EKS, managed node group, EBS CSI</a:t>
            </a:r>
            <a:endParaRPr lang="en-US" sz="1300" dirty="0"/>
          </a:p>
        </p:txBody>
      </p:sp>
      <p:sp>
        <p:nvSpPr>
          <p:cNvPr id="43" name="stack Observability"/>
          <p:cNvSpPr/>
          <p:nvPr/>
        </p:nvSpPr>
        <p:spPr>
          <a:xfrm>
            <a:off x="8127797" y="4754880"/>
            <a:ext cx="3515258" cy="1463040"/>
          </a:xfrm>
          <a:prstGeom prst="roundRect">
            <a:avLst>
              <a:gd name="adj" fmla="val 6250"/>
            </a:avLst>
          </a:prstGeom>
          <a:solidFill>
            <a:schemeClr val="bg2"/>
          </a:solidFill>
          <a:ln/>
        </p:spPr>
      </p:sp>
      <p:sp>
        <p:nvSpPr>
          <p:cNvPr id="44" name="icon tile FaChartLine"/>
          <p:cNvSpPr/>
          <p:nvPr/>
        </p:nvSpPr>
        <p:spPr>
          <a:xfrm>
            <a:off x="8356397" y="5029200"/>
            <a:ext cx="640080" cy="640080"/>
          </a:xfrm>
          <a:prstGeom prst="roundRect">
            <a:avLst>
              <a:gd name="adj" fmla="val 17143"/>
            </a:avLst>
          </a:prstGeom>
          <a:solidFill>
            <a:schemeClr val="accent1"/>
          </a:solidFill>
          <a:ln/>
        </p:spPr>
      </p:sp>
      <p:pic>
        <p:nvPicPr>
          <p:cNvPr id="45" name="Image 8" descr="ChartLine icon">    </p:cNvPr>
          <p:cNvPicPr>
            <a:picLocks noChangeAspect="1"/>
          </p:cNvPicPr>
          <p:nvPr/>
        </p:nvPicPr>
        <p:blipFill>
          <a:blip r:embed="rId9"/>
          <a:stretch>
            <a:fillRect/>
          </a:stretch>
        </p:blipFill>
        <p:spPr>
          <a:xfrm>
            <a:off x="8510016" y="5182819"/>
            <a:ext cx="332842" cy="332842"/>
          </a:xfrm>
          <a:prstGeom prst="rect">
            <a:avLst/>
          </a:prstGeom>
        </p:spPr>
      </p:pic>
      <p:sp>
        <p:nvSpPr>
          <p:cNvPr id="46" name="Text 35"/>
          <p:cNvSpPr txBox="1"/>
          <p:nvPr/>
        </p:nvSpPr>
        <p:spPr>
          <a:xfrm>
            <a:off x="9225077" y="4983480"/>
            <a:ext cx="2235098" cy="320040"/>
          </a:xfrm>
          <a:prstGeom prst="rect">
            <a:avLst/>
          </a:prstGeom>
          <a:noFill/>
          <a:ln/>
        </p:spPr>
        <p:txBody>
          <a:bodyPr wrap="square" lIns="0" tIns="0" rIns="0" bIns="0" rtlCol="0" anchor="t"/>
          <a:lstStyle/>
          <a:p>
            <a:pPr indent="0" marL="0">
              <a:buNone/>
            </a:pPr>
            <a:r>
              <a:rPr lang="en-US" sz="1600" b="1" dirty="0">
                <a:solidFill>
                  <a:schemeClr val="tx1"/>
                </a:solidFill>
              </a:rPr>
              <a:t>Observability</a:t>
            </a:r>
            <a:endParaRPr lang="en-US" sz="1600" dirty="0"/>
          </a:p>
        </p:txBody>
      </p:sp>
      <p:sp>
        <p:nvSpPr>
          <p:cNvPr id="47" name="Text 36"/>
          <p:cNvSpPr txBox="1"/>
          <p:nvPr/>
        </p:nvSpPr>
        <p:spPr>
          <a:xfrm>
            <a:off x="9225077" y="5321808"/>
            <a:ext cx="2235098" cy="777240"/>
          </a:xfrm>
          <a:prstGeom prst="rect">
            <a:avLst/>
          </a:prstGeom>
          <a:noFill/>
          <a:ln/>
        </p:spPr>
        <p:txBody>
          <a:bodyPr wrap="square" lIns="0" tIns="0" rIns="0" bIns="0" rtlCol="0" anchor="t"/>
          <a:lstStyle/>
          <a:p>
            <a:pPr indent="0" marL="0">
              <a:buNone/>
            </a:pPr>
            <a:r>
              <a:rPr lang="en-US" sz="1300" dirty="0">
                <a:solidFill>
                  <a:schemeClr val="accent5"/>
                </a:solidFill>
              </a:rPr>
              <a:t>Prometheus custom metrics, Grafana dashboard, alert rules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The application and its REST API</a:t>
            </a:r>
            <a:endParaRPr lang="en-US" sz="3600" dirty="0"/>
          </a:p>
        </p:txBody>
      </p:sp>
      <p:sp>
        <p:nvSpPr>
          <p:cNvPr id="3" name="frame Create ticket dialog"/>
          <p:cNvSpPr/>
          <p:nvPr/>
        </p:nvSpPr>
        <p:spPr>
          <a:xfrm>
            <a:off x="493776" y="1550416"/>
            <a:ext cx="5230368" cy="366572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4" name="Image 0" descr="Create ticket dialog">    </p:cNvPr>
          <p:cNvPicPr>
            <a:picLocks noChangeAspect="1"/>
          </p:cNvPicPr>
          <p:nvPr/>
        </p:nvPicPr>
        <p:blipFill>
          <a:blip r:embed="rId1"/>
          <a:stretch>
            <a:fillRect/>
          </a:stretch>
        </p:blipFill>
        <p:spPr>
          <a:xfrm>
            <a:off x="548640" y="1605280"/>
            <a:ext cx="5120640" cy="3556000"/>
          </a:xfrm>
          <a:prstGeom prst="rect">
            <a:avLst/>
          </a:prstGeom>
        </p:spPr>
      </p:pic>
      <p:sp>
        <p:nvSpPr>
          <p:cNvPr id="5" name="frame Mobile layout"/>
          <p:cNvSpPr/>
          <p:nvPr/>
        </p:nvSpPr>
        <p:spPr>
          <a:xfrm>
            <a:off x="5751576" y="1408176"/>
            <a:ext cx="1081686" cy="395020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6" name="Image 1" descr="Mobile layout">    </p:cNvPr>
          <p:cNvPicPr>
            <a:picLocks noChangeAspect="1"/>
          </p:cNvPicPr>
          <p:nvPr/>
        </p:nvPicPr>
        <p:blipFill>
          <a:blip r:embed="rId2"/>
          <a:stretch>
            <a:fillRect/>
          </a:stretch>
        </p:blipFill>
        <p:spPr>
          <a:xfrm>
            <a:off x="5806440" y="1463040"/>
            <a:ext cx="971958" cy="3840480"/>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086600" y="1463040"/>
          <a:ext cx="4553712" cy="914400"/>
        </p:xfrm>
        <a:graphic>
          <a:graphicData uri="http://schemas.openxmlformats.org/drawingml/2006/table">
            <a:tbl>
              <a:tblPr/>
              <a:tblGrid>
                <a:gridCol w="868680"/>
                <a:gridCol w="1828800"/>
                <a:gridCol w="1856232"/>
              </a:tblGrid>
              <a:tr h="384048">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Path</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300" b="1" dirty="0">
                          <a:solidFill>
                            <a:schemeClr val="bg1"/>
                          </a:solidFill>
                          <a:latin typeface="Calibri" pitchFamily="34" charset="0"/>
                          <a:ea typeface="Calibri" pitchFamily="34" charset="-122"/>
                          <a:cs typeface="Calibri" pitchFamily="34" charset="-120"/>
                        </a:rPr>
                        <a:t>Purpose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tx2"/>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/api/tickets</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list, filter, search, paginate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/api/tickets/{id}</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one ticket or 404</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POST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/api/tickets</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validate and create (201)</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PUT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/api/tickets/{id}</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update editable fields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DELETE</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/api/tickets/{id}</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delete (204)</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/api/stats</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counts incl. urgent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/health  /ready</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liveness, readiness</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2"/>
                    </a:solidFill>
                  </a:tcPr>
                </a:tc>
              </a:tr>
              <a:tr h="384048">
                <a:tc>
                  <a:txBody>
                    <a:bodyPr/>
                    <a:lstStyle/>
                    <a:p>
                      <a:pPr indent="0" marL="0">
                        <a:buNone/>
                      </a:pPr>
                      <a:r>
                        <a:rPr lang="en-US" sz="1300" b="1" dirty="0">
                          <a:solidFill>
                            <a:schemeClr val="accent1"/>
                          </a:solidFill>
                          <a:latin typeface="Calibri" pitchFamily="34" charset="0"/>
                          <a:ea typeface="Calibri" pitchFamily="34" charset="-122"/>
                          <a:cs typeface="Calibri" pitchFamily="34" charset="-120"/>
                        </a:rPr>
                        <a:t>GET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/metrics</a:t>
                      </a:r>
                      <a:endParaRPr lang="en-US" sz="12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Prometheus format</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8" name="Text 3"/>
          <p:cNvSpPr txBox="1"/>
          <p:nvPr/>
        </p:nvSpPr>
        <p:spPr>
          <a:xfrm>
            <a:off x="548640" y="5577840"/>
            <a:ext cx="11064240" cy="548640"/>
          </a:xfrm>
          <a:prstGeom prst="rect">
            <a:avLst/>
          </a:prstGeom>
          <a:noFill/>
          <a:ln/>
        </p:spPr>
        <p:txBody>
          <a:bodyPr wrap="square" lIns="0" tIns="0" rIns="0" bIns="0" rtlCol="0" anchor="t"/>
          <a:lstStyle/>
          <a:p>
            <a:pPr indent="0" marL="0">
              <a:buNone/>
            </a:pPr>
            <a:r>
              <a:rPr lang="en-US" sz="1400" dirty="0">
                <a:solidFill>
                  <a:schemeClr val="accent5"/>
                </a:solidFill>
              </a:rPr>
              <a:t>Invalid input returns 422, failed writes roll back with 503, and search escapes SQL wildcards. Full docs live at /docs.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Tests are the first quality gate</a:t>
            </a:r>
            <a:endParaRPr lang="en-US" sz="3600" dirty="0"/>
          </a:p>
        </p:txBody>
      </p:sp>
      <p:sp>
        <p:nvSpPr>
          <p:cNvPr id="3" name="Text 1"/>
          <p:cNvSpPr txBox="1"/>
          <p:nvPr/>
        </p:nvSpPr>
        <p:spPr>
          <a:xfrm>
            <a:off x="548640" y="1417320"/>
            <a:ext cx="2926080" cy="1371600"/>
          </a:xfrm>
          <a:prstGeom prst="rect">
            <a:avLst/>
          </a:prstGeom>
          <a:noFill/>
          <a:ln/>
        </p:spPr>
        <p:txBody>
          <a:bodyPr wrap="square" lIns="0" tIns="0" rIns="0" bIns="0" rtlCol="0" anchor="t"/>
          <a:lstStyle/>
          <a:p>
            <a:pPr indent="0" marL="0">
              <a:buNone/>
            </a:pPr>
            <a:r>
              <a:rPr lang="en-US" sz="9600" b="1" dirty="0">
                <a:solidFill>
                  <a:schemeClr val="accent1"/>
                </a:solidFill>
                <a:latin typeface="Cambria" pitchFamily="34" charset="0"/>
                <a:ea typeface="Cambria" pitchFamily="34" charset="-122"/>
                <a:cs typeface="Cambria" pitchFamily="34" charset="-120"/>
              </a:rPr>
              <a:t>40</a:t>
            </a:r>
            <a:endParaRPr lang="en-US" sz="9600" dirty="0"/>
          </a:p>
        </p:txBody>
      </p:sp>
      <p:sp>
        <p:nvSpPr>
          <p:cNvPr id="4" name="Text 2"/>
          <p:cNvSpPr txBox="1"/>
          <p:nvPr/>
        </p:nvSpPr>
        <p:spPr>
          <a:xfrm>
            <a:off x="548640" y="2788920"/>
            <a:ext cx="4206240" cy="365760"/>
          </a:xfrm>
          <a:prstGeom prst="rect">
            <a:avLst/>
          </a:prstGeom>
          <a:noFill/>
          <a:ln/>
        </p:spPr>
        <p:txBody>
          <a:bodyPr wrap="square" lIns="0" tIns="0" rIns="0" bIns="0" rtlCol="0" anchor="t"/>
          <a:lstStyle/>
          <a:p>
            <a:pPr indent="0" marL="0">
              <a:buNone/>
            </a:pPr>
            <a:r>
              <a:rPr lang="en-US" sz="1800" b="1" dirty="0">
                <a:solidFill>
                  <a:schemeClr val="tx1"/>
                </a:solidFill>
              </a:rPr>
              <a:t>pytest cases, all passing</a:t>
            </a:r>
            <a:endParaRPr lang="en-US" sz="1800" dirty="0"/>
          </a:p>
        </p:txBody>
      </p:sp>
      <p:sp>
        <p:nvSpPr>
          <p:cNvPr id="5" name="icon tile FaShieldHalved"/>
          <p:cNvSpPr/>
          <p:nvPr/>
        </p:nvSpPr>
        <p:spPr>
          <a:xfrm>
            <a:off x="548640" y="3429000"/>
            <a:ext cx="548640" cy="548640"/>
          </a:xfrm>
          <a:prstGeom prst="roundRect">
            <a:avLst>
              <a:gd name="adj" fmla="val 20000"/>
            </a:avLst>
          </a:prstGeom>
          <a:solidFill>
            <a:schemeClr val="accent1"/>
          </a:solidFill>
          <a:ln/>
        </p:spPr>
      </p:sp>
      <p:pic>
        <p:nvPicPr>
          <p:cNvPr id="6" name="Image 0" descr="ShieldHalved icon">    </p:cNvPr>
          <p:cNvPicPr>
            <a:picLocks noChangeAspect="1"/>
          </p:cNvPicPr>
          <p:nvPr/>
        </p:nvPicPr>
        <p:blipFill>
          <a:blip r:embed="rId1"/>
          <a:stretch>
            <a:fillRect/>
          </a:stretch>
        </p:blipFill>
        <p:spPr>
          <a:xfrm>
            <a:off x="680314" y="3560674"/>
            <a:ext cx="285293" cy="285293"/>
          </a:xfrm>
          <a:prstGeom prst="rect">
            <a:avLst/>
          </a:prstGeom>
        </p:spPr>
      </p:pic>
      <p:sp>
        <p:nvSpPr>
          <p:cNvPr id="7" name="Text 4"/>
          <p:cNvSpPr txBox="1"/>
          <p:nvPr/>
        </p:nvSpPr>
        <p:spPr>
          <a:xfrm>
            <a:off x="1280160" y="3429000"/>
            <a:ext cx="4206240" cy="274320"/>
          </a:xfrm>
          <a:prstGeom prst="rect">
            <a:avLst/>
          </a:prstGeom>
          <a:noFill/>
          <a:ln/>
        </p:spPr>
        <p:txBody>
          <a:bodyPr wrap="square" lIns="0" tIns="0" rIns="0" bIns="0" rtlCol="0" anchor="t"/>
          <a:lstStyle/>
          <a:p>
            <a:pPr indent="0" marL="0">
              <a:buNone/>
            </a:pPr>
            <a:r>
              <a:rPr lang="en-US" sz="1500" b="1" dirty="0">
                <a:solidFill>
                  <a:schemeClr val="tx1"/>
                </a:solidFill>
              </a:rPr>
              <a:t>Never the app database</a:t>
            </a:r>
            <a:endParaRPr lang="en-US" sz="1500" dirty="0"/>
          </a:p>
        </p:txBody>
      </p:sp>
      <p:sp>
        <p:nvSpPr>
          <p:cNvPr id="8" name="Text 5"/>
          <p:cNvSpPr txBox="1"/>
          <p:nvPr/>
        </p:nvSpPr>
        <p:spPr>
          <a:xfrm>
            <a:off x="1280160" y="3721608"/>
            <a:ext cx="4206240" cy="594360"/>
          </a:xfrm>
          <a:prstGeom prst="rect">
            <a:avLst/>
          </a:prstGeom>
          <a:noFill/>
          <a:ln/>
        </p:spPr>
        <p:txBody>
          <a:bodyPr wrap="square" lIns="0" tIns="0" rIns="0" bIns="0" rtlCol="0" anchor="t"/>
          <a:lstStyle/>
          <a:p>
            <a:pPr indent="0" marL="0">
              <a:buNone/>
            </a:pPr>
            <a:r>
              <a:rPr lang="en-US" sz="1300" dirty="0">
                <a:solidFill>
                  <a:schemeClr val="accent5"/>
                </a:solidFill>
              </a:rPr>
              <a:t>Isolated SQLite locally, a dedicated PostgreSQL in CI; the suite refuses to start if both URLs match.</a:t>
            </a:r>
            <a:endParaRPr lang="en-US" sz="1300" dirty="0"/>
          </a:p>
        </p:txBody>
      </p:sp>
      <p:sp>
        <p:nvSpPr>
          <p:cNvPr id="9" name="icon tile FaDatabase"/>
          <p:cNvSpPr/>
          <p:nvPr/>
        </p:nvSpPr>
        <p:spPr>
          <a:xfrm>
            <a:off x="548640" y="4343400"/>
            <a:ext cx="548640" cy="548640"/>
          </a:xfrm>
          <a:prstGeom prst="roundRect">
            <a:avLst>
              <a:gd name="adj" fmla="val 20000"/>
            </a:avLst>
          </a:prstGeom>
          <a:solidFill>
            <a:schemeClr val="accent1"/>
          </a:solidFill>
          <a:ln/>
        </p:spPr>
      </p:sp>
      <p:pic>
        <p:nvPicPr>
          <p:cNvPr id="10" name="Image 1" descr="Database icon">    </p:cNvPr>
          <p:cNvPicPr>
            <a:picLocks noChangeAspect="1"/>
          </p:cNvPicPr>
          <p:nvPr/>
        </p:nvPicPr>
        <p:blipFill>
          <a:blip r:embed="rId2"/>
          <a:stretch>
            <a:fillRect/>
          </a:stretch>
        </p:blipFill>
        <p:spPr>
          <a:xfrm>
            <a:off x="680314" y="4475074"/>
            <a:ext cx="285293" cy="285293"/>
          </a:xfrm>
          <a:prstGeom prst="rect">
            <a:avLst/>
          </a:prstGeom>
        </p:spPr>
      </p:pic>
      <p:sp>
        <p:nvSpPr>
          <p:cNvPr id="11" name="Text 7"/>
          <p:cNvSpPr txBox="1"/>
          <p:nvPr/>
        </p:nvSpPr>
        <p:spPr>
          <a:xfrm>
            <a:off x="1280160" y="4343400"/>
            <a:ext cx="4206240" cy="274320"/>
          </a:xfrm>
          <a:prstGeom prst="rect">
            <a:avLst/>
          </a:prstGeom>
          <a:noFill/>
          <a:ln/>
        </p:spPr>
        <p:txBody>
          <a:bodyPr wrap="square" lIns="0" tIns="0" rIns="0" bIns="0" rtlCol="0" anchor="t"/>
          <a:lstStyle/>
          <a:p>
            <a:pPr indent="0" marL="0">
              <a:buNone/>
            </a:pPr>
            <a:r>
              <a:rPr lang="en-US" sz="1500" b="1" dirty="0">
                <a:solidFill>
                  <a:schemeClr val="tx1"/>
                </a:solidFill>
              </a:rPr>
              <a:t>Real migration, rolled back</a:t>
            </a:r>
            <a:endParaRPr lang="en-US" sz="1500" dirty="0"/>
          </a:p>
        </p:txBody>
      </p:sp>
      <p:sp>
        <p:nvSpPr>
          <p:cNvPr id="12" name="Text 8"/>
          <p:cNvSpPr txBox="1"/>
          <p:nvPr/>
        </p:nvSpPr>
        <p:spPr>
          <a:xfrm>
            <a:off x="1280160" y="4636008"/>
            <a:ext cx="4206240" cy="594360"/>
          </a:xfrm>
          <a:prstGeom prst="rect">
            <a:avLst/>
          </a:prstGeom>
          <a:noFill/>
          <a:ln/>
        </p:spPr>
        <p:txBody>
          <a:bodyPr wrap="square" lIns="0" tIns="0" rIns="0" bIns="0" rtlCol="0" anchor="t"/>
          <a:lstStyle/>
          <a:p>
            <a:pPr indent="0" marL="0">
              <a:buNone/>
            </a:pPr>
            <a:r>
              <a:rPr lang="en-US" sz="1300" dirty="0">
                <a:solidFill>
                  <a:schemeClr val="accent5"/>
                </a:solidFill>
              </a:rPr>
              <a:t>Schema built by Alembic; every test runs in a transaction that is rolled back.</a:t>
            </a:r>
            <a:endParaRPr lang="en-US" sz="1300" dirty="0"/>
          </a:p>
        </p:txBody>
      </p:sp>
      <p:sp>
        <p:nvSpPr>
          <p:cNvPr id="13" name="icon tile FaChrome"/>
          <p:cNvSpPr/>
          <p:nvPr/>
        </p:nvSpPr>
        <p:spPr>
          <a:xfrm>
            <a:off x="548640" y="5257800"/>
            <a:ext cx="548640" cy="548640"/>
          </a:xfrm>
          <a:prstGeom prst="roundRect">
            <a:avLst>
              <a:gd name="adj" fmla="val 20000"/>
            </a:avLst>
          </a:prstGeom>
          <a:solidFill>
            <a:schemeClr val="accent1"/>
          </a:solidFill>
          <a:ln/>
        </p:spPr>
      </p:sp>
      <p:pic>
        <p:nvPicPr>
          <p:cNvPr id="14" name="Image 2" descr="Chrome icon">    </p:cNvPr>
          <p:cNvPicPr>
            <a:picLocks noChangeAspect="1"/>
          </p:cNvPicPr>
          <p:nvPr/>
        </p:nvPicPr>
        <p:blipFill>
          <a:blip r:embed="rId3"/>
          <a:stretch>
            <a:fillRect/>
          </a:stretch>
        </p:blipFill>
        <p:spPr>
          <a:xfrm>
            <a:off x="680314" y="5389474"/>
            <a:ext cx="285293" cy="285293"/>
          </a:xfrm>
          <a:prstGeom prst="rect">
            <a:avLst/>
          </a:prstGeom>
        </p:spPr>
      </p:pic>
      <p:sp>
        <p:nvSpPr>
          <p:cNvPr id="15" name="Text 10"/>
          <p:cNvSpPr txBox="1"/>
          <p:nvPr/>
        </p:nvSpPr>
        <p:spPr>
          <a:xfrm>
            <a:off x="1280160" y="5257800"/>
            <a:ext cx="4206240" cy="274320"/>
          </a:xfrm>
          <a:prstGeom prst="rect">
            <a:avLst/>
          </a:prstGeom>
          <a:noFill/>
          <a:ln/>
        </p:spPr>
        <p:txBody>
          <a:bodyPr wrap="square" lIns="0" tIns="0" rIns="0" bIns="0" rtlCol="0" anchor="t"/>
          <a:lstStyle/>
          <a:p>
            <a:pPr indent="0" marL="0">
              <a:buNone/>
            </a:pPr>
            <a:r>
              <a:rPr lang="en-US" sz="1500" b="1" dirty="0">
                <a:solidFill>
                  <a:schemeClr val="tx1"/>
                </a:solidFill>
              </a:rPr>
              <a:t>Browser checks</a:t>
            </a:r>
            <a:endParaRPr lang="en-US" sz="1500" dirty="0"/>
          </a:p>
        </p:txBody>
      </p:sp>
      <p:sp>
        <p:nvSpPr>
          <p:cNvPr id="16" name="Text 11"/>
          <p:cNvSpPr txBox="1"/>
          <p:nvPr/>
        </p:nvSpPr>
        <p:spPr>
          <a:xfrm>
            <a:off x="1280160" y="5550408"/>
            <a:ext cx="4206240" cy="594360"/>
          </a:xfrm>
          <a:prstGeom prst="rect">
            <a:avLst/>
          </a:prstGeom>
          <a:noFill/>
          <a:ln/>
        </p:spPr>
        <p:txBody>
          <a:bodyPr wrap="square" lIns="0" tIns="0" rIns="0" bIns="0" rtlCol="0" anchor="t"/>
          <a:lstStyle/>
          <a:p>
            <a:pPr indent="0" marL="0">
              <a:buNone/>
            </a:pPr>
            <a:r>
              <a:rPr lang="en-US" sz="1300" dirty="0">
                <a:solidFill>
                  <a:schemeClr val="accent5"/>
                </a:solidFill>
              </a:rPr>
              <a:t>Playwright drives real CRUD, validation and narrow screens against the kind deployment.</a:t>
            </a:r>
            <a:endParaRPr lang="en-US" sz="1300" dirty="0"/>
          </a:p>
        </p:txBody>
      </p:sp>
      <p:sp>
        <p:nvSpPr>
          <p:cNvPr id="17" name="frame pytest -v output, all tests passing"/>
          <p:cNvSpPr/>
          <p:nvPr/>
        </p:nvSpPr>
        <p:spPr>
          <a:xfrm>
            <a:off x="5797296" y="1579388"/>
            <a:ext cx="5897880" cy="4430744"/>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18" name="Image 3" descr="pytest -v output, all tests passing">    </p:cNvPr>
          <p:cNvPicPr>
            <a:picLocks noChangeAspect="1"/>
          </p:cNvPicPr>
          <p:nvPr/>
        </p:nvPicPr>
        <p:blipFill>
          <a:blip r:embed="rId4"/>
          <a:stretch>
            <a:fillRect/>
          </a:stretch>
        </p:blipFill>
        <p:spPr>
          <a:xfrm>
            <a:off x="5852160" y="1634252"/>
            <a:ext cx="5788152" cy="4321016"/>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Two small, non-root container images</a:t>
            </a:r>
            <a:endParaRPr lang="en-US" sz="3600" dirty="0"/>
          </a:p>
        </p:txBody>
      </p:sp>
      <p:sp>
        <p:nvSpPr>
          <p:cNvPr id="3" name="image card"/>
          <p:cNvSpPr/>
          <p:nvPr/>
        </p:nvSpPr>
        <p:spPr>
          <a:xfrm>
            <a:off x="548640" y="1508760"/>
            <a:ext cx="3566160" cy="3657600"/>
          </a:xfrm>
          <a:prstGeom prst="roundRect">
            <a:avLst>
              <a:gd name="adj" fmla="val 2564"/>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4" name="icon tile FaPython"/>
          <p:cNvSpPr/>
          <p:nvPr/>
        </p:nvSpPr>
        <p:spPr>
          <a:xfrm>
            <a:off x="822960" y="1783080"/>
            <a:ext cx="640080" cy="640080"/>
          </a:xfrm>
          <a:prstGeom prst="roundRect">
            <a:avLst>
              <a:gd name="adj" fmla="val 17143"/>
            </a:avLst>
          </a:prstGeom>
          <a:solidFill>
            <a:schemeClr val="accent1"/>
          </a:solidFill>
          <a:ln/>
        </p:spPr>
      </p:sp>
      <p:pic>
        <p:nvPicPr>
          <p:cNvPr id="5" name="Image 0" descr="Python icon">    </p:cNvPr>
          <p:cNvPicPr>
            <a:picLocks noChangeAspect="1"/>
          </p:cNvPicPr>
          <p:nvPr/>
        </p:nvPicPr>
        <p:blipFill>
          <a:blip r:embed="rId1"/>
          <a:stretch>
            <a:fillRect/>
          </a:stretch>
        </p:blipFill>
        <p:spPr>
          <a:xfrm>
            <a:off x="976579" y="1936699"/>
            <a:ext cx="332842" cy="332842"/>
          </a:xfrm>
          <a:prstGeom prst="rect">
            <a:avLst/>
          </a:prstGeom>
        </p:spPr>
      </p:pic>
      <p:sp>
        <p:nvSpPr>
          <p:cNvPr id="6" name="Text 3"/>
          <p:cNvSpPr txBox="1"/>
          <p:nvPr/>
        </p:nvSpPr>
        <p:spPr>
          <a:xfrm>
            <a:off x="1645920" y="1920240"/>
            <a:ext cx="237744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campusdesk-backend</a:t>
            </a:r>
            <a:endParaRPr lang="en-US" sz="1500" dirty="0"/>
          </a:p>
        </p:txBody>
      </p:sp>
      <p:sp>
        <p:nvSpPr>
          <p:cNvPr id="7" name="Text 4"/>
          <p:cNvSpPr txBox="1"/>
          <p:nvPr/>
        </p:nvSpPr>
        <p:spPr>
          <a:xfrm>
            <a:off x="822960" y="2697480"/>
            <a:ext cx="31089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python:3.13-alpine, patched with apk upgrade</a:t>
            </a:r>
            <a:endParaRPr lang="en-US" sz="1400" dirty="0"/>
          </a:p>
          <a:p>
            <a:pPr marL="342900" indent="-342900">
              <a:spcAft>
                <a:spcPts val="800"/>
              </a:spcAft>
              <a:buSzPct val="100000"/>
              <a:buChar char="•"/>
            </a:pPr>
            <a:r>
              <a:rPr lang="en-US" sz="1400" dirty="0">
                <a:solidFill>
                  <a:schemeClr val="tx1"/>
                </a:solidFill>
              </a:rPr>
              <a:t>Dependencies installed before code for layer caching</a:t>
            </a:r>
            <a:endParaRPr lang="en-US" sz="1400" dirty="0"/>
          </a:p>
          <a:p>
            <a:pPr marL="342900" indent="-342900">
              <a:spcAft>
                <a:spcPts val="800"/>
              </a:spcAft>
              <a:buSzPct val="100000"/>
              <a:buChar char="•"/>
            </a:pPr>
            <a:r>
              <a:rPr lang="en-US" sz="1400" dirty="0">
                <a:solidFill>
                  <a:schemeClr val="tx1"/>
                </a:solidFill>
              </a:rPr>
              <a:t>pip and setuptools removed after install</a:t>
            </a:r>
            <a:endParaRPr lang="en-US" sz="1400" dirty="0"/>
          </a:p>
          <a:p>
            <a:pPr marL="342900" indent="-342900">
              <a:spcAft>
                <a:spcPts val="800"/>
              </a:spcAft>
              <a:buSzPct val="100000"/>
              <a:buChar char="•"/>
            </a:pPr>
            <a:r>
              <a:rPr lang="en-US" sz="1400" dirty="0">
                <a:solidFill>
                  <a:schemeClr val="tx1"/>
                </a:solidFill>
              </a:rPr>
              <a:t>Runs as uid 10001, HEALTHCHECK on /health</a:t>
            </a:r>
            <a:endParaRPr lang="en-US" sz="1400" dirty="0"/>
          </a:p>
        </p:txBody>
      </p:sp>
      <p:sp>
        <p:nvSpPr>
          <p:cNvPr id="8" name="image card"/>
          <p:cNvSpPr/>
          <p:nvPr/>
        </p:nvSpPr>
        <p:spPr>
          <a:xfrm>
            <a:off x="4389120" y="1508760"/>
            <a:ext cx="3566160" cy="3657600"/>
          </a:xfrm>
          <a:prstGeom prst="roundRect">
            <a:avLst>
              <a:gd name="adj" fmla="val 2564"/>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9" name="icon tile FaReact"/>
          <p:cNvSpPr/>
          <p:nvPr/>
        </p:nvSpPr>
        <p:spPr>
          <a:xfrm>
            <a:off x="4663440" y="1783080"/>
            <a:ext cx="640080" cy="640080"/>
          </a:xfrm>
          <a:prstGeom prst="roundRect">
            <a:avLst>
              <a:gd name="adj" fmla="val 17143"/>
            </a:avLst>
          </a:prstGeom>
          <a:solidFill>
            <a:schemeClr val="accent2"/>
          </a:solidFill>
          <a:ln/>
        </p:spPr>
      </p:sp>
      <p:pic>
        <p:nvPicPr>
          <p:cNvPr id="10" name="Image 1" descr="React icon">    </p:cNvPr>
          <p:cNvPicPr>
            <a:picLocks noChangeAspect="1"/>
          </p:cNvPicPr>
          <p:nvPr/>
        </p:nvPicPr>
        <p:blipFill>
          <a:blip r:embed="rId2"/>
          <a:stretch>
            <a:fillRect/>
          </a:stretch>
        </p:blipFill>
        <p:spPr>
          <a:xfrm>
            <a:off x="4817059" y="1936699"/>
            <a:ext cx="332842" cy="332842"/>
          </a:xfrm>
          <a:prstGeom prst="rect">
            <a:avLst/>
          </a:prstGeom>
        </p:spPr>
      </p:pic>
      <p:sp>
        <p:nvSpPr>
          <p:cNvPr id="11" name="Text 7"/>
          <p:cNvSpPr txBox="1"/>
          <p:nvPr/>
        </p:nvSpPr>
        <p:spPr>
          <a:xfrm>
            <a:off x="5486400" y="1920240"/>
            <a:ext cx="2377440" cy="36576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campusdesk-frontend</a:t>
            </a:r>
            <a:endParaRPr lang="en-US" sz="1500" dirty="0"/>
          </a:p>
        </p:txBody>
      </p:sp>
      <p:sp>
        <p:nvSpPr>
          <p:cNvPr id="12" name="Text 8"/>
          <p:cNvSpPr txBox="1"/>
          <p:nvPr/>
        </p:nvSpPr>
        <p:spPr>
          <a:xfrm>
            <a:off x="4663440" y="2697480"/>
            <a:ext cx="31089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Stage 1: node:24-alpine runs npm ci + build</a:t>
            </a:r>
            <a:endParaRPr lang="en-US" sz="1400" dirty="0"/>
          </a:p>
          <a:p>
            <a:pPr marL="342900" indent="-342900">
              <a:spcAft>
                <a:spcPts val="800"/>
              </a:spcAft>
              <a:buSzPct val="100000"/>
              <a:buChar char="•"/>
            </a:pPr>
            <a:r>
              <a:rPr lang="en-US" sz="1400" dirty="0">
                <a:solidFill>
                  <a:schemeClr val="tx1"/>
                </a:solidFill>
              </a:rPr>
              <a:t>Stage 2: nginx-unprivileged serves only dist/</a:t>
            </a:r>
            <a:endParaRPr lang="en-US" sz="1400" dirty="0"/>
          </a:p>
          <a:p>
            <a:pPr marL="342900" indent="-342900">
              <a:spcAft>
                <a:spcPts val="800"/>
              </a:spcAft>
              <a:buSzPct val="100000"/>
              <a:buChar char="•"/>
            </a:pPr>
            <a:r>
              <a:rPr lang="en-US" sz="1400" dirty="0">
                <a:solidFill>
                  <a:schemeClr val="tx1"/>
                </a:solidFill>
              </a:rPr>
              <a:t>Node never reaches the runtime image</a:t>
            </a:r>
            <a:endParaRPr lang="en-US" sz="1400" dirty="0"/>
          </a:p>
          <a:p>
            <a:pPr marL="342900" indent="-342900">
              <a:spcAft>
                <a:spcPts val="800"/>
              </a:spcAft>
              <a:buSzPct val="100000"/>
              <a:buChar char="•"/>
            </a:pPr>
            <a:r>
              <a:rPr lang="en-US" sz="1400" dirty="0">
                <a:solidFill>
                  <a:schemeClr val="tx1"/>
                </a:solidFill>
              </a:rPr>
              <a:t>Runs as uid 101 on port 8080</a:t>
            </a:r>
            <a:endParaRPr lang="en-US" sz="1400" dirty="0"/>
          </a:p>
        </p:txBody>
      </p:sp>
      <p:sp>
        <p:nvSpPr>
          <p:cNvPr id="13" name="compose card"/>
          <p:cNvSpPr/>
          <p:nvPr/>
        </p:nvSpPr>
        <p:spPr>
          <a:xfrm>
            <a:off x="8229600" y="1508760"/>
            <a:ext cx="3410712" cy="3657600"/>
          </a:xfrm>
          <a:prstGeom prst="roundRect">
            <a:avLst>
              <a:gd name="adj" fmla="val 2681"/>
            </a:avLst>
          </a:prstGeom>
          <a:solidFill>
            <a:schemeClr val="tx2"/>
          </a:solidFill>
          <a:ln/>
        </p:spPr>
      </p:sp>
      <p:sp>
        <p:nvSpPr>
          <p:cNvPr id="14" name="icon tile FaDocker"/>
          <p:cNvSpPr/>
          <p:nvPr/>
        </p:nvSpPr>
        <p:spPr>
          <a:xfrm>
            <a:off x="8503920" y="1783080"/>
            <a:ext cx="640080" cy="640080"/>
          </a:xfrm>
          <a:prstGeom prst="roundRect">
            <a:avLst>
              <a:gd name="adj" fmla="val 17143"/>
            </a:avLst>
          </a:prstGeom>
          <a:solidFill>
            <a:schemeClr val="bg1"/>
          </a:solidFill>
          <a:ln/>
        </p:spPr>
      </p:sp>
      <p:pic>
        <p:nvPicPr>
          <p:cNvPr id="15" name="Image 2" descr="Docker icon">    </p:cNvPr>
          <p:cNvPicPr>
            <a:picLocks noChangeAspect="1"/>
          </p:cNvPicPr>
          <p:nvPr/>
        </p:nvPicPr>
        <p:blipFill>
          <a:blip r:embed="rId3"/>
          <a:stretch>
            <a:fillRect/>
          </a:stretch>
        </p:blipFill>
        <p:spPr>
          <a:xfrm>
            <a:off x="8657539" y="1936699"/>
            <a:ext cx="332842" cy="332842"/>
          </a:xfrm>
          <a:prstGeom prst="rect">
            <a:avLst/>
          </a:prstGeom>
        </p:spPr>
      </p:pic>
      <p:sp>
        <p:nvSpPr>
          <p:cNvPr id="16" name="Text 11"/>
          <p:cNvSpPr txBox="1"/>
          <p:nvPr/>
        </p:nvSpPr>
        <p:spPr>
          <a:xfrm>
            <a:off x="8503920" y="2606040"/>
            <a:ext cx="2926080" cy="36576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docker compose up --build</a:t>
            </a:r>
            <a:endParaRPr lang="en-US" sz="1400" dirty="0"/>
          </a:p>
        </p:txBody>
      </p:sp>
      <p:sp>
        <p:nvSpPr>
          <p:cNvPr id="17" name="Text 12"/>
          <p:cNvSpPr txBox="1"/>
          <p:nvPr/>
        </p:nvSpPr>
        <p:spPr>
          <a:xfrm>
            <a:off x="8503920" y="3108960"/>
            <a:ext cx="2926080" cy="18288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postgres</a:t>
            </a:r>
            <a:endParaRPr lang="en-US" sz="1500" dirty="0"/>
          </a:p>
          <a:p>
            <a:pPr marL="342900" indent="-342900">
              <a:spcAft>
                <a:spcPts val="800"/>
              </a:spcAft>
              <a:buSzPct val="100000"/>
              <a:buChar char="•"/>
            </a:pPr>
            <a:r>
              <a:rPr lang="en-US" sz="1500" dirty="0">
                <a:solidFill>
                  <a:schemeClr val="bg1"/>
                </a:solidFill>
              </a:rPr>
              <a:t>migrate (one-shot)</a:t>
            </a:r>
            <a:endParaRPr lang="en-US" sz="1500" dirty="0"/>
          </a:p>
          <a:p>
            <a:pPr marL="342900" indent="-342900">
              <a:spcAft>
                <a:spcPts val="800"/>
              </a:spcAft>
              <a:buSzPct val="100000"/>
              <a:buChar char="•"/>
            </a:pPr>
            <a:r>
              <a:rPr lang="en-US" sz="1500" dirty="0">
                <a:solidFill>
                  <a:schemeClr val="bg1"/>
                </a:solidFill>
              </a:rPr>
              <a:t>backend :8000</a:t>
            </a:r>
            <a:endParaRPr lang="en-US" sz="1500" dirty="0"/>
          </a:p>
          <a:p>
            <a:pPr marL="342900" indent="-342900">
              <a:spcAft>
                <a:spcPts val="800"/>
              </a:spcAft>
              <a:buSzPct val="100000"/>
              <a:buChar char="•"/>
            </a:pPr>
            <a:r>
              <a:rPr lang="en-US" sz="1500" dirty="0">
                <a:solidFill>
                  <a:schemeClr val="bg1"/>
                </a:solidFill>
              </a:rPr>
              <a:t>frontend :3000</a:t>
            </a:r>
            <a:endParaRPr lang="en-US" sz="1500" dirty="0"/>
          </a:p>
        </p:txBody>
      </p:sp>
      <p:sp>
        <p:nvSpPr>
          <p:cNvPr id="18" name="Text 13"/>
          <p:cNvSpPr txBox="1"/>
          <p:nvPr/>
        </p:nvSpPr>
        <p:spPr>
          <a:xfrm>
            <a:off x="548640" y="5486400"/>
            <a:ext cx="11064240" cy="548640"/>
          </a:xfrm>
          <a:prstGeom prst="rect">
            <a:avLst/>
          </a:prstGeom>
          <a:noFill/>
          <a:ln/>
        </p:spPr>
        <p:txBody>
          <a:bodyPr wrap="square" lIns="0" tIns="0" rIns="0" bIns="0" rtlCol="0" anchor="t"/>
          <a:lstStyle/>
          <a:p>
            <a:pPr indent="0" marL="0">
              <a:buNone/>
            </a:pPr>
            <a:r>
              <a:rPr lang="en-US" sz="1400" dirty="0">
                <a:solidFill>
                  <a:schemeClr val="accent5"/>
                </a:solidFill>
              </a:rPr>
              <a:t>The backend image cannot install packages at runtime, which also removes the setuptools CVE path shown on the security slide.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CI/CD: every gate must pass before publish</a:t>
            </a:r>
            <a:endParaRPr lang="en-US" sz="3600" dirty="0"/>
          </a:p>
        </p:txBody>
      </p:sp>
      <p:sp>
        <p:nvSpPr>
          <p:cNvPr id="3" name="job source-security"/>
          <p:cNvSpPr/>
          <p:nvPr/>
        </p:nvSpPr>
        <p:spPr>
          <a:xfrm>
            <a:off x="548640" y="1554480"/>
            <a:ext cx="3200400" cy="1828800"/>
          </a:xfrm>
          <a:prstGeom prst="roundRect">
            <a:avLst>
              <a:gd name="adj" fmla="val 5000"/>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4" name="icon tile FaUserShield"/>
          <p:cNvSpPr/>
          <p:nvPr/>
        </p:nvSpPr>
        <p:spPr>
          <a:xfrm>
            <a:off x="777240" y="1783080"/>
            <a:ext cx="548640" cy="548640"/>
          </a:xfrm>
          <a:prstGeom prst="roundRect">
            <a:avLst>
              <a:gd name="adj" fmla="val 20000"/>
            </a:avLst>
          </a:prstGeom>
          <a:solidFill>
            <a:schemeClr val="accent1"/>
          </a:solidFill>
          <a:ln/>
        </p:spPr>
      </p:sp>
      <p:pic>
        <p:nvPicPr>
          <p:cNvPr id="5" name="Image 0" descr="UserShield icon">    </p:cNvPr>
          <p:cNvPicPr>
            <a:picLocks noChangeAspect="1"/>
          </p:cNvPicPr>
          <p:nvPr/>
        </p:nvPicPr>
        <p:blipFill>
          <a:blip r:embed="rId1"/>
          <a:stretch>
            <a:fillRect/>
          </a:stretch>
        </p:blipFill>
        <p:spPr>
          <a:xfrm>
            <a:off x="908914" y="1914754"/>
            <a:ext cx="285293" cy="285293"/>
          </a:xfrm>
          <a:prstGeom prst="rect">
            <a:avLst/>
          </a:prstGeom>
        </p:spPr>
      </p:pic>
      <p:sp>
        <p:nvSpPr>
          <p:cNvPr id="6" name="Text 3"/>
          <p:cNvSpPr txBox="1"/>
          <p:nvPr/>
        </p:nvSpPr>
        <p:spPr>
          <a:xfrm>
            <a:off x="1463040" y="1856232"/>
            <a:ext cx="2148840" cy="4114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source-security</a:t>
            </a:r>
            <a:endParaRPr lang="en-US" sz="1500" dirty="0"/>
          </a:p>
        </p:txBody>
      </p:sp>
      <p:sp>
        <p:nvSpPr>
          <p:cNvPr id="7" name="Text 4"/>
          <p:cNvSpPr txBox="1"/>
          <p:nvPr/>
        </p:nvSpPr>
        <p:spPr>
          <a:xfrm>
            <a:off x="777240" y="2468880"/>
            <a:ext cx="2743200" cy="822960"/>
          </a:xfrm>
          <a:prstGeom prst="rect">
            <a:avLst/>
          </a:prstGeom>
          <a:noFill/>
          <a:ln/>
        </p:spPr>
        <p:txBody>
          <a:bodyPr wrap="square" lIns="0" tIns="0" rIns="0" bIns="0" rtlCol="0" anchor="t"/>
          <a:lstStyle/>
          <a:p>
            <a:pPr indent="0" marL="0">
              <a:buNone/>
            </a:pPr>
            <a:r>
              <a:rPr lang="en-US" sz="1300" dirty="0">
                <a:solidFill>
                  <a:schemeClr val="accent5"/>
                </a:solidFill>
              </a:rPr>
              <a:t>Bandit, pip-audit, npm audit and Gitleaks</a:t>
            </a:r>
            <a:endParaRPr lang="en-US" sz="1300" dirty="0"/>
          </a:p>
        </p:txBody>
      </p:sp>
      <p:sp>
        <p:nvSpPr>
          <p:cNvPr id="8" name="job test"/>
          <p:cNvSpPr/>
          <p:nvPr/>
        </p:nvSpPr>
        <p:spPr>
          <a:xfrm>
            <a:off x="548640" y="3703320"/>
            <a:ext cx="3200400" cy="1828800"/>
          </a:xfrm>
          <a:prstGeom prst="roundRect">
            <a:avLst>
              <a:gd name="adj" fmla="val 5000"/>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9" name="icon tile FaVial"/>
          <p:cNvSpPr/>
          <p:nvPr/>
        </p:nvSpPr>
        <p:spPr>
          <a:xfrm>
            <a:off x="777240" y="3931920"/>
            <a:ext cx="548640" cy="548640"/>
          </a:xfrm>
          <a:prstGeom prst="roundRect">
            <a:avLst>
              <a:gd name="adj" fmla="val 20000"/>
            </a:avLst>
          </a:prstGeom>
          <a:solidFill>
            <a:schemeClr val="accent1"/>
          </a:solidFill>
          <a:ln/>
        </p:spPr>
      </p:sp>
      <p:pic>
        <p:nvPicPr>
          <p:cNvPr id="10" name="Image 1" descr="Vial icon">    </p:cNvPr>
          <p:cNvPicPr>
            <a:picLocks noChangeAspect="1"/>
          </p:cNvPicPr>
          <p:nvPr/>
        </p:nvPicPr>
        <p:blipFill>
          <a:blip r:embed="rId2"/>
          <a:stretch>
            <a:fillRect/>
          </a:stretch>
        </p:blipFill>
        <p:spPr>
          <a:xfrm>
            <a:off x="908914" y="4063594"/>
            <a:ext cx="285293" cy="285293"/>
          </a:xfrm>
          <a:prstGeom prst="rect">
            <a:avLst/>
          </a:prstGeom>
        </p:spPr>
      </p:pic>
      <p:sp>
        <p:nvSpPr>
          <p:cNvPr id="11" name="Text 7"/>
          <p:cNvSpPr txBox="1"/>
          <p:nvPr/>
        </p:nvSpPr>
        <p:spPr>
          <a:xfrm>
            <a:off x="1463040" y="4005072"/>
            <a:ext cx="2148840" cy="4114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test</a:t>
            </a:r>
            <a:endParaRPr lang="en-US" sz="1500" dirty="0"/>
          </a:p>
        </p:txBody>
      </p:sp>
      <p:sp>
        <p:nvSpPr>
          <p:cNvPr id="12" name="Text 8"/>
          <p:cNvSpPr txBox="1"/>
          <p:nvPr/>
        </p:nvSpPr>
        <p:spPr>
          <a:xfrm>
            <a:off x="777240" y="4617720"/>
            <a:ext cx="2743200" cy="822960"/>
          </a:xfrm>
          <a:prstGeom prst="rect">
            <a:avLst/>
          </a:prstGeom>
          <a:noFill/>
          <a:ln/>
        </p:spPr>
        <p:txBody>
          <a:bodyPr wrap="square" lIns="0" tIns="0" rIns="0" bIns="0" rtlCol="0" anchor="t"/>
          <a:lstStyle/>
          <a:p>
            <a:pPr indent="0" marL="0">
              <a:buNone/>
            </a:pPr>
            <a:r>
              <a:rPr lang="en-US" sz="1300" dirty="0">
                <a:solidFill>
                  <a:schemeClr val="accent5"/>
                </a:solidFill>
              </a:rPr>
              <a:t>Ruff, pytest on PostgreSQL, alembic check, npm build, helm lint, terraform validate</a:t>
            </a:r>
            <a:endParaRPr lang="en-US" sz="1300" dirty="0"/>
          </a:p>
        </p:txBody>
      </p:sp>
      <p:sp>
        <p:nvSpPr>
          <p:cNvPr id="13" name="job build-scan-deploy"/>
          <p:cNvSpPr/>
          <p:nvPr/>
        </p:nvSpPr>
        <p:spPr>
          <a:xfrm>
            <a:off x="4480560" y="2606040"/>
            <a:ext cx="3200400" cy="1828800"/>
          </a:xfrm>
          <a:prstGeom prst="roundRect">
            <a:avLst>
              <a:gd name="adj" fmla="val 5000"/>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14" name="icon tile FaDocker"/>
          <p:cNvSpPr/>
          <p:nvPr/>
        </p:nvSpPr>
        <p:spPr>
          <a:xfrm>
            <a:off x="4709160" y="2834640"/>
            <a:ext cx="548640" cy="548640"/>
          </a:xfrm>
          <a:prstGeom prst="roundRect">
            <a:avLst>
              <a:gd name="adj" fmla="val 20000"/>
            </a:avLst>
          </a:prstGeom>
          <a:solidFill>
            <a:schemeClr val="accent2"/>
          </a:solidFill>
          <a:ln/>
        </p:spPr>
      </p:sp>
      <p:pic>
        <p:nvPicPr>
          <p:cNvPr id="15" name="Image 2" descr="Docker icon">    </p:cNvPr>
          <p:cNvPicPr>
            <a:picLocks noChangeAspect="1"/>
          </p:cNvPicPr>
          <p:nvPr/>
        </p:nvPicPr>
        <p:blipFill>
          <a:blip r:embed="rId3"/>
          <a:stretch>
            <a:fillRect/>
          </a:stretch>
        </p:blipFill>
        <p:spPr>
          <a:xfrm>
            <a:off x="4840834" y="2966314"/>
            <a:ext cx="285293" cy="285293"/>
          </a:xfrm>
          <a:prstGeom prst="rect">
            <a:avLst/>
          </a:prstGeom>
        </p:spPr>
      </p:pic>
      <p:sp>
        <p:nvSpPr>
          <p:cNvPr id="16" name="Text 11"/>
          <p:cNvSpPr txBox="1"/>
          <p:nvPr/>
        </p:nvSpPr>
        <p:spPr>
          <a:xfrm>
            <a:off x="5394960" y="2907792"/>
            <a:ext cx="2148840" cy="4114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build-scan-deploy</a:t>
            </a:r>
            <a:endParaRPr lang="en-US" sz="1500" dirty="0"/>
          </a:p>
        </p:txBody>
      </p:sp>
      <p:sp>
        <p:nvSpPr>
          <p:cNvPr id="17" name="Text 12"/>
          <p:cNvSpPr txBox="1"/>
          <p:nvPr/>
        </p:nvSpPr>
        <p:spPr>
          <a:xfrm>
            <a:off x="4709160" y="3520440"/>
            <a:ext cx="2743200" cy="822960"/>
          </a:xfrm>
          <a:prstGeom prst="rect">
            <a:avLst/>
          </a:prstGeom>
          <a:noFill/>
          <a:ln/>
        </p:spPr>
        <p:txBody>
          <a:bodyPr wrap="square" lIns="0" tIns="0" rIns="0" bIns="0" rtlCol="0" anchor="t"/>
          <a:lstStyle/>
          <a:p>
            <a:pPr indent="0" marL="0">
              <a:buNone/>
            </a:pPr>
            <a:r>
              <a:rPr lang="en-US" sz="1300" dirty="0">
                <a:solidFill>
                  <a:schemeClr val="accent5"/>
                </a:solidFill>
              </a:rPr>
              <a:t>Build both images, Trivy gate, Helm install on fresh kind, smoke + browser tests</a:t>
            </a:r>
            <a:endParaRPr lang="en-US" sz="1300" dirty="0"/>
          </a:p>
        </p:txBody>
      </p:sp>
      <p:sp>
        <p:nvSpPr>
          <p:cNvPr id="18" name="job publish"/>
          <p:cNvSpPr/>
          <p:nvPr/>
        </p:nvSpPr>
        <p:spPr>
          <a:xfrm>
            <a:off x="8439912" y="1554480"/>
            <a:ext cx="3200400" cy="1828800"/>
          </a:xfrm>
          <a:prstGeom prst="roundRect">
            <a:avLst>
              <a:gd name="adj" fmla="val 5000"/>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19" name="icon tile FaBoxOpen"/>
          <p:cNvSpPr/>
          <p:nvPr/>
        </p:nvSpPr>
        <p:spPr>
          <a:xfrm>
            <a:off x="8668512" y="1783080"/>
            <a:ext cx="548640" cy="548640"/>
          </a:xfrm>
          <a:prstGeom prst="roundRect">
            <a:avLst>
              <a:gd name="adj" fmla="val 20000"/>
            </a:avLst>
          </a:prstGeom>
          <a:solidFill>
            <a:schemeClr val="accent1"/>
          </a:solidFill>
          <a:ln/>
        </p:spPr>
      </p:sp>
      <p:pic>
        <p:nvPicPr>
          <p:cNvPr id="20" name="Image 3" descr="BoxOpen icon">    </p:cNvPr>
          <p:cNvPicPr>
            <a:picLocks noChangeAspect="1"/>
          </p:cNvPicPr>
          <p:nvPr/>
        </p:nvPicPr>
        <p:blipFill>
          <a:blip r:embed="rId4"/>
          <a:stretch>
            <a:fillRect/>
          </a:stretch>
        </p:blipFill>
        <p:spPr>
          <a:xfrm>
            <a:off x="8800186" y="1914754"/>
            <a:ext cx="285293" cy="285293"/>
          </a:xfrm>
          <a:prstGeom prst="rect">
            <a:avLst/>
          </a:prstGeom>
        </p:spPr>
      </p:pic>
      <p:sp>
        <p:nvSpPr>
          <p:cNvPr id="21" name="Text 15"/>
          <p:cNvSpPr txBox="1"/>
          <p:nvPr/>
        </p:nvSpPr>
        <p:spPr>
          <a:xfrm>
            <a:off x="9354312" y="1856232"/>
            <a:ext cx="2148840" cy="4114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publish</a:t>
            </a:r>
            <a:endParaRPr lang="en-US" sz="1500" dirty="0"/>
          </a:p>
        </p:txBody>
      </p:sp>
      <p:sp>
        <p:nvSpPr>
          <p:cNvPr id="22" name="Text 16"/>
          <p:cNvSpPr txBox="1"/>
          <p:nvPr/>
        </p:nvSpPr>
        <p:spPr>
          <a:xfrm>
            <a:off x="8668512" y="2468880"/>
            <a:ext cx="2743200" cy="822960"/>
          </a:xfrm>
          <a:prstGeom prst="rect">
            <a:avLst/>
          </a:prstGeom>
          <a:noFill/>
          <a:ln/>
        </p:spPr>
        <p:txBody>
          <a:bodyPr wrap="square" lIns="0" tIns="0" rIns="0" bIns="0" rtlCol="0" anchor="t"/>
          <a:lstStyle/>
          <a:p>
            <a:pPr indent="0" marL="0">
              <a:buNone/>
            </a:pPr>
            <a:r>
              <a:rPr lang="en-US" sz="1300" dirty="0">
                <a:solidFill>
                  <a:schemeClr val="accent5"/>
                </a:solidFill>
              </a:rPr>
              <a:t>main only, the one job with write access. Pushes the tested images to GHCR as :&lt;commit SHA&gt;</a:t>
            </a:r>
            <a:endParaRPr lang="en-US" sz="1300" dirty="0"/>
          </a:p>
        </p:txBody>
      </p:sp>
      <p:sp>
        <p:nvSpPr>
          <p:cNvPr id="23" name="job GitOps promotion"/>
          <p:cNvSpPr/>
          <p:nvPr/>
        </p:nvSpPr>
        <p:spPr>
          <a:xfrm>
            <a:off x="8439912" y="3703320"/>
            <a:ext cx="3200400" cy="1828800"/>
          </a:xfrm>
          <a:prstGeom prst="roundRect">
            <a:avLst>
              <a:gd name="adj" fmla="val 5000"/>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24" name="icon tile FaCodeBranch"/>
          <p:cNvSpPr/>
          <p:nvPr/>
        </p:nvSpPr>
        <p:spPr>
          <a:xfrm>
            <a:off x="8668512" y="3931920"/>
            <a:ext cx="548640" cy="548640"/>
          </a:xfrm>
          <a:prstGeom prst="roundRect">
            <a:avLst>
              <a:gd name="adj" fmla="val 20000"/>
            </a:avLst>
          </a:prstGeom>
          <a:solidFill>
            <a:schemeClr val="accent1"/>
          </a:solidFill>
          <a:ln/>
        </p:spPr>
      </p:sp>
      <p:pic>
        <p:nvPicPr>
          <p:cNvPr id="25" name="Image 4" descr="CodeBranch icon">    </p:cNvPr>
          <p:cNvPicPr>
            <a:picLocks noChangeAspect="1"/>
          </p:cNvPicPr>
          <p:nvPr/>
        </p:nvPicPr>
        <p:blipFill>
          <a:blip r:embed="rId5"/>
          <a:stretch>
            <a:fillRect/>
          </a:stretch>
        </p:blipFill>
        <p:spPr>
          <a:xfrm>
            <a:off x="8800186" y="4063594"/>
            <a:ext cx="285293" cy="285293"/>
          </a:xfrm>
          <a:prstGeom prst="rect">
            <a:avLst/>
          </a:prstGeom>
        </p:spPr>
      </p:pic>
      <p:sp>
        <p:nvSpPr>
          <p:cNvPr id="26" name="Text 19"/>
          <p:cNvSpPr txBox="1"/>
          <p:nvPr/>
        </p:nvSpPr>
        <p:spPr>
          <a:xfrm>
            <a:off x="9354312" y="4005072"/>
            <a:ext cx="2148840" cy="411480"/>
          </a:xfrm>
          <a:prstGeom prst="rect">
            <a:avLst/>
          </a:prstGeom>
          <a:noFill/>
          <a:ln/>
        </p:spPr>
        <p:txBody>
          <a:bodyPr wrap="square" lIns="0" tIns="0" rIns="0" bIns="0" rtlCol="0" anchor="t"/>
          <a:lstStyle/>
          <a:p>
            <a:pPr indent="0" marL="0">
              <a:buNone/>
            </a:pPr>
            <a:r>
              <a:rPr lang="en-US" sz="1500" b="1" dirty="0">
                <a:solidFill>
                  <a:schemeClr val="tx1"/>
                </a:solidFill>
                <a:latin typeface="Courier New" pitchFamily="34" charset="0"/>
                <a:ea typeface="Courier New" pitchFamily="34" charset="-122"/>
                <a:cs typeface="Courier New" pitchFamily="34" charset="-120"/>
              </a:rPr>
              <a:t>GitOps promotion</a:t>
            </a:r>
            <a:endParaRPr lang="en-US" sz="1500" dirty="0"/>
          </a:p>
        </p:txBody>
      </p:sp>
      <p:sp>
        <p:nvSpPr>
          <p:cNvPr id="27" name="Text 20"/>
          <p:cNvSpPr txBox="1"/>
          <p:nvPr/>
        </p:nvSpPr>
        <p:spPr>
          <a:xfrm>
            <a:off x="8668512" y="4617720"/>
            <a:ext cx="2743200" cy="822960"/>
          </a:xfrm>
          <a:prstGeom prst="rect">
            <a:avLst/>
          </a:prstGeom>
          <a:noFill/>
          <a:ln/>
        </p:spPr>
        <p:txBody>
          <a:bodyPr wrap="square" lIns="0" tIns="0" rIns="0" bIns="0" rtlCol="0" anchor="t"/>
          <a:lstStyle/>
          <a:p>
            <a:pPr indent="0" marL="0">
              <a:buNone/>
            </a:pPr>
            <a:r>
              <a:rPr lang="en-US" sz="1300" dirty="0">
                <a:solidFill>
                  <a:schemeClr val="accent5"/>
                </a:solidFill>
              </a:rPr>
              <a:t>Commits the tags to values-release.json with [skip ci]; Argo CD deploys it</a:t>
            </a:r>
            <a:endParaRPr lang="en-US" sz="1300" dirty="0"/>
          </a:p>
        </p:txBody>
      </p:sp>
      <p:sp>
        <p:nvSpPr>
          <p:cNvPr id="28" name="arrow"/>
          <p:cNvSpPr/>
          <p:nvPr/>
        </p:nvSpPr>
        <p:spPr>
          <a:xfrm>
            <a:off x="3749040" y="2468880"/>
            <a:ext cx="731520" cy="731520"/>
          </a:xfrm>
          <a:prstGeom prst="line">
            <a:avLst/>
          </a:prstGeom>
          <a:noFill/>
          <a:ln w="22225">
            <a:solidFill>
              <a:srgbClr val="4F6F64"/>
            </a:solidFill>
            <a:prstDash val="solid"/>
            <a:tailEnd type="triangle"/>
          </a:ln>
        </p:spPr>
      </p:sp>
      <p:sp>
        <p:nvSpPr>
          <p:cNvPr id="29" name="arrow"/>
          <p:cNvSpPr/>
          <p:nvPr/>
        </p:nvSpPr>
        <p:spPr>
          <a:xfrm flipV="1">
            <a:off x="3749040" y="3840480"/>
            <a:ext cx="731520" cy="777240"/>
          </a:xfrm>
          <a:prstGeom prst="line">
            <a:avLst/>
          </a:prstGeom>
          <a:noFill/>
          <a:ln w="22225">
            <a:solidFill>
              <a:srgbClr val="4F6F64"/>
            </a:solidFill>
            <a:prstDash val="solid"/>
            <a:tailEnd type="triangle"/>
          </a:ln>
        </p:spPr>
      </p:sp>
      <p:sp>
        <p:nvSpPr>
          <p:cNvPr id="30" name="arrow"/>
          <p:cNvSpPr/>
          <p:nvPr/>
        </p:nvSpPr>
        <p:spPr>
          <a:xfrm flipV="1">
            <a:off x="7680960" y="2468880"/>
            <a:ext cx="758952" cy="731520"/>
          </a:xfrm>
          <a:prstGeom prst="line">
            <a:avLst/>
          </a:prstGeom>
          <a:noFill/>
          <a:ln w="22225">
            <a:solidFill>
              <a:srgbClr val="4F6F64"/>
            </a:solidFill>
            <a:prstDash val="solid"/>
            <a:tailEnd type="triangle"/>
          </a:ln>
        </p:spPr>
      </p:sp>
      <p:sp>
        <p:nvSpPr>
          <p:cNvPr id="31" name="arrow"/>
          <p:cNvSpPr/>
          <p:nvPr/>
        </p:nvSpPr>
        <p:spPr>
          <a:xfrm>
            <a:off x="10040112" y="3383280"/>
            <a:ext cx="914" cy="320040"/>
          </a:xfrm>
          <a:prstGeom prst="line">
            <a:avLst/>
          </a:prstGeom>
          <a:noFill/>
          <a:ln w="22225">
            <a:solidFill>
              <a:srgbClr val="4F6F64"/>
            </a:solidFill>
            <a:prstDash val="solid"/>
            <a:tailEnd type="triangle"/>
          </a:ln>
        </p:spPr>
      </p:sp>
      <p:sp>
        <p:nvSpPr>
          <p:cNvPr id="32" name="Text 25"/>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dirty="0">
                <a:solidFill>
                  <a:schemeClr val="accent5"/>
                </a:solidFill>
              </a:rPr>
              <a:t>Triggered on every push to main, on capstone pull requests, and manually.  </a:t>
            </a:r>
            <a:pPr indent="0" marL="0">
              <a:buNone/>
            </a:pPr>
            <a:r>
              <a:rPr lang="en-US" sz="1400" b="1" dirty="0">
                <a:solidFill>
                  <a:schemeClr val="tx2"/>
                </a:solidFill>
              </a:rPr>
              <a:t>No continue-on-error, no latest tag, main runs never cancelled.</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DevSecOps: a real CVE, found and fixed</a:t>
            </a:r>
            <a:endParaRPr lang="en-US" sz="3600" dirty="0"/>
          </a:p>
        </p:txBody>
      </p:sp>
      <p:sp>
        <p:nvSpPr>
          <p:cNvPr id="3" name="before card"/>
          <p:cNvSpPr/>
          <p:nvPr/>
        </p:nvSpPr>
        <p:spPr>
          <a:xfrm>
            <a:off x="548640" y="1508760"/>
            <a:ext cx="3291840" cy="2194560"/>
          </a:xfrm>
          <a:prstGeom prst="roundRect">
            <a:avLst>
              <a:gd name="adj" fmla="val 4167"/>
            </a:avLst>
          </a:prstGeom>
          <a:solidFill>
            <a:srgbClr val="F9E7E3"/>
          </a:solidFill>
          <a:ln/>
        </p:spPr>
      </p:sp>
      <p:sp>
        <p:nvSpPr>
          <p:cNvPr id="4" name="Text 2"/>
          <p:cNvSpPr txBox="1"/>
          <p:nvPr/>
        </p:nvSpPr>
        <p:spPr>
          <a:xfrm>
            <a:off x="822960" y="1645920"/>
            <a:ext cx="2743200" cy="1005840"/>
          </a:xfrm>
          <a:prstGeom prst="rect">
            <a:avLst/>
          </a:prstGeom>
          <a:noFill/>
          <a:ln/>
        </p:spPr>
        <p:txBody>
          <a:bodyPr wrap="square" lIns="0" tIns="0" rIns="0" bIns="0" rtlCol="0" anchor="t"/>
          <a:lstStyle/>
          <a:p>
            <a:pPr indent="0" marL="0">
              <a:buNone/>
            </a:pPr>
            <a:r>
              <a:rPr lang="en-US" sz="6600" b="1" dirty="0">
                <a:solidFill>
                  <a:schemeClr val="accent4"/>
                </a:solidFill>
                <a:latin typeface="Cambria" pitchFamily="34" charset="0"/>
                <a:ea typeface="Cambria" pitchFamily="34" charset="-122"/>
                <a:cs typeface="Cambria" pitchFamily="34" charset="-120"/>
              </a:rPr>
              <a:t>48</a:t>
            </a:r>
            <a:endParaRPr lang="en-US" sz="6600" dirty="0"/>
          </a:p>
        </p:txBody>
      </p:sp>
      <p:sp>
        <p:nvSpPr>
          <p:cNvPr id="5" name="Text 3"/>
          <p:cNvSpPr txBox="1"/>
          <p:nvPr/>
        </p:nvSpPr>
        <p:spPr>
          <a:xfrm>
            <a:off x="822960" y="2697480"/>
            <a:ext cx="2743200" cy="822960"/>
          </a:xfrm>
          <a:prstGeom prst="rect">
            <a:avLst/>
          </a:prstGeom>
          <a:noFill/>
          <a:ln/>
        </p:spPr>
        <p:txBody>
          <a:bodyPr wrap="square" lIns="0" tIns="0" rIns="0" bIns="0" rtlCol="0" anchor="t"/>
          <a:lstStyle/>
          <a:p>
            <a:pPr indent="0" marL="0">
              <a:buNone/>
            </a:pPr>
            <a:r>
              <a:rPr lang="en-US" sz="1400" dirty="0">
                <a:solidFill>
                  <a:schemeClr val="tx1"/>
                </a:solidFill>
              </a:rPr>
              <a:t>findings on the first Debian-based backend image</a:t>
            </a:r>
            <a:endParaRPr lang="en-US" sz="1400" dirty="0"/>
          </a:p>
        </p:txBody>
      </p:sp>
      <p:sp>
        <p:nvSpPr>
          <p:cNvPr id="6" name="arrow"/>
          <p:cNvSpPr/>
          <p:nvPr/>
        </p:nvSpPr>
        <p:spPr>
          <a:xfrm>
            <a:off x="3931920" y="2606040"/>
            <a:ext cx="548640" cy="914"/>
          </a:xfrm>
          <a:prstGeom prst="line">
            <a:avLst/>
          </a:prstGeom>
          <a:noFill/>
          <a:ln w="22225">
            <a:solidFill>
              <a:srgbClr val="2E8B6A"/>
            </a:solidFill>
            <a:prstDash val="solid"/>
            <a:tailEnd type="triangle"/>
          </a:ln>
        </p:spPr>
      </p:sp>
      <p:sp>
        <p:nvSpPr>
          <p:cNvPr id="7" name="after card"/>
          <p:cNvSpPr/>
          <p:nvPr/>
        </p:nvSpPr>
        <p:spPr>
          <a:xfrm>
            <a:off x="4572000" y="1508760"/>
            <a:ext cx="3291840" cy="2194560"/>
          </a:xfrm>
          <a:prstGeom prst="roundRect">
            <a:avLst>
              <a:gd name="adj" fmla="val 4167"/>
            </a:avLst>
          </a:prstGeom>
          <a:solidFill>
            <a:srgbClr val="E3F1EA"/>
          </a:solidFill>
          <a:ln/>
        </p:spPr>
      </p:sp>
      <p:sp>
        <p:nvSpPr>
          <p:cNvPr id="8" name="Text 6"/>
          <p:cNvSpPr txBox="1"/>
          <p:nvPr/>
        </p:nvSpPr>
        <p:spPr>
          <a:xfrm>
            <a:off x="4846320" y="1645920"/>
            <a:ext cx="2743200" cy="1005840"/>
          </a:xfrm>
          <a:prstGeom prst="rect">
            <a:avLst/>
          </a:prstGeom>
          <a:noFill/>
          <a:ln/>
        </p:spPr>
        <p:txBody>
          <a:bodyPr wrap="square" lIns="0" tIns="0" rIns="0" bIns="0" rtlCol="0" anchor="t"/>
          <a:lstStyle/>
          <a:p>
            <a:pPr indent="0" marL="0">
              <a:buNone/>
            </a:pPr>
            <a:r>
              <a:rPr lang="en-US" sz="6600" b="1" dirty="0">
                <a:solidFill>
                  <a:schemeClr val="accent1"/>
                </a:solidFill>
                <a:latin typeface="Cambria" pitchFamily="34" charset="0"/>
                <a:ea typeface="Cambria" pitchFamily="34" charset="-122"/>
                <a:cs typeface="Cambria" pitchFamily="34" charset="-120"/>
              </a:rPr>
              <a:t>0</a:t>
            </a:r>
            <a:endParaRPr lang="en-US" sz="6600" dirty="0"/>
          </a:p>
        </p:txBody>
      </p:sp>
      <p:sp>
        <p:nvSpPr>
          <p:cNvPr id="9" name="Text 7"/>
          <p:cNvSpPr txBox="1"/>
          <p:nvPr/>
        </p:nvSpPr>
        <p:spPr>
          <a:xfrm>
            <a:off x="4846320" y="2697480"/>
            <a:ext cx="2743200" cy="822960"/>
          </a:xfrm>
          <a:prstGeom prst="rect">
            <a:avLst/>
          </a:prstGeom>
          <a:noFill/>
          <a:ln/>
        </p:spPr>
        <p:txBody>
          <a:bodyPr wrap="square" lIns="0" tIns="0" rIns="0" bIns="0" rtlCol="0" anchor="t"/>
          <a:lstStyle/>
          <a:p>
            <a:pPr indent="0" marL="0">
              <a:buNone/>
            </a:pPr>
            <a:r>
              <a:rPr lang="en-US" sz="1400" dirty="0">
                <a:solidFill>
                  <a:schemeClr val="tx1"/>
                </a:solidFill>
              </a:rPr>
              <a:t>HIGH/CRITICAL on both published images today</a:t>
            </a:r>
            <a:endParaRPr lang="en-US" sz="1400" dirty="0"/>
          </a:p>
        </p:txBody>
      </p:sp>
      <p:sp>
        <p:nvSpPr>
          <p:cNvPr id="10" name="Text 8"/>
          <p:cNvSpPr txBox="1"/>
          <p:nvPr/>
        </p:nvSpPr>
        <p:spPr>
          <a:xfrm>
            <a:off x="548640" y="3977640"/>
            <a:ext cx="7315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CVE-2025-47273 (HIGH)</a:t>
            </a:r>
            <a:endParaRPr lang="en-US" sz="1800" dirty="0"/>
          </a:p>
        </p:txBody>
      </p:sp>
      <p:sp>
        <p:nvSpPr>
          <p:cNvPr id="11" name="Text 9"/>
          <p:cNvSpPr txBox="1"/>
          <p:nvPr/>
        </p:nvSpPr>
        <p:spPr>
          <a:xfrm>
            <a:off x="548640" y="4389120"/>
            <a:ext cx="7315200" cy="1280160"/>
          </a:xfrm>
          <a:prstGeom prst="rect">
            <a:avLst/>
          </a:prstGeom>
          <a:noFill/>
          <a:ln/>
        </p:spPr>
        <p:txBody>
          <a:bodyPr wrap="square" lIns="0" tIns="0" rIns="0" bIns="0" rtlCol="0" anchor="t"/>
          <a:lstStyle/>
          <a:p>
            <a:pPr indent="0" marL="0">
              <a:buNone/>
            </a:pPr>
            <a:r>
              <a:rPr lang="en-US" sz="1400" dirty="0">
                <a:solidFill>
                  <a:schemeClr val="accent5"/>
                </a:solidFill>
              </a:rPr>
              <a:t>A path-traversal flaw in old setuptools' package-index code: a crafted package name could write files outside the intended directory. Fix: rebuild on patched Alpine and remove pip/setuptools after installing dependencies, because the running service never installs packages.</a:t>
            </a:r>
            <a:endParaRPr lang="en-US" sz="1400" dirty="0"/>
          </a:p>
        </p:txBody>
      </p:sp>
      <p:sp>
        <p:nvSpPr>
          <p:cNvPr id="12" name="Text 10"/>
          <p:cNvSpPr txBox="1"/>
          <p:nvPr/>
        </p:nvSpPr>
        <p:spPr>
          <a:xfrm>
            <a:off x="548640" y="5715000"/>
            <a:ext cx="7315200" cy="457200"/>
          </a:xfrm>
          <a:prstGeom prst="rect">
            <a:avLst/>
          </a:prstGeom>
          <a:noFill/>
          <a:ln/>
        </p:spPr>
        <p:txBody>
          <a:bodyPr wrap="square" lIns="0" tIns="0" rIns="0" bIns="0" rtlCol="0" anchor="t"/>
          <a:lstStyle/>
          <a:p>
            <a:pPr indent="0" marL="0">
              <a:buNone/>
            </a:pPr>
            <a:r>
              <a:rPr lang="en-US" sz="1300" i="1" dirty="0">
                <a:solidFill>
                  <a:schemeClr val="tx2"/>
                </a:solidFill>
              </a:rPr>
              <a:t>A clean scan means no known HIGH/CRITICAL CVE at scan time, not proof the app is secure. That is why every build rescans.</a:t>
            </a:r>
            <a:endParaRPr lang="en-US" sz="1300" dirty="0"/>
          </a:p>
        </p:txBody>
      </p:sp>
      <p:sp>
        <p:nvSpPr>
          <p:cNvPr id="13" name="icon tile FaCode"/>
          <p:cNvSpPr/>
          <p:nvPr/>
        </p:nvSpPr>
        <p:spPr>
          <a:xfrm>
            <a:off x="8458200" y="1508760"/>
            <a:ext cx="594360" cy="594360"/>
          </a:xfrm>
          <a:prstGeom prst="roundRect">
            <a:avLst>
              <a:gd name="adj" fmla="val 18462"/>
            </a:avLst>
          </a:prstGeom>
          <a:solidFill>
            <a:schemeClr val="tx2"/>
          </a:solidFill>
          <a:ln/>
        </p:spPr>
      </p:sp>
      <p:pic>
        <p:nvPicPr>
          <p:cNvPr id="14" name="Image 0" descr="Code icon">    </p:cNvPr>
          <p:cNvPicPr>
            <a:picLocks noChangeAspect="1"/>
          </p:cNvPicPr>
          <p:nvPr/>
        </p:nvPicPr>
        <p:blipFill>
          <a:blip r:embed="rId1"/>
          <a:stretch>
            <a:fillRect/>
          </a:stretch>
        </p:blipFill>
        <p:spPr>
          <a:xfrm>
            <a:off x="8600846" y="1651406"/>
            <a:ext cx="309067" cy="309067"/>
          </a:xfrm>
          <a:prstGeom prst="rect">
            <a:avLst/>
          </a:prstGeom>
        </p:spPr>
      </p:pic>
      <p:sp>
        <p:nvSpPr>
          <p:cNvPr id="15" name="Text 12"/>
          <p:cNvSpPr txBox="1"/>
          <p:nvPr/>
        </p:nvSpPr>
        <p:spPr>
          <a:xfrm>
            <a:off x="9235440" y="15270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SAST</a:t>
            </a:r>
            <a:endParaRPr lang="en-US" sz="1500" dirty="0"/>
          </a:p>
        </p:txBody>
      </p:sp>
      <p:sp>
        <p:nvSpPr>
          <p:cNvPr id="16" name="Text 13"/>
          <p:cNvSpPr txBox="1"/>
          <p:nvPr/>
        </p:nvSpPr>
        <p:spPr>
          <a:xfrm>
            <a:off x="9235440" y="1810512"/>
            <a:ext cx="2377440" cy="274320"/>
          </a:xfrm>
          <a:prstGeom prst="rect">
            <a:avLst/>
          </a:prstGeom>
          <a:noFill/>
          <a:ln/>
        </p:spPr>
        <p:txBody>
          <a:bodyPr wrap="square" lIns="0" tIns="0" rIns="0" bIns="0" rtlCol="0" anchor="t"/>
          <a:lstStyle/>
          <a:p>
            <a:pPr indent="0" marL="0">
              <a:buNone/>
            </a:pPr>
            <a:r>
              <a:rPr lang="en-US" sz="1300" dirty="0">
                <a:solidFill>
                  <a:schemeClr val="accent5"/>
                </a:solidFill>
              </a:rPr>
              <a:t>Bandit</a:t>
            </a:r>
            <a:endParaRPr lang="en-US" sz="1300" dirty="0"/>
          </a:p>
        </p:txBody>
      </p:sp>
      <p:sp>
        <p:nvSpPr>
          <p:cNvPr id="17" name="icon tile FaCubes"/>
          <p:cNvSpPr/>
          <p:nvPr/>
        </p:nvSpPr>
        <p:spPr>
          <a:xfrm>
            <a:off x="8458200" y="2423160"/>
            <a:ext cx="594360" cy="594360"/>
          </a:xfrm>
          <a:prstGeom prst="roundRect">
            <a:avLst>
              <a:gd name="adj" fmla="val 18462"/>
            </a:avLst>
          </a:prstGeom>
          <a:solidFill>
            <a:schemeClr val="tx2"/>
          </a:solidFill>
          <a:ln/>
        </p:spPr>
      </p:sp>
      <p:pic>
        <p:nvPicPr>
          <p:cNvPr id="18" name="Image 1" descr="Cubes icon">    </p:cNvPr>
          <p:cNvPicPr>
            <a:picLocks noChangeAspect="1"/>
          </p:cNvPicPr>
          <p:nvPr/>
        </p:nvPicPr>
        <p:blipFill>
          <a:blip r:embed="rId2"/>
          <a:stretch>
            <a:fillRect/>
          </a:stretch>
        </p:blipFill>
        <p:spPr>
          <a:xfrm>
            <a:off x="8600846" y="2565806"/>
            <a:ext cx="309067" cy="309067"/>
          </a:xfrm>
          <a:prstGeom prst="rect">
            <a:avLst/>
          </a:prstGeom>
        </p:spPr>
      </p:pic>
      <p:sp>
        <p:nvSpPr>
          <p:cNvPr id="19" name="Text 15"/>
          <p:cNvSpPr txBox="1"/>
          <p:nvPr/>
        </p:nvSpPr>
        <p:spPr>
          <a:xfrm>
            <a:off x="9235440" y="24414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Dependencies</a:t>
            </a:r>
            <a:endParaRPr lang="en-US" sz="1500" dirty="0"/>
          </a:p>
        </p:txBody>
      </p:sp>
      <p:sp>
        <p:nvSpPr>
          <p:cNvPr id="20" name="Text 16"/>
          <p:cNvSpPr txBox="1"/>
          <p:nvPr/>
        </p:nvSpPr>
        <p:spPr>
          <a:xfrm>
            <a:off x="9235440" y="2724912"/>
            <a:ext cx="2377440" cy="274320"/>
          </a:xfrm>
          <a:prstGeom prst="rect">
            <a:avLst/>
          </a:prstGeom>
          <a:noFill/>
          <a:ln/>
        </p:spPr>
        <p:txBody>
          <a:bodyPr wrap="square" lIns="0" tIns="0" rIns="0" bIns="0" rtlCol="0" anchor="t"/>
          <a:lstStyle/>
          <a:p>
            <a:pPr indent="0" marL="0">
              <a:buNone/>
            </a:pPr>
            <a:r>
              <a:rPr lang="en-US" sz="1300" dirty="0">
                <a:solidFill>
                  <a:schemeClr val="accent5"/>
                </a:solidFill>
              </a:rPr>
              <a:t>pip-audit, npm audit</a:t>
            </a:r>
            <a:endParaRPr lang="en-US" sz="1300" dirty="0"/>
          </a:p>
        </p:txBody>
      </p:sp>
      <p:sp>
        <p:nvSpPr>
          <p:cNvPr id="21" name="icon tile FaKey"/>
          <p:cNvSpPr/>
          <p:nvPr/>
        </p:nvSpPr>
        <p:spPr>
          <a:xfrm>
            <a:off x="8458200" y="3337560"/>
            <a:ext cx="594360" cy="594360"/>
          </a:xfrm>
          <a:prstGeom prst="roundRect">
            <a:avLst>
              <a:gd name="adj" fmla="val 18462"/>
            </a:avLst>
          </a:prstGeom>
          <a:solidFill>
            <a:schemeClr val="tx2"/>
          </a:solidFill>
          <a:ln/>
        </p:spPr>
      </p:sp>
      <p:pic>
        <p:nvPicPr>
          <p:cNvPr id="22" name="Image 2" descr="Key icon">    </p:cNvPr>
          <p:cNvPicPr>
            <a:picLocks noChangeAspect="1"/>
          </p:cNvPicPr>
          <p:nvPr/>
        </p:nvPicPr>
        <p:blipFill>
          <a:blip r:embed="rId3"/>
          <a:stretch>
            <a:fillRect/>
          </a:stretch>
        </p:blipFill>
        <p:spPr>
          <a:xfrm>
            <a:off x="8600846" y="3480206"/>
            <a:ext cx="309067" cy="309067"/>
          </a:xfrm>
          <a:prstGeom prst="rect">
            <a:avLst/>
          </a:prstGeom>
        </p:spPr>
      </p:pic>
      <p:sp>
        <p:nvSpPr>
          <p:cNvPr id="23" name="Text 18"/>
          <p:cNvSpPr txBox="1"/>
          <p:nvPr/>
        </p:nvSpPr>
        <p:spPr>
          <a:xfrm>
            <a:off x="9235440" y="33558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Secrets</a:t>
            </a:r>
            <a:endParaRPr lang="en-US" sz="1500" dirty="0"/>
          </a:p>
        </p:txBody>
      </p:sp>
      <p:sp>
        <p:nvSpPr>
          <p:cNvPr id="24" name="Text 19"/>
          <p:cNvSpPr txBox="1"/>
          <p:nvPr/>
        </p:nvSpPr>
        <p:spPr>
          <a:xfrm>
            <a:off x="9235440" y="3639312"/>
            <a:ext cx="2377440" cy="274320"/>
          </a:xfrm>
          <a:prstGeom prst="rect">
            <a:avLst/>
          </a:prstGeom>
          <a:noFill/>
          <a:ln/>
        </p:spPr>
        <p:txBody>
          <a:bodyPr wrap="square" lIns="0" tIns="0" rIns="0" bIns="0" rtlCol="0" anchor="t"/>
          <a:lstStyle/>
          <a:p>
            <a:pPr indent="0" marL="0">
              <a:buNone/>
            </a:pPr>
            <a:r>
              <a:rPr lang="en-US" sz="1300" dirty="0">
                <a:solidFill>
                  <a:schemeClr val="accent5"/>
                </a:solidFill>
              </a:rPr>
              <a:t>Gitleaks</a:t>
            </a:r>
            <a:endParaRPr lang="en-US" sz="1300" dirty="0"/>
          </a:p>
        </p:txBody>
      </p:sp>
      <p:sp>
        <p:nvSpPr>
          <p:cNvPr id="25" name="icon tile FaShieldHalved"/>
          <p:cNvSpPr/>
          <p:nvPr/>
        </p:nvSpPr>
        <p:spPr>
          <a:xfrm>
            <a:off x="8458200" y="4251960"/>
            <a:ext cx="594360" cy="594360"/>
          </a:xfrm>
          <a:prstGeom prst="roundRect">
            <a:avLst>
              <a:gd name="adj" fmla="val 18462"/>
            </a:avLst>
          </a:prstGeom>
          <a:solidFill>
            <a:schemeClr val="accent2"/>
          </a:solidFill>
          <a:ln/>
        </p:spPr>
      </p:sp>
      <p:pic>
        <p:nvPicPr>
          <p:cNvPr id="26" name="Image 3" descr="ShieldHalved icon">    </p:cNvPr>
          <p:cNvPicPr>
            <a:picLocks noChangeAspect="1"/>
          </p:cNvPicPr>
          <p:nvPr/>
        </p:nvPicPr>
        <p:blipFill>
          <a:blip r:embed="rId4"/>
          <a:stretch>
            <a:fillRect/>
          </a:stretch>
        </p:blipFill>
        <p:spPr>
          <a:xfrm>
            <a:off x="8600846" y="4394606"/>
            <a:ext cx="309067" cy="309067"/>
          </a:xfrm>
          <a:prstGeom prst="rect">
            <a:avLst/>
          </a:prstGeom>
        </p:spPr>
      </p:pic>
      <p:sp>
        <p:nvSpPr>
          <p:cNvPr id="27" name="Text 21"/>
          <p:cNvSpPr txBox="1"/>
          <p:nvPr/>
        </p:nvSpPr>
        <p:spPr>
          <a:xfrm>
            <a:off x="9235440" y="42702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Containers</a:t>
            </a:r>
            <a:endParaRPr lang="en-US" sz="1500" dirty="0"/>
          </a:p>
        </p:txBody>
      </p:sp>
      <p:sp>
        <p:nvSpPr>
          <p:cNvPr id="28" name="Text 22"/>
          <p:cNvSpPr txBox="1"/>
          <p:nvPr/>
        </p:nvSpPr>
        <p:spPr>
          <a:xfrm>
            <a:off x="9235440" y="4553712"/>
            <a:ext cx="2377440" cy="274320"/>
          </a:xfrm>
          <a:prstGeom prst="rect">
            <a:avLst/>
          </a:prstGeom>
          <a:noFill/>
          <a:ln/>
        </p:spPr>
        <p:txBody>
          <a:bodyPr wrap="square" lIns="0" tIns="0" rIns="0" bIns="0" rtlCol="0" anchor="t"/>
          <a:lstStyle/>
          <a:p>
            <a:pPr indent="0" marL="0">
              <a:buNone/>
            </a:pPr>
            <a:r>
              <a:rPr lang="en-US" sz="1300" dirty="0">
                <a:solidFill>
                  <a:schemeClr val="accent5"/>
                </a:solidFill>
              </a:rPr>
              <a:t>Trivy, exit-code 1</a:t>
            </a:r>
            <a:endParaRPr lang="en-US" sz="1300" dirty="0"/>
          </a:p>
        </p:txBody>
      </p:sp>
      <p:sp>
        <p:nvSpPr>
          <p:cNvPr id="29" name="icon tile FaUserLock"/>
          <p:cNvSpPr/>
          <p:nvPr/>
        </p:nvSpPr>
        <p:spPr>
          <a:xfrm>
            <a:off x="8458200" y="5166360"/>
            <a:ext cx="594360" cy="594360"/>
          </a:xfrm>
          <a:prstGeom prst="roundRect">
            <a:avLst>
              <a:gd name="adj" fmla="val 18462"/>
            </a:avLst>
          </a:prstGeom>
          <a:solidFill>
            <a:schemeClr val="tx2"/>
          </a:solidFill>
          <a:ln/>
        </p:spPr>
      </p:sp>
      <p:pic>
        <p:nvPicPr>
          <p:cNvPr id="30" name="Image 4" descr="UserLock icon">    </p:cNvPr>
          <p:cNvPicPr>
            <a:picLocks noChangeAspect="1"/>
          </p:cNvPicPr>
          <p:nvPr/>
        </p:nvPicPr>
        <p:blipFill>
          <a:blip r:embed="rId5"/>
          <a:stretch>
            <a:fillRect/>
          </a:stretch>
        </p:blipFill>
        <p:spPr>
          <a:xfrm>
            <a:off x="8600846" y="5309006"/>
            <a:ext cx="309067" cy="309067"/>
          </a:xfrm>
          <a:prstGeom prst="rect">
            <a:avLst/>
          </a:prstGeom>
        </p:spPr>
      </p:pic>
      <p:sp>
        <p:nvSpPr>
          <p:cNvPr id="31" name="Text 24"/>
          <p:cNvSpPr txBox="1"/>
          <p:nvPr/>
        </p:nvSpPr>
        <p:spPr>
          <a:xfrm>
            <a:off x="9235440" y="5184648"/>
            <a:ext cx="2377440" cy="274320"/>
          </a:xfrm>
          <a:prstGeom prst="rect">
            <a:avLst/>
          </a:prstGeom>
          <a:noFill/>
          <a:ln/>
        </p:spPr>
        <p:txBody>
          <a:bodyPr wrap="square" lIns="0" tIns="0" rIns="0" bIns="0" rtlCol="0" anchor="t"/>
          <a:lstStyle/>
          <a:p>
            <a:pPr indent="0" marL="0">
              <a:buNone/>
            </a:pPr>
            <a:r>
              <a:rPr lang="en-US" sz="1500" b="1" dirty="0">
                <a:solidFill>
                  <a:schemeClr val="tx1"/>
                </a:solidFill>
              </a:rPr>
              <a:t>Runtime</a:t>
            </a:r>
            <a:endParaRPr lang="en-US" sz="1500" dirty="0"/>
          </a:p>
        </p:txBody>
      </p:sp>
      <p:sp>
        <p:nvSpPr>
          <p:cNvPr id="32" name="Text 25"/>
          <p:cNvSpPr txBox="1"/>
          <p:nvPr/>
        </p:nvSpPr>
        <p:spPr>
          <a:xfrm>
            <a:off x="9235440" y="5468112"/>
            <a:ext cx="2377440" cy="274320"/>
          </a:xfrm>
          <a:prstGeom prst="rect">
            <a:avLst/>
          </a:prstGeom>
          <a:noFill/>
          <a:ln/>
        </p:spPr>
        <p:txBody>
          <a:bodyPr wrap="square" lIns="0" tIns="0" rIns="0" bIns="0" rtlCol="0" anchor="t"/>
          <a:lstStyle/>
          <a:p>
            <a:pPr indent="0" marL="0">
              <a:buNone/>
            </a:pPr>
            <a:r>
              <a:rPr lang="en-US" sz="1300" dirty="0">
                <a:solidFill>
                  <a:schemeClr val="accent5"/>
                </a:solidFill>
              </a:rPr>
              <a:t>non-root, seccomp</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Kubernetes + Helm: what the chart creates</a:t>
            </a:r>
            <a:endParaRPr lang="en-US" sz="3600" dirty="0"/>
          </a:p>
        </p:txBody>
      </p:sp>
      <p:sp>
        <p:nvSpPr>
          <p:cNvPr id="3" name="k8s Traefik Ingress"/>
          <p:cNvSpPr/>
          <p:nvPr/>
        </p:nvSpPr>
        <p:spPr>
          <a:xfrm>
            <a:off x="548640" y="1554480"/>
            <a:ext cx="2743200" cy="914400"/>
          </a:xfrm>
          <a:prstGeom prst="roundRect">
            <a:avLst>
              <a:gd name="adj" fmla="val 10000"/>
            </a:avLst>
          </a:prstGeom>
          <a:solidFill>
            <a:schemeClr val="bg2"/>
          </a:solidFill>
          <a:ln/>
        </p:spPr>
      </p:sp>
      <p:sp>
        <p:nvSpPr>
          <p:cNvPr id="4" name="icon tile FaRoute"/>
          <p:cNvSpPr/>
          <p:nvPr/>
        </p:nvSpPr>
        <p:spPr>
          <a:xfrm>
            <a:off x="713232" y="1737360"/>
            <a:ext cx="548640" cy="548640"/>
          </a:xfrm>
          <a:prstGeom prst="roundRect">
            <a:avLst>
              <a:gd name="adj" fmla="val 20000"/>
            </a:avLst>
          </a:prstGeom>
          <a:solidFill>
            <a:schemeClr val="accent1"/>
          </a:solidFill>
          <a:ln/>
        </p:spPr>
      </p:sp>
      <p:pic>
        <p:nvPicPr>
          <p:cNvPr id="5" name="Image 0" descr="Route icon">    </p:cNvPr>
          <p:cNvPicPr>
            <a:picLocks noChangeAspect="1"/>
          </p:cNvPicPr>
          <p:nvPr/>
        </p:nvPicPr>
        <p:blipFill>
          <a:blip r:embed="rId1"/>
          <a:stretch>
            <a:fillRect/>
          </a:stretch>
        </p:blipFill>
        <p:spPr>
          <a:xfrm>
            <a:off x="844906" y="1869034"/>
            <a:ext cx="285293" cy="285293"/>
          </a:xfrm>
          <a:prstGeom prst="rect">
            <a:avLst/>
          </a:prstGeom>
        </p:spPr>
      </p:pic>
      <p:sp>
        <p:nvSpPr>
          <p:cNvPr id="6" name="Text 3"/>
          <p:cNvSpPr txBox="1"/>
          <p:nvPr/>
        </p:nvSpPr>
        <p:spPr>
          <a:xfrm>
            <a:off x="1417320" y="1700784"/>
            <a:ext cx="1783080" cy="292608"/>
          </a:xfrm>
          <a:prstGeom prst="rect">
            <a:avLst/>
          </a:prstGeom>
          <a:noFill/>
          <a:ln/>
        </p:spPr>
        <p:txBody>
          <a:bodyPr wrap="square" lIns="0" tIns="0" rIns="0" bIns="0" rtlCol="0" anchor="t"/>
          <a:lstStyle/>
          <a:p>
            <a:pPr indent="0" marL="0">
              <a:buNone/>
            </a:pPr>
            <a:r>
              <a:rPr lang="en-US" sz="1400" b="1" dirty="0">
                <a:solidFill>
                  <a:schemeClr val="tx1"/>
                </a:solidFill>
              </a:rPr>
              <a:t>Traefik Ingress</a:t>
            </a:r>
            <a:endParaRPr lang="en-US" sz="1400" dirty="0"/>
          </a:p>
        </p:txBody>
      </p:sp>
      <p:sp>
        <p:nvSpPr>
          <p:cNvPr id="7" name="Text 4"/>
          <p:cNvSpPr txBox="1"/>
          <p:nvPr/>
        </p:nvSpPr>
        <p:spPr>
          <a:xfrm>
            <a:off x="1417320" y="2011680"/>
            <a:ext cx="1783080" cy="365760"/>
          </a:xfrm>
          <a:prstGeom prst="rect">
            <a:avLst/>
          </a:prstGeom>
          <a:noFill/>
          <a:ln/>
        </p:spPr>
        <p:txBody>
          <a:bodyPr wrap="square" lIns="0" tIns="0" rIns="0" bIns="0" rtlCol="0" anchor="t"/>
          <a:lstStyle/>
          <a:p>
            <a:pPr indent="0" marL="0">
              <a:buNone/>
            </a:pPr>
            <a:r>
              <a:rPr lang="en-US" sz="1200" dirty="0">
                <a:solidFill>
                  <a:schemeClr val="accent5"/>
                </a:solidFill>
              </a:rPr>
              <a:t>campusdesk.localhost</a:t>
            </a:r>
            <a:endParaRPr lang="en-US" sz="1200" dirty="0"/>
          </a:p>
        </p:txBody>
      </p:sp>
      <p:sp>
        <p:nvSpPr>
          <p:cNvPr id="8" name="k8s frontend x2"/>
          <p:cNvSpPr/>
          <p:nvPr/>
        </p:nvSpPr>
        <p:spPr>
          <a:xfrm>
            <a:off x="3657600" y="1554480"/>
            <a:ext cx="2834640" cy="914400"/>
          </a:xfrm>
          <a:prstGeom prst="roundRect">
            <a:avLst>
              <a:gd name="adj" fmla="val 10000"/>
            </a:avLst>
          </a:prstGeom>
          <a:solidFill>
            <a:schemeClr val="bg2"/>
          </a:solidFill>
          <a:ln/>
        </p:spPr>
      </p:sp>
      <p:sp>
        <p:nvSpPr>
          <p:cNvPr id="9" name="icon tile FaReact"/>
          <p:cNvSpPr/>
          <p:nvPr/>
        </p:nvSpPr>
        <p:spPr>
          <a:xfrm>
            <a:off x="3822192" y="1737360"/>
            <a:ext cx="548640" cy="548640"/>
          </a:xfrm>
          <a:prstGeom prst="roundRect">
            <a:avLst>
              <a:gd name="adj" fmla="val 20000"/>
            </a:avLst>
          </a:prstGeom>
          <a:solidFill>
            <a:schemeClr val="accent1"/>
          </a:solidFill>
          <a:ln/>
        </p:spPr>
      </p:sp>
      <p:pic>
        <p:nvPicPr>
          <p:cNvPr id="10" name="Image 1" descr="React icon">    </p:cNvPr>
          <p:cNvPicPr>
            <a:picLocks noChangeAspect="1"/>
          </p:cNvPicPr>
          <p:nvPr/>
        </p:nvPicPr>
        <p:blipFill>
          <a:blip r:embed="rId2"/>
          <a:stretch>
            <a:fillRect/>
          </a:stretch>
        </p:blipFill>
        <p:spPr>
          <a:xfrm>
            <a:off x="3953866" y="1869034"/>
            <a:ext cx="285293" cy="285293"/>
          </a:xfrm>
          <a:prstGeom prst="rect">
            <a:avLst/>
          </a:prstGeom>
        </p:spPr>
      </p:pic>
      <p:sp>
        <p:nvSpPr>
          <p:cNvPr id="11" name="Text 7"/>
          <p:cNvSpPr txBox="1"/>
          <p:nvPr/>
        </p:nvSpPr>
        <p:spPr>
          <a:xfrm>
            <a:off x="4526280" y="1700784"/>
            <a:ext cx="1874520" cy="292608"/>
          </a:xfrm>
          <a:prstGeom prst="rect">
            <a:avLst/>
          </a:prstGeom>
          <a:noFill/>
          <a:ln/>
        </p:spPr>
        <p:txBody>
          <a:bodyPr wrap="square" lIns="0" tIns="0" rIns="0" bIns="0" rtlCol="0" anchor="t"/>
          <a:lstStyle/>
          <a:p>
            <a:pPr indent="0" marL="0">
              <a:buNone/>
            </a:pPr>
            <a:r>
              <a:rPr lang="en-US" sz="1400" b="1" dirty="0">
                <a:solidFill>
                  <a:schemeClr val="tx1"/>
                </a:solidFill>
              </a:rPr>
              <a:t>frontend x2</a:t>
            </a:r>
            <a:endParaRPr lang="en-US" sz="1400" dirty="0"/>
          </a:p>
        </p:txBody>
      </p:sp>
      <p:sp>
        <p:nvSpPr>
          <p:cNvPr id="12" name="Text 8"/>
          <p:cNvSpPr txBox="1"/>
          <p:nvPr/>
        </p:nvSpPr>
        <p:spPr>
          <a:xfrm>
            <a:off x="4526280" y="2011680"/>
            <a:ext cx="1874520" cy="365760"/>
          </a:xfrm>
          <a:prstGeom prst="rect">
            <a:avLst/>
          </a:prstGeom>
          <a:noFill/>
          <a:ln/>
        </p:spPr>
        <p:txBody>
          <a:bodyPr wrap="square" lIns="0" tIns="0" rIns="0" bIns="0" rtlCol="0" anchor="t"/>
          <a:lstStyle/>
          <a:p>
            <a:pPr indent="0" marL="0">
              <a:buNone/>
            </a:pPr>
            <a:r>
              <a:rPr lang="en-US" sz="1200" dirty="0">
                <a:solidFill>
                  <a:schemeClr val="accent5"/>
                </a:solidFill>
              </a:rPr>
              <a:t>Deployment + ClusterIP</a:t>
            </a:r>
            <a:endParaRPr lang="en-US" sz="1200" dirty="0"/>
          </a:p>
        </p:txBody>
      </p:sp>
      <p:sp>
        <p:nvSpPr>
          <p:cNvPr id="13" name="k8s backend x2 to 4"/>
          <p:cNvSpPr/>
          <p:nvPr/>
        </p:nvSpPr>
        <p:spPr>
          <a:xfrm>
            <a:off x="3657600" y="2743200"/>
            <a:ext cx="2834640" cy="914400"/>
          </a:xfrm>
          <a:prstGeom prst="roundRect">
            <a:avLst>
              <a:gd name="adj" fmla="val 10000"/>
            </a:avLst>
          </a:prstGeom>
          <a:solidFill>
            <a:schemeClr val="bg2"/>
          </a:solidFill>
          <a:ln/>
        </p:spPr>
      </p:sp>
      <p:sp>
        <p:nvSpPr>
          <p:cNvPr id="14" name="icon tile FaPython"/>
          <p:cNvSpPr/>
          <p:nvPr/>
        </p:nvSpPr>
        <p:spPr>
          <a:xfrm>
            <a:off x="3822192" y="2926080"/>
            <a:ext cx="548640" cy="548640"/>
          </a:xfrm>
          <a:prstGeom prst="roundRect">
            <a:avLst>
              <a:gd name="adj" fmla="val 20000"/>
            </a:avLst>
          </a:prstGeom>
          <a:solidFill>
            <a:schemeClr val="accent1"/>
          </a:solidFill>
          <a:ln/>
        </p:spPr>
      </p:sp>
      <p:pic>
        <p:nvPicPr>
          <p:cNvPr id="15" name="Image 2" descr="Python icon">    </p:cNvPr>
          <p:cNvPicPr>
            <a:picLocks noChangeAspect="1"/>
          </p:cNvPicPr>
          <p:nvPr/>
        </p:nvPicPr>
        <p:blipFill>
          <a:blip r:embed="rId3"/>
          <a:stretch>
            <a:fillRect/>
          </a:stretch>
        </p:blipFill>
        <p:spPr>
          <a:xfrm>
            <a:off x="3953866" y="3057754"/>
            <a:ext cx="285293" cy="285293"/>
          </a:xfrm>
          <a:prstGeom prst="rect">
            <a:avLst/>
          </a:prstGeom>
        </p:spPr>
      </p:pic>
      <p:sp>
        <p:nvSpPr>
          <p:cNvPr id="16" name="Text 11"/>
          <p:cNvSpPr txBox="1"/>
          <p:nvPr/>
        </p:nvSpPr>
        <p:spPr>
          <a:xfrm>
            <a:off x="4526280" y="2889504"/>
            <a:ext cx="1874520" cy="292608"/>
          </a:xfrm>
          <a:prstGeom prst="rect">
            <a:avLst/>
          </a:prstGeom>
          <a:noFill/>
          <a:ln/>
        </p:spPr>
        <p:txBody>
          <a:bodyPr wrap="square" lIns="0" tIns="0" rIns="0" bIns="0" rtlCol="0" anchor="t"/>
          <a:lstStyle/>
          <a:p>
            <a:pPr indent="0" marL="0">
              <a:buNone/>
            </a:pPr>
            <a:r>
              <a:rPr lang="en-US" sz="1400" b="1" dirty="0">
                <a:solidFill>
                  <a:schemeClr val="tx1"/>
                </a:solidFill>
              </a:rPr>
              <a:t>backend x2 to 4</a:t>
            </a:r>
            <a:endParaRPr lang="en-US" sz="1400" dirty="0"/>
          </a:p>
        </p:txBody>
      </p:sp>
      <p:sp>
        <p:nvSpPr>
          <p:cNvPr id="17" name="Text 12"/>
          <p:cNvSpPr txBox="1"/>
          <p:nvPr/>
        </p:nvSpPr>
        <p:spPr>
          <a:xfrm>
            <a:off x="4526280" y="3200400"/>
            <a:ext cx="1874520" cy="365760"/>
          </a:xfrm>
          <a:prstGeom prst="rect">
            <a:avLst/>
          </a:prstGeom>
          <a:noFill/>
          <a:ln/>
        </p:spPr>
        <p:txBody>
          <a:bodyPr wrap="square" lIns="0" tIns="0" rIns="0" bIns="0" rtlCol="0" anchor="t"/>
          <a:lstStyle/>
          <a:p>
            <a:pPr indent="0" marL="0">
              <a:buNone/>
            </a:pPr>
            <a:r>
              <a:rPr lang="en-US" sz="1200" dirty="0">
                <a:solidFill>
                  <a:schemeClr val="accent5"/>
                </a:solidFill>
              </a:rPr>
              <a:t>Deployment + ClusterIP + HPA</a:t>
            </a:r>
            <a:endParaRPr lang="en-US" sz="1200" dirty="0"/>
          </a:p>
        </p:txBody>
      </p:sp>
      <p:sp>
        <p:nvSpPr>
          <p:cNvPr id="18" name="k8s PostgreSQL"/>
          <p:cNvSpPr/>
          <p:nvPr/>
        </p:nvSpPr>
        <p:spPr>
          <a:xfrm>
            <a:off x="3657600" y="3931920"/>
            <a:ext cx="2834640" cy="914400"/>
          </a:xfrm>
          <a:prstGeom prst="roundRect">
            <a:avLst>
              <a:gd name="adj" fmla="val 10000"/>
            </a:avLst>
          </a:prstGeom>
          <a:solidFill>
            <a:schemeClr val="bg2"/>
          </a:solidFill>
          <a:ln/>
        </p:spPr>
      </p:sp>
      <p:sp>
        <p:nvSpPr>
          <p:cNvPr id="19" name="icon tile FaDatabase"/>
          <p:cNvSpPr/>
          <p:nvPr/>
        </p:nvSpPr>
        <p:spPr>
          <a:xfrm>
            <a:off x="3822192" y="4114800"/>
            <a:ext cx="548640" cy="548640"/>
          </a:xfrm>
          <a:prstGeom prst="roundRect">
            <a:avLst>
              <a:gd name="adj" fmla="val 20000"/>
            </a:avLst>
          </a:prstGeom>
          <a:solidFill>
            <a:schemeClr val="accent1"/>
          </a:solidFill>
          <a:ln/>
        </p:spPr>
      </p:sp>
      <p:pic>
        <p:nvPicPr>
          <p:cNvPr id="20" name="Image 3" descr="Database icon">    </p:cNvPr>
          <p:cNvPicPr>
            <a:picLocks noChangeAspect="1"/>
          </p:cNvPicPr>
          <p:nvPr/>
        </p:nvPicPr>
        <p:blipFill>
          <a:blip r:embed="rId4"/>
          <a:stretch>
            <a:fillRect/>
          </a:stretch>
        </p:blipFill>
        <p:spPr>
          <a:xfrm>
            <a:off x="3953866" y="4246474"/>
            <a:ext cx="285293" cy="285293"/>
          </a:xfrm>
          <a:prstGeom prst="rect">
            <a:avLst/>
          </a:prstGeom>
        </p:spPr>
      </p:pic>
      <p:sp>
        <p:nvSpPr>
          <p:cNvPr id="21" name="Text 15"/>
          <p:cNvSpPr txBox="1"/>
          <p:nvPr/>
        </p:nvSpPr>
        <p:spPr>
          <a:xfrm>
            <a:off x="4526280" y="4078224"/>
            <a:ext cx="1874520" cy="292608"/>
          </a:xfrm>
          <a:prstGeom prst="rect">
            <a:avLst/>
          </a:prstGeom>
          <a:noFill/>
          <a:ln/>
        </p:spPr>
        <p:txBody>
          <a:bodyPr wrap="square" lIns="0" tIns="0" rIns="0" bIns="0" rtlCol="0" anchor="t"/>
          <a:lstStyle/>
          <a:p>
            <a:pPr indent="0" marL="0">
              <a:buNone/>
            </a:pPr>
            <a:r>
              <a:rPr lang="en-US" sz="1400" b="1" dirty="0">
                <a:solidFill>
                  <a:schemeClr val="tx1"/>
                </a:solidFill>
              </a:rPr>
              <a:t>PostgreSQL</a:t>
            </a:r>
            <a:endParaRPr lang="en-US" sz="1400" dirty="0"/>
          </a:p>
        </p:txBody>
      </p:sp>
      <p:sp>
        <p:nvSpPr>
          <p:cNvPr id="22" name="Text 16"/>
          <p:cNvSpPr txBox="1"/>
          <p:nvPr/>
        </p:nvSpPr>
        <p:spPr>
          <a:xfrm>
            <a:off x="4526280" y="4389120"/>
            <a:ext cx="1874520" cy="365760"/>
          </a:xfrm>
          <a:prstGeom prst="rect">
            <a:avLst/>
          </a:prstGeom>
          <a:noFill/>
          <a:ln/>
        </p:spPr>
        <p:txBody>
          <a:bodyPr wrap="square" lIns="0" tIns="0" rIns="0" bIns="0" rtlCol="0" anchor="t"/>
          <a:lstStyle/>
          <a:p>
            <a:pPr indent="0" marL="0">
              <a:buNone/>
            </a:pPr>
            <a:r>
              <a:rPr lang="en-US" sz="1200" dirty="0">
                <a:solidFill>
                  <a:schemeClr val="accent5"/>
                </a:solidFill>
              </a:rPr>
              <a:t>StatefulSet + 2Gi PVC</a:t>
            </a:r>
            <a:endParaRPr lang="en-US" sz="1200" dirty="0"/>
          </a:p>
        </p:txBody>
      </p:sp>
      <p:sp>
        <p:nvSpPr>
          <p:cNvPr id="23" name="k8s Migration Job"/>
          <p:cNvSpPr/>
          <p:nvPr/>
        </p:nvSpPr>
        <p:spPr>
          <a:xfrm>
            <a:off x="548640" y="3931920"/>
            <a:ext cx="2743200" cy="914400"/>
          </a:xfrm>
          <a:prstGeom prst="roundRect">
            <a:avLst>
              <a:gd name="adj" fmla="val 10000"/>
            </a:avLst>
          </a:prstGeom>
          <a:solidFill>
            <a:schemeClr val="bg2"/>
          </a:solidFill>
          <a:ln/>
        </p:spPr>
      </p:sp>
      <p:sp>
        <p:nvSpPr>
          <p:cNvPr id="24" name="icon tile FaGears"/>
          <p:cNvSpPr/>
          <p:nvPr/>
        </p:nvSpPr>
        <p:spPr>
          <a:xfrm>
            <a:off x="713232" y="4114800"/>
            <a:ext cx="548640" cy="548640"/>
          </a:xfrm>
          <a:prstGeom prst="roundRect">
            <a:avLst>
              <a:gd name="adj" fmla="val 20000"/>
            </a:avLst>
          </a:prstGeom>
          <a:solidFill>
            <a:schemeClr val="accent1"/>
          </a:solidFill>
          <a:ln/>
        </p:spPr>
      </p:sp>
      <p:pic>
        <p:nvPicPr>
          <p:cNvPr id="25" name="Image 4" descr="Gears icon">    </p:cNvPr>
          <p:cNvPicPr>
            <a:picLocks noChangeAspect="1"/>
          </p:cNvPicPr>
          <p:nvPr/>
        </p:nvPicPr>
        <p:blipFill>
          <a:blip r:embed="rId5"/>
          <a:stretch>
            <a:fillRect/>
          </a:stretch>
        </p:blipFill>
        <p:spPr>
          <a:xfrm>
            <a:off x="844906" y="4246474"/>
            <a:ext cx="285293" cy="285293"/>
          </a:xfrm>
          <a:prstGeom prst="rect">
            <a:avLst/>
          </a:prstGeom>
        </p:spPr>
      </p:pic>
      <p:sp>
        <p:nvSpPr>
          <p:cNvPr id="26" name="Text 19"/>
          <p:cNvSpPr txBox="1"/>
          <p:nvPr/>
        </p:nvSpPr>
        <p:spPr>
          <a:xfrm>
            <a:off x="1417320" y="4078224"/>
            <a:ext cx="1783080" cy="292608"/>
          </a:xfrm>
          <a:prstGeom prst="rect">
            <a:avLst/>
          </a:prstGeom>
          <a:noFill/>
          <a:ln/>
        </p:spPr>
        <p:txBody>
          <a:bodyPr wrap="square" lIns="0" tIns="0" rIns="0" bIns="0" rtlCol="0" anchor="t"/>
          <a:lstStyle/>
          <a:p>
            <a:pPr indent="0" marL="0">
              <a:buNone/>
            </a:pPr>
            <a:r>
              <a:rPr lang="en-US" sz="1400" b="1" dirty="0">
                <a:solidFill>
                  <a:schemeClr val="tx1"/>
                </a:solidFill>
              </a:rPr>
              <a:t>Migration Job</a:t>
            </a:r>
            <a:endParaRPr lang="en-US" sz="1400" dirty="0"/>
          </a:p>
        </p:txBody>
      </p:sp>
      <p:sp>
        <p:nvSpPr>
          <p:cNvPr id="27" name="Text 20"/>
          <p:cNvSpPr txBox="1"/>
          <p:nvPr/>
        </p:nvSpPr>
        <p:spPr>
          <a:xfrm>
            <a:off x="1417320" y="4389120"/>
            <a:ext cx="1783080" cy="365760"/>
          </a:xfrm>
          <a:prstGeom prst="rect">
            <a:avLst/>
          </a:prstGeom>
          <a:noFill/>
          <a:ln/>
        </p:spPr>
        <p:txBody>
          <a:bodyPr wrap="square" lIns="0" tIns="0" rIns="0" bIns="0" rtlCol="0" anchor="t"/>
          <a:lstStyle/>
          <a:p>
            <a:pPr indent="0" marL="0">
              <a:buNone/>
            </a:pPr>
            <a:r>
              <a:rPr lang="en-US" sz="1200" dirty="0">
                <a:solidFill>
                  <a:schemeClr val="accent5"/>
                </a:solidFill>
              </a:rPr>
              <a:t>alembic upgrade, once per release</a:t>
            </a:r>
            <a:endParaRPr lang="en-US" sz="1200" dirty="0"/>
          </a:p>
        </p:txBody>
      </p:sp>
      <p:sp>
        <p:nvSpPr>
          <p:cNvPr id="28" name="arrow"/>
          <p:cNvSpPr/>
          <p:nvPr/>
        </p:nvSpPr>
        <p:spPr>
          <a:xfrm>
            <a:off x="3291840" y="2011680"/>
            <a:ext cx="365760" cy="914"/>
          </a:xfrm>
          <a:prstGeom prst="line">
            <a:avLst/>
          </a:prstGeom>
          <a:noFill/>
          <a:ln w="22225">
            <a:solidFill>
              <a:srgbClr val="4F6F64"/>
            </a:solidFill>
            <a:prstDash val="solid"/>
            <a:tailEnd type="triangle"/>
          </a:ln>
        </p:spPr>
      </p:sp>
      <p:sp>
        <p:nvSpPr>
          <p:cNvPr id="29" name="arrow"/>
          <p:cNvSpPr/>
          <p:nvPr/>
        </p:nvSpPr>
        <p:spPr>
          <a:xfrm>
            <a:off x="3291840" y="2148840"/>
            <a:ext cx="365760" cy="914400"/>
          </a:xfrm>
          <a:prstGeom prst="line">
            <a:avLst/>
          </a:prstGeom>
          <a:noFill/>
          <a:ln w="22225">
            <a:solidFill>
              <a:srgbClr val="4F6F64"/>
            </a:solidFill>
            <a:prstDash val="solid"/>
            <a:tailEnd type="triangle"/>
          </a:ln>
        </p:spPr>
      </p:sp>
      <p:sp>
        <p:nvSpPr>
          <p:cNvPr id="30" name="arrow"/>
          <p:cNvSpPr/>
          <p:nvPr/>
        </p:nvSpPr>
        <p:spPr>
          <a:xfrm>
            <a:off x="5074920" y="3657600"/>
            <a:ext cx="914" cy="274320"/>
          </a:xfrm>
          <a:prstGeom prst="line">
            <a:avLst/>
          </a:prstGeom>
          <a:noFill/>
          <a:ln w="22225">
            <a:solidFill>
              <a:srgbClr val="4F6F64"/>
            </a:solidFill>
            <a:prstDash val="solid"/>
            <a:tailEnd type="triangle"/>
          </a:ln>
        </p:spPr>
      </p:sp>
      <p:sp>
        <p:nvSpPr>
          <p:cNvPr id="31" name="arrow"/>
          <p:cNvSpPr/>
          <p:nvPr/>
        </p:nvSpPr>
        <p:spPr>
          <a:xfrm>
            <a:off x="3291840" y="4389120"/>
            <a:ext cx="365760" cy="914"/>
          </a:xfrm>
          <a:prstGeom prst="line">
            <a:avLst/>
          </a:prstGeom>
          <a:noFill/>
          <a:ln w="22225">
            <a:solidFill>
              <a:srgbClr val="4F6F64"/>
            </a:solidFill>
            <a:prstDash val="solid"/>
            <a:tailEnd type="triangle"/>
          </a:ln>
        </p:spPr>
      </p:sp>
      <p:sp>
        <p:nvSpPr>
          <p:cNvPr id="32" name="Text 25"/>
          <p:cNvSpPr txBox="1"/>
          <p:nvPr/>
        </p:nvSpPr>
        <p:spPr>
          <a:xfrm>
            <a:off x="548640" y="5120640"/>
            <a:ext cx="5943600" cy="320040"/>
          </a:xfrm>
          <a:prstGeom prst="rect">
            <a:avLst/>
          </a:prstGeom>
          <a:noFill/>
          <a:ln/>
        </p:spPr>
        <p:txBody>
          <a:bodyPr wrap="square" lIns="0" tIns="0" rIns="0" bIns="0" rtlCol="0" anchor="t"/>
          <a:lstStyle/>
          <a:p>
            <a:pPr indent="0" marL="0">
              <a:buNone/>
            </a:pPr>
            <a:r>
              <a:rPr lang="en-US" sz="1300" b="1" dirty="0">
                <a:solidFill>
                  <a:schemeClr val="tx2"/>
                </a:solidFill>
                <a:latin typeface="Courier New" pitchFamily="34" charset="0"/>
                <a:ea typeface="Courier New" pitchFamily="34" charset="-122"/>
                <a:cs typeface="Courier New" pitchFamily="34" charset="-120"/>
              </a:rPr>
              <a:t>/  </a:t>
            </a:r>
            <a:pPr indent="0" marL="0">
              <a:buNone/>
            </a:pPr>
            <a:r>
              <a:rPr lang="en-US" sz="1300" dirty="0">
                <a:solidFill>
                  <a:schemeClr val="tx2"/>
                </a:solidFill>
              </a:rPr>
              <a:t>to frontend   </a:t>
            </a:r>
            <a:pPr indent="0" marL="0">
              <a:buNone/>
            </a:pPr>
            <a:r>
              <a:rPr lang="en-US" sz="1300" b="1" dirty="0">
                <a:solidFill>
                  <a:schemeClr val="tx2"/>
                </a:solidFill>
                <a:latin typeface="Courier New" pitchFamily="34" charset="0"/>
                <a:ea typeface="Courier New" pitchFamily="34" charset="-122"/>
                <a:cs typeface="Courier New" pitchFamily="34" charset="-120"/>
              </a:rPr>
              <a:t>/api  /metrics  </a:t>
            </a:r>
            <a:pPr indent="0" marL="0">
              <a:buNone/>
            </a:pPr>
            <a:r>
              <a:rPr lang="en-US" sz="1300" dirty="0">
                <a:solidFill>
                  <a:schemeClr val="tx2"/>
                </a:solidFill>
              </a:rPr>
              <a:t>to backend</a:t>
            </a:r>
            <a:endParaRPr lang="en-US" sz="1300" dirty="0"/>
          </a:p>
        </p:txBody>
      </p:sp>
      <p:sp>
        <p:nvSpPr>
          <p:cNvPr id="33" name="Text 26"/>
          <p:cNvSpPr txBox="1"/>
          <p:nvPr/>
        </p:nvSpPr>
        <p:spPr>
          <a:xfrm>
            <a:off x="548640" y="5486400"/>
            <a:ext cx="5943600" cy="640080"/>
          </a:xfrm>
          <a:prstGeom prst="rect">
            <a:avLst/>
          </a:prstGeom>
          <a:noFill/>
          <a:ln/>
        </p:spPr>
        <p:txBody>
          <a:bodyPr wrap="square" lIns="0" tIns="0" rIns="0" bIns="0" rtlCol="0" anchor="t"/>
          <a:lstStyle/>
          <a:p>
            <a:pPr indent="0" marL="0">
              <a:buNone/>
            </a:pPr>
            <a:r>
              <a:rPr lang="en-US" sz="1300" dirty="0">
                <a:solidFill>
                  <a:schemeClr val="accent5"/>
                </a:solidFill>
              </a:rPr>
              <a:t>Probes: startup + liveness on /health, readiness on /ready. Secrets are generated by Helm and never committed.</a:t>
            </a:r>
            <a:endParaRPr lang="en-US" sz="1300" dirty="0"/>
          </a:p>
        </p:txBody>
      </p:sp>
      <p:sp>
        <p:nvSpPr>
          <p:cNvPr id="34" name="frame kubectl get pods, services, ingress and HPA output"/>
          <p:cNvSpPr/>
          <p:nvPr/>
        </p:nvSpPr>
        <p:spPr>
          <a:xfrm>
            <a:off x="6803136" y="2145792"/>
            <a:ext cx="4892040" cy="3297936"/>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35" name="Image 5" descr="kubectl get pods, services, ingress and HPA output">    </p:cNvPr>
          <p:cNvPicPr>
            <a:picLocks noChangeAspect="1"/>
          </p:cNvPicPr>
          <p:nvPr/>
        </p:nvPicPr>
        <p:blipFill>
          <a:blip r:embed="rId6"/>
          <a:stretch>
            <a:fillRect/>
          </a:stretch>
        </p:blipFill>
        <p:spPr>
          <a:xfrm>
            <a:off x="6858000" y="2200656"/>
            <a:ext cx="4782312" cy="318820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GitOps: Git records what is deployed</a:t>
            </a:r>
            <a:endParaRPr lang="en-US" sz="3600" dirty="0"/>
          </a:p>
        </p:txBody>
      </p:sp>
      <p:sp>
        <p:nvSpPr>
          <p:cNvPr id="3" name="frame Argo CD application synced and healthy"/>
          <p:cNvSpPr/>
          <p:nvPr/>
        </p:nvSpPr>
        <p:spPr>
          <a:xfrm>
            <a:off x="5065776" y="1476121"/>
            <a:ext cx="6629400" cy="463727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4" name="Image 0" descr="Argo CD application synced and healthy">    </p:cNvPr>
          <p:cNvPicPr>
            <a:picLocks noChangeAspect="1"/>
          </p:cNvPicPr>
          <p:nvPr/>
        </p:nvPicPr>
        <p:blipFill>
          <a:blip r:embed="rId1"/>
          <a:stretch>
            <a:fillRect/>
          </a:stretch>
        </p:blipFill>
        <p:spPr>
          <a:xfrm>
            <a:off x="5120640" y="1530985"/>
            <a:ext cx="6519672" cy="4527550"/>
          </a:xfrm>
          <a:prstGeom prst="rect">
            <a:avLst/>
          </a:prstGeom>
        </p:spPr>
      </p:pic>
      <p:sp>
        <p:nvSpPr>
          <p:cNvPr id="5" name="step 1"/>
          <p:cNvSpPr/>
          <p:nvPr/>
        </p:nvSpPr>
        <p:spPr>
          <a:xfrm>
            <a:off x="548640" y="1554480"/>
            <a:ext cx="548640" cy="548640"/>
          </a:xfrm>
          <a:prstGeom prst="ellipse">
            <a:avLst/>
          </a:prstGeom>
          <a:solidFill>
            <a:schemeClr val="accent1"/>
          </a:solidFill>
          <a:ln/>
        </p:spPr>
      </p:sp>
      <p:sp>
        <p:nvSpPr>
          <p:cNvPr id="6"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280160" y="1572768"/>
            <a:ext cx="3657600" cy="292608"/>
          </a:xfrm>
          <a:prstGeom prst="rect">
            <a:avLst/>
          </a:prstGeom>
          <a:noFill/>
          <a:ln/>
        </p:spPr>
        <p:txBody>
          <a:bodyPr wrap="square" lIns="0" tIns="0" rIns="0" bIns="0" rtlCol="0" anchor="t"/>
          <a:lstStyle/>
          <a:p>
            <a:pPr indent="0" marL="0">
              <a:buNone/>
            </a:pPr>
            <a:r>
              <a:rPr lang="en-US" sz="1500" b="1" dirty="0">
                <a:solidFill>
                  <a:schemeClr val="tx1"/>
                </a:solidFill>
              </a:rPr>
              <a:t>CI passes every gate</a:t>
            </a:r>
            <a:endParaRPr lang="en-US" sz="1500" dirty="0"/>
          </a:p>
        </p:txBody>
      </p:sp>
      <p:sp>
        <p:nvSpPr>
          <p:cNvPr id="8" name="Text 5"/>
          <p:cNvSpPr txBox="1"/>
          <p:nvPr/>
        </p:nvSpPr>
        <p:spPr>
          <a:xfrm>
            <a:off x="1280160" y="1883664"/>
            <a:ext cx="3657600" cy="365760"/>
          </a:xfrm>
          <a:prstGeom prst="rect">
            <a:avLst/>
          </a:prstGeom>
          <a:noFill/>
          <a:ln/>
        </p:spPr>
        <p:txBody>
          <a:bodyPr wrap="square" lIns="0" tIns="0" rIns="0" bIns="0" rtlCol="0" anchor="t"/>
          <a:lstStyle/>
          <a:p>
            <a:pPr indent="0" marL="0">
              <a:buNone/>
            </a:pPr>
            <a:r>
              <a:rPr lang="en-US" sz="1300" dirty="0">
                <a:solidFill>
                  <a:schemeClr val="accent5"/>
                </a:solidFill>
              </a:rPr>
              <a:t>tests, scans and the kind smoke deploy</a:t>
            </a:r>
            <a:endParaRPr lang="en-US" sz="1300" dirty="0"/>
          </a:p>
        </p:txBody>
      </p:sp>
      <p:sp>
        <p:nvSpPr>
          <p:cNvPr id="9" name="step 2"/>
          <p:cNvSpPr/>
          <p:nvPr/>
        </p:nvSpPr>
        <p:spPr>
          <a:xfrm>
            <a:off x="548640" y="2578608"/>
            <a:ext cx="548640" cy="548640"/>
          </a:xfrm>
          <a:prstGeom prst="ellipse">
            <a:avLst/>
          </a:prstGeom>
          <a:solidFill>
            <a:schemeClr val="accent1"/>
          </a:solidFill>
          <a:ln/>
        </p:spPr>
      </p:sp>
      <p:sp>
        <p:nvSpPr>
          <p:cNvPr id="10" name="Text 7"/>
          <p:cNvSpPr txBox="1"/>
          <p:nvPr/>
        </p:nvSpPr>
        <p:spPr>
          <a:xfrm>
            <a:off x="548640" y="257860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1280160" y="2596896"/>
            <a:ext cx="3657600" cy="292608"/>
          </a:xfrm>
          <a:prstGeom prst="rect">
            <a:avLst/>
          </a:prstGeom>
          <a:noFill/>
          <a:ln/>
        </p:spPr>
        <p:txBody>
          <a:bodyPr wrap="square" lIns="0" tIns="0" rIns="0" bIns="0" rtlCol="0" anchor="t"/>
          <a:lstStyle/>
          <a:p>
            <a:pPr indent="0" marL="0">
              <a:buNone/>
            </a:pPr>
            <a:r>
              <a:rPr lang="en-US" sz="1500" b="1" dirty="0">
                <a:solidFill>
                  <a:schemeClr val="tx1"/>
                </a:solidFill>
              </a:rPr>
              <a:t>CI commits the image tags</a:t>
            </a:r>
            <a:endParaRPr lang="en-US" sz="1500" dirty="0"/>
          </a:p>
        </p:txBody>
      </p:sp>
      <p:sp>
        <p:nvSpPr>
          <p:cNvPr id="12" name="Text 9"/>
          <p:cNvSpPr txBox="1"/>
          <p:nvPr/>
        </p:nvSpPr>
        <p:spPr>
          <a:xfrm>
            <a:off x="1280160" y="2907792"/>
            <a:ext cx="3657600" cy="365760"/>
          </a:xfrm>
          <a:prstGeom prst="rect">
            <a:avLst/>
          </a:prstGeom>
          <a:noFill/>
          <a:ln/>
        </p:spPr>
        <p:txBody>
          <a:bodyPr wrap="square" lIns="0" tIns="0" rIns="0" bIns="0" rtlCol="0" anchor="t"/>
          <a:lstStyle/>
          <a:p>
            <a:pPr indent="0" marL="0">
              <a:buNone/>
            </a:pPr>
            <a:r>
              <a:rPr lang="en-US" sz="1300" dirty="0">
                <a:solidFill>
                  <a:schemeClr val="accent5"/>
                </a:solidFill>
              </a:rPr>
              <a:t>helm/campusdesk/values-release.json, [skip ci]</a:t>
            </a:r>
            <a:endParaRPr lang="en-US" sz="1300" dirty="0"/>
          </a:p>
        </p:txBody>
      </p:sp>
      <p:sp>
        <p:nvSpPr>
          <p:cNvPr id="13" name="step 3"/>
          <p:cNvSpPr/>
          <p:nvPr/>
        </p:nvSpPr>
        <p:spPr>
          <a:xfrm>
            <a:off x="548640" y="3602736"/>
            <a:ext cx="548640" cy="548640"/>
          </a:xfrm>
          <a:prstGeom prst="ellipse">
            <a:avLst/>
          </a:prstGeom>
          <a:solidFill>
            <a:schemeClr val="accent1"/>
          </a:solidFill>
          <a:ln/>
        </p:spPr>
      </p:sp>
      <p:sp>
        <p:nvSpPr>
          <p:cNvPr id="14" name="Text 11"/>
          <p:cNvSpPr txBox="1"/>
          <p:nvPr/>
        </p:nvSpPr>
        <p:spPr>
          <a:xfrm>
            <a:off x="548640" y="360273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280160" y="3621024"/>
            <a:ext cx="3657600" cy="292608"/>
          </a:xfrm>
          <a:prstGeom prst="rect">
            <a:avLst/>
          </a:prstGeom>
          <a:noFill/>
          <a:ln/>
        </p:spPr>
        <p:txBody>
          <a:bodyPr wrap="square" lIns="0" tIns="0" rIns="0" bIns="0" rtlCol="0" anchor="t"/>
          <a:lstStyle/>
          <a:p>
            <a:pPr indent="0" marL="0">
              <a:buNone/>
            </a:pPr>
            <a:r>
              <a:rPr lang="en-US" sz="1500" b="1" dirty="0">
                <a:solidFill>
                  <a:schemeClr val="tx1"/>
                </a:solidFill>
              </a:rPr>
              <a:t>Argo CD sees the commit</a:t>
            </a:r>
            <a:endParaRPr lang="en-US" sz="1500" dirty="0"/>
          </a:p>
        </p:txBody>
      </p:sp>
      <p:sp>
        <p:nvSpPr>
          <p:cNvPr id="16" name="Text 13"/>
          <p:cNvSpPr txBox="1"/>
          <p:nvPr/>
        </p:nvSpPr>
        <p:spPr>
          <a:xfrm>
            <a:off x="1280160" y="3931920"/>
            <a:ext cx="3657600" cy="365760"/>
          </a:xfrm>
          <a:prstGeom prst="rect">
            <a:avLst/>
          </a:prstGeom>
          <a:noFill/>
          <a:ln/>
        </p:spPr>
        <p:txBody>
          <a:bodyPr wrap="square" lIns="0" tIns="0" rIns="0" bIns="0" rtlCol="0" anchor="t"/>
          <a:lstStyle/>
          <a:p>
            <a:pPr indent="0" marL="0">
              <a:buNone/>
            </a:pPr>
            <a:r>
              <a:rPr lang="en-US" sz="1300" dirty="0">
                <a:solidFill>
                  <a:schemeClr val="accent5"/>
                </a:solidFill>
              </a:rPr>
              <a:t>Application tracks main, automated sync</a:t>
            </a:r>
            <a:endParaRPr lang="en-US" sz="1300" dirty="0"/>
          </a:p>
        </p:txBody>
      </p:sp>
      <p:sp>
        <p:nvSpPr>
          <p:cNvPr id="17" name="step 4"/>
          <p:cNvSpPr/>
          <p:nvPr/>
        </p:nvSpPr>
        <p:spPr>
          <a:xfrm>
            <a:off x="548640" y="4626864"/>
            <a:ext cx="548640" cy="548640"/>
          </a:xfrm>
          <a:prstGeom prst="ellipse">
            <a:avLst/>
          </a:prstGeom>
          <a:solidFill>
            <a:schemeClr val="accent2"/>
          </a:solidFill>
          <a:ln/>
        </p:spPr>
      </p:sp>
      <p:sp>
        <p:nvSpPr>
          <p:cNvPr id="18" name="Text 15"/>
          <p:cNvSpPr txBox="1"/>
          <p:nvPr/>
        </p:nvSpPr>
        <p:spPr>
          <a:xfrm>
            <a:off x="548640" y="4626864"/>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9" name="Text 16"/>
          <p:cNvSpPr txBox="1"/>
          <p:nvPr/>
        </p:nvSpPr>
        <p:spPr>
          <a:xfrm>
            <a:off x="1280160" y="4645152"/>
            <a:ext cx="3657600" cy="292608"/>
          </a:xfrm>
          <a:prstGeom prst="rect">
            <a:avLst/>
          </a:prstGeom>
          <a:noFill/>
          <a:ln/>
        </p:spPr>
        <p:txBody>
          <a:bodyPr wrap="square" lIns="0" tIns="0" rIns="0" bIns="0" rtlCol="0" anchor="t"/>
          <a:lstStyle/>
          <a:p>
            <a:pPr indent="0" marL="0">
              <a:buNone/>
            </a:pPr>
            <a:r>
              <a:rPr lang="en-US" sz="1500" b="1" dirty="0">
                <a:solidFill>
                  <a:schemeClr val="tx1"/>
                </a:solidFill>
              </a:rPr>
              <a:t>Cluster converges</a:t>
            </a:r>
            <a:endParaRPr lang="en-US" sz="1500" dirty="0"/>
          </a:p>
        </p:txBody>
      </p:sp>
      <p:sp>
        <p:nvSpPr>
          <p:cNvPr id="20" name="Text 17"/>
          <p:cNvSpPr txBox="1"/>
          <p:nvPr/>
        </p:nvSpPr>
        <p:spPr>
          <a:xfrm>
            <a:off x="1280160" y="4956048"/>
            <a:ext cx="3657600" cy="365760"/>
          </a:xfrm>
          <a:prstGeom prst="rect">
            <a:avLst/>
          </a:prstGeom>
          <a:noFill/>
          <a:ln/>
        </p:spPr>
        <p:txBody>
          <a:bodyPr wrap="square" lIns="0" tIns="0" rIns="0" bIns="0" rtlCol="0" anchor="t"/>
          <a:lstStyle/>
          <a:p>
            <a:pPr indent="0" marL="0">
              <a:buNone/>
            </a:pPr>
            <a:r>
              <a:rPr lang="en-US" sz="1300" dirty="0">
                <a:solidFill>
                  <a:schemeClr val="accent5"/>
                </a:solidFill>
              </a:rPr>
              <a:t>self-heal reverts manual drift</a:t>
            </a:r>
            <a:endParaRPr lang="en-US" sz="1300" dirty="0"/>
          </a:p>
        </p:txBody>
      </p:sp>
      <p:sp>
        <p:nvSpPr>
          <p:cNvPr id="21" name="Text 18"/>
          <p:cNvSpPr txBox="1"/>
          <p:nvPr/>
        </p:nvSpPr>
        <p:spPr>
          <a:xfrm>
            <a:off x="548640" y="5623560"/>
            <a:ext cx="4297680" cy="685800"/>
          </a:xfrm>
          <a:prstGeom prst="rect">
            <a:avLst/>
          </a:prstGeom>
          <a:noFill/>
          <a:ln/>
        </p:spPr>
        <p:txBody>
          <a:bodyPr wrap="square" lIns="0" tIns="0" rIns="0" bIns="0" rtlCol="0" anchor="t"/>
          <a:lstStyle/>
          <a:p>
            <a:pPr indent="0" marL="0">
              <a:buNone/>
            </a:pPr>
            <a:r>
              <a:rPr lang="en-US" sz="1300" i="1" dirty="0">
                <a:solidFill>
                  <a:schemeClr val="tx2"/>
                </a:solidFill>
              </a:rPr>
              <a:t>Every commit that passes the pipeline is deployed automatically, and nothing else is. Pruning stays off so a bad commit cannot delete the database volume.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Terraform: AWS VPC + EKS as code</a:t>
            </a:r>
            <a:endParaRPr lang="en-US" sz="3600" dirty="0"/>
          </a:p>
        </p:txBody>
      </p:sp>
      <p:sp>
        <p:nvSpPr>
          <p:cNvPr id="3" name="vpc box"/>
          <p:cNvSpPr/>
          <p:nvPr/>
        </p:nvSpPr>
        <p:spPr>
          <a:xfrm>
            <a:off x="548640" y="1463040"/>
            <a:ext cx="6035040" cy="4251960"/>
          </a:xfrm>
          <a:prstGeom prst="roundRect">
            <a:avLst>
              <a:gd name="adj" fmla="val 2151"/>
            </a:avLst>
          </a:prstGeom>
          <a:solidFill>
            <a:schemeClr val="bg2"/>
          </a:solidFill>
          <a:ln/>
        </p:spPr>
      </p:sp>
      <p:sp>
        <p:nvSpPr>
          <p:cNvPr id="4" name="Text 2"/>
          <p:cNvSpPr txBox="1"/>
          <p:nvPr/>
        </p:nvSpPr>
        <p:spPr>
          <a:xfrm>
            <a:off x="777240" y="1600200"/>
            <a:ext cx="5486400" cy="320040"/>
          </a:xfrm>
          <a:prstGeom prst="rect">
            <a:avLst/>
          </a:prstGeom>
          <a:noFill/>
          <a:ln/>
        </p:spPr>
        <p:txBody>
          <a:bodyPr wrap="square" lIns="0" tIns="0" rIns="0" bIns="0" rtlCol="0" anchor="t"/>
          <a:lstStyle/>
          <a:p>
            <a:pPr indent="0" marL="0">
              <a:buNone/>
            </a:pPr>
            <a:r>
              <a:rPr lang="en-US" sz="1500" b="1" dirty="0">
                <a:solidFill>
                  <a:schemeClr val="tx1"/>
                </a:solidFill>
              </a:rPr>
              <a:t>VPC  </a:t>
            </a:r>
            <a:pPr indent="0" marL="0">
              <a:buNone/>
            </a:pPr>
            <a:r>
              <a:rPr lang="en-US" sz="1500" dirty="0">
                <a:solidFill>
                  <a:schemeClr val="accent5"/>
                </a:solidFill>
              </a:rPr>
              <a:t>10.42.0.0/16  |  ap-south-1</a:t>
            </a:r>
            <a:endParaRPr lang="en-US" sz="1500" dirty="0"/>
          </a:p>
        </p:txBody>
      </p:sp>
      <p:sp>
        <p:nvSpPr>
          <p:cNvPr id="5" name="Text 3"/>
          <p:cNvSpPr txBox="1"/>
          <p:nvPr/>
        </p:nvSpPr>
        <p:spPr>
          <a:xfrm>
            <a:off x="777240" y="2011680"/>
            <a:ext cx="2697480" cy="274320"/>
          </a:xfrm>
          <a:prstGeom prst="rect">
            <a:avLst/>
          </a:prstGeom>
          <a:noFill/>
          <a:ln/>
        </p:spPr>
        <p:txBody>
          <a:bodyPr wrap="square" lIns="0" tIns="0" rIns="0" bIns="0" rtlCol="0" anchor="t"/>
          <a:lstStyle/>
          <a:p>
            <a:pPr indent="0" marL="0">
              <a:buNone/>
            </a:pPr>
            <a:r>
              <a:rPr lang="en-US" sz="1200" b="1" dirty="0">
                <a:solidFill>
                  <a:schemeClr val="accent5"/>
                </a:solidFill>
              </a:rPr>
              <a:t>Availability zone 1</a:t>
            </a:r>
            <a:endParaRPr lang="en-US" sz="1200" dirty="0"/>
          </a:p>
        </p:txBody>
      </p:sp>
      <p:sp>
        <p:nvSpPr>
          <p:cNvPr id="6" name="public subnet"/>
          <p:cNvSpPr/>
          <p:nvPr/>
        </p:nvSpPr>
        <p:spPr>
          <a:xfrm>
            <a:off x="777240" y="2331720"/>
            <a:ext cx="2697480" cy="1234440"/>
          </a:xfrm>
          <a:prstGeom prst="roundRect">
            <a:avLst>
              <a:gd name="adj" fmla="val 7407"/>
            </a:avLst>
          </a:prstGeom>
          <a:solidFill>
            <a:schemeClr val="bg1"/>
          </a:solidFill>
          <a:ln/>
        </p:spPr>
      </p:sp>
      <p:sp>
        <p:nvSpPr>
          <p:cNvPr id="7" name="Text 5"/>
          <p:cNvSpPr txBox="1"/>
          <p:nvPr/>
        </p:nvSpPr>
        <p:spPr>
          <a:xfrm>
            <a:off x="960120" y="2423160"/>
            <a:ext cx="2377440" cy="274320"/>
          </a:xfrm>
          <a:prstGeom prst="rect">
            <a:avLst/>
          </a:prstGeom>
          <a:noFill/>
          <a:ln/>
        </p:spPr>
        <p:txBody>
          <a:bodyPr wrap="square" lIns="0" tIns="0" rIns="0" bIns="0" rtlCol="0" anchor="t"/>
          <a:lstStyle/>
          <a:p>
            <a:pPr indent="0" marL="0">
              <a:buNone/>
            </a:pPr>
            <a:r>
              <a:rPr lang="en-US" sz="1300" b="1" dirty="0">
                <a:solidFill>
                  <a:schemeClr val="tx1"/>
                </a:solidFill>
              </a:rPr>
              <a:t>Public subnet</a:t>
            </a:r>
            <a:endParaRPr lang="en-US" sz="1300" dirty="0"/>
          </a:p>
        </p:txBody>
      </p:sp>
      <p:sp>
        <p:nvSpPr>
          <p:cNvPr id="8" name="Text 6"/>
          <p:cNvSpPr txBox="1"/>
          <p:nvPr/>
        </p:nvSpPr>
        <p:spPr>
          <a:xfrm>
            <a:off x="960120" y="2715768"/>
            <a:ext cx="2377440" cy="548640"/>
          </a:xfrm>
          <a:prstGeom prst="rect">
            <a:avLst/>
          </a:prstGeom>
          <a:noFill/>
          <a:ln/>
        </p:spPr>
        <p:txBody>
          <a:bodyPr wrap="square" lIns="0" tIns="0" rIns="0" bIns="0" rtlCol="0" anchor="t"/>
          <a:lstStyle/>
          <a:p>
            <a:pPr indent="0" marL="0">
              <a:buNone/>
            </a:pPr>
            <a:r>
              <a:rPr lang="en-US" sz="1200" dirty="0">
                <a:solidFill>
                  <a:schemeClr val="accent5"/>
                </a:solidFill>
              </a:rPr>
              <a:t>10.42.1.0/24  +  NAT gateway</a:t>
            </a:r>
            <a:endParaRPr lang="en-US" sz="1200" dirty="0"/>
          </a:p>
        </p:txBody>
      </p:sp>
      <p:sp>
        <p:nvSpPr>
          <p:cNvPr id="9" name="private subnet"/>
          <p:cNvSpPr/>
          <p:nvPr/>
        </p:nvSpPr>
        <p:spPr>
          <a:xfrm>
            <a:off x="777240" y="3703320"/>
            <a:ext cx="2697480" cy="1783080"/>
          </a:xfrm>
          <a:prstGeom prst="roundRect">
            <a:avLst>
              <a:gd name="adj" fmla="val 5128"/>
            </a:avLst>
          </a:prstGeom>
          <a:solidFill>
            <a:schemeClr val="bg1"/>
          </a:solidFill>
          <a:ln/>
        </p:spPr>
      </p:sp>
      <p:sp>
        <p:nvSpPr>
          <p:cNvPr id="10" name="Text 8"/>
          <p:cNvSpPr txBox="1"/>
          <p:nvPr/>
        </p:nvSpPr>
        <p:spPr>
          <a:xfrm>
            <a:off x="960120" y="3794760"/>
            <a:ext cx="2377440" cy="274320"/>
          </a:xfrm>
          <a:prstGeom prst="rect">
            <a:avLst/>
          </a:prstGeom>
          <a:noFill/>
          <a:ln/>
        </p:spPr>
        <p:txBody>
          <a:bodyPr wrap="square" lIns="0" tIns="0" rIns="0" bIns="0" rtlCol="0" anchor="t"/>
          <a:lstStyle/>
          <a:p>
            <a:pPr indent="0" marL="0">
              <a:buNone/>
            </a:pPr>
            <a:r>
              <a:rPr lang="en-US" sz="1300" b="1" dirty="0">
                <a:solidFill>
                  <a:schemeClr val="tx1"/>
                </a:solidFill>
              </a:rPr>
              <a:t>Private subnet</a:t>
            </a:r>
            <a:endParaRPr lang="en-US" sz="1300" dirty="0"/>
          </a:p>
        </p:txBody>
      </p:sp>
      <p:sp>
        <p:nvSpPr>
          <p:cNvPr id="11" name="Text 9"/>
          <p:cNvSpPr txBox="1"/>
          <p:nvPr/>
        </p:nvSpPr>
        <p:spPr>
          <a:xfrm>
            <a:off x="960120" y="4087368"/>
            <a:ext cx="2377440" cy="274320"/>
          </a:xfrm>
          <a:prstGeom prst="rect">
            <a:avLst/>
          </a:prstGeom>
          <a:noFill/>
          <a:ln/>
        </p:spPr>
        <p:txBody>
          <a:bodyPr wrap="square" lIns="0" tIns="0" rIns="0" bIns="0" rtlCol="0" anchor="t"/>
          <a:lstStyle/>
          <a:p>
            <a:pPr indent="0" marL="0">
              <a:buNone/>
            </a:pPr>
            <a:r>
              <a:rPr lang="en-US" sz="1200" dirty="0">
                <a:solidFill>
                  <a:schemeClr val="accent5"/>
                </a:solidFill>
              </a:rPr>
              <a:t>10.42.11.0/24</a:t>
            </a:r>
            <a:endParaRPr lang="en-US" sz="1200" dirty="0"/>
          </a:p>
        </p:txBody>
      </p:sp>
      <p:sp>
        <p:nvSpPr>
          <p:cNvPr id="12" name="icon tile FaServer"/>
          <p:cNvSpPr/>
          <p:nvPr/>
        </p:nvSpPr>
        <p:spPr>
          <a:xfrm>
            <a:off x="960120" y="4480560"/>
            <a:ext cx="640080" cy="640080"/>
          </a:xfrm>
          <a:prstGeom prst="roundRect">
            <a:avLst>
              <a:gd name="adj" fmla="val 17143"/>
            </a:avLst>
          </a:prstGeom>
          <a:solidFill>
            <a:schemeClr val="accent1"/>
          </a:solidFill>
          <a:ln/>
        </p:spPr>
      </p:sp>
      <p:pic>
        <p:nvPicPr>
          <p:cNvPr id="13" name="Image 0" descr="Server icon">    </p:cNvPr>
          <p:cNvPicPr>
            <a:picLocks noChangeAspect="1"/>
          </p:cNvPicPr>
          <p:nvPr/>
        </p:nvPicPr>
        <p:blipFill>
          <a:blip r:embed="rId1"/>
          <a:stretch>
            <a:fillRect/>
          </a:stretch>
        </p:blipFill>
        <p:spPr>
          <a:xfrm>
            <a:off x="1113739" y="4634179"/>
            <a:ext cx="332842" cy="332842"/>
          </a:xfrm>
          <a:prstGeom prst="rect">
            <a:avLst/>
          </a:prstGeom>
        </p:spPr>
      </p:pic>
      <p:sp>
        <p:nvSpPr>
          <p:cNvPr id="14" name="Text 11"/>
          <p:cNvSpPr txBox="1"/>
          <p:nvPr/>
        </p:nvSpPr>
        <p:spPr>
          <a:xfrm>
            <a:off x="1737360" y="4526280"/>
            <a:ext cx="1645920" cy="594360"/>
          </a:xfrm>
          <a:prstGeom prst="rect">
            <a:avLst/>
          </a:prstGeom>
          <a:noFill/>
          <a:ln/>
        </p:spPr>
        <p:txBody>
          <a:bodyPr wrap="square" lIns="0" tIns="0" rIns="0" bIns="0" rtlCol="0" anchor="t"/>
          <a:lstStyle/>
          <a:p>
            <a:pPr indent="0" marL="0">
              <a:buNone/>
            </a:pPr>
            <a:r>
              <a:rPr lang="en-US" sz="1200" dirty="0">
                <a:solidFill>
                  <a:schemeClr val="tx1"/>
                </a:solidFill>
              </a:rPr>
              <a:t>EKS worker</a:t>
            </a:r>
            <a:endParaRPr lang="en-US" sz="1200" dirty="0"/>
          </a:p>
          <a:p>
            <a:pPr indent="0" marL="0">
              <a:buNone/>
            </a:pPr>
            <a:r>
              <a:rPr lang="en-US" sz="1200" dirty="0">
                <a:solidFill>
                  <a:schemeClr val="tx1"/>
                </a:solidFill>
              </a:rPr>
              <a:t>t3.medium</a:t>
            </a:r>
            <a:endParaRPr lang="en-US" sz="1200" dirty="0"/>
          </a:p>
        </p:txBody>
      </p:sp>
      <p:sp>
        <p:nvSpPr>
          <p:cNvPr id="15" name="Text 12"/>
          <p:cNvSpPr txBox="1"/>
          <p:nvPr/>
        </p:nvSpPr>
        <p:spPr>
          <a:xfrm>
            <a:off x="3657600" y="2011680"/>
            <a:ext cx="2697480" cy="274320"/>
          </a:xfrm>
          <a:prstGeom prst="rect">
            <a:avLst/>
          </a:prstGeom>
          <a:noFill/>
          <a:ln/>
        </p:spPr>
        <p:txBody>
          <a:bodyPr wrap="square" lIns="0" tIns="0" rIns="0" bIns="0" rtlCol="0" anchor="t"/>
          <a:lstStyle/>
          <a:p>
            <a:pPr indent="0" marL="0">
              <a:buNone/>
            </a:pPr>
            <a:r>
              <a:rPr lang="en-US" sz="1200" b="1" dirty="0">
                <a:solidFill>
                  <a:schemeClr val="accent5"/>
                </a:solidFill>
              </a:rPr>
              <a:t>Availability zone 2</a:t>
            </a:r>
            <a:endParaRPr lang="en-US" sz="1200" dirty="0"/>
          </a:p>
        </p:txBody>
      </p:sp>
      <p:sp>
        <p:nvSpPr>
          <p:cNvPr id="16" name="public subnet"/>
          <p:cNvSpPr/>
          <p:nvPr/>
        </p:nvSpPr>
        <p:spPr>
          <a:xfrm>
            <a:off x="3657600" y="2331720"/>
            <a:ext cx="2697480" cy="1234440"/>
          </a:xfrm>
          <a:prstGeom prst="roundRect">
            <a:avLst>
              <a:gd name="adj" fmla="val 7407"/>
            </a:avLst>
          </a:prstGeom>
          <a:solidFill>
            <a:schemeClr val="bg1"/>
          </a:solidFill>
          <a:ln/>
        </p:spPr>
      </p:sp>
      <p:sp>
        <p:nvSpPr>
          <p:cNvPr id="17" name="Text 14"/>
          <p:cNvSpPr txBox="1"/>
          <p:nvPr/>
        </p:nvSpPr>
        <p:spPr>
          <a:xfrm>
            <a:off x="3840480" y="2423160"/>
            <a:ext cx="2377440" cy="274320"/>
          </a:xfrm>
          <a:prstGeom prst="rect">
            <a:avLst/>
          </a:prstGeom>
          <a:noFill/>
          <a:ln/>
        </p:spPr>
        <p:txBody>
          <a:bodyPr wrap="square" lIns="0" tIns="0" rIns="0" bIns="0" rtlCol="0" anchor="t"/>
          <a:lstStyle/>
          <a:p>
            <a:pPr indent="0" marL="0">
              <a:buNone/>
            </a:pPr>
            <a:r>
              <a:rPr lang="en-US" sz="1300" b="1" dirty="0">
                <a:solidFill>
                  <a:schemeClr val="tx1"/>
                </a:solidFill>
              </a:rPr>
              <a:t>Public subnet</a:t>
            </a:r>
            <a:endParaRPr lang="en-US" sz="1300" dirty="0"/>
          </a:p>
        </p:txBody>
      </p:sp>
      <p:sp>
        <p:nvSpPr>
          <p:cNvPr id="18" name="Text 15"/>
          <p:cNvSpPr txBox="1"/>
          <p:nvPr/>
        </p:nvSpPr>
        <p:spPr>
          <a:xfrm>
            <a:off x="3840480" y="2715768"/>
            <a:ext cx="2377440" cy="548640"/>
          </a:xfrm>
          <a:prstGeom prst="rect">
            <a:avLst/>
          </a:prstGeom>
          <a:noFill/>
          <a:ln/>
        </p:spPr>
        <p:txBody>
          <a:bodyPr wrap="square" lIns="0" tIns="0" rIns="0" bIns="0" rtlCol="0" anchor="t"/>
          <a:lstStyle/>
          <a:p>
            <a:pPr indent="0" marL="0">
              <a:buNone/>
            </a:pPr>
            <a:r>
              <a:rPr lang="en-US" sz="1200" dirty="0">
                <a:solidFill>
                  <a:schemeClr val="accent5"/>
                </a:solidFill>
              </a:rPr>
              <a:t>10.42.2.0/24  +  load balancers</a:t>
            </a:r>
            <a:endParaRPr lang="en-US" sz="1200" dirty="0"/>
          </a:p>
        </p:txBody>
      </p:sp>
      <p:sp>
        <p:nvSpPr>
          <p:cNvPr id="19" name="private subnet"/>
          <p:cNvSpPr/>
          <p:nvPr/>
        </p:nvSpPr>
        <p:spPr>
          <a:xfrm>
            <a:off x="3657600" y="3703320"/>
            <a:ext cx="2697480" cy="1783080"/>
          </a:xfrm>
          <a:prstGeom prst="roundRect">
            <a:avLst>
              <a:gd name="adj" fmla="val 5128"/>
            </a:avLst>
          </a:prstGeom>
          <a:solidFill>
            <a:schemeClr val="bg1"/>
          </a:solidFill>
          <a:ln/>
        </p:spPr>
      </p:sp>
      <p:sp>
        <p:nvSpPr>
          <p:cNvPr id="20" name="Text 17"/>
          <p:cNvSpPr txBox="1"/>
          <p:nvPr/>
        </p:nvSpPr>
        <p:spPr>
          <a:xfrm>
            <a:off x="3840480" y="3794760"/>
            <a:ext cx="2377440" cy="274320"/>
          </a:xfrm>
          <a:prstGeom prst="rect">
            <a:avLst/>
          </a:prstGeom>
          <a:noFill/>
          <a:ln/>
        </p:spPr>
        <p:txBody>
          <a:bodyPr wrap="square" lIns="0" tIns="0" rIns="0" bIns="0" rtlCol="0" anchor="t"/>
          <a:lstStyle/>
          <a:p>
            <a:pPr indent="0" marL="0">
              <a:buNone/>
            </a:pPr>
            <a:r>
              <a:rPr lang="en-US" sz="1300" b="1" dirty="0">
                <a:solidFill>
                  <a:schemeClr val="tx1"/>
                </a:solidFill>
              </a:rPr>
              <a:t>Private subnet</a:t>
            </a:r>
            <a:endParaRPr lang="en-US" sz="1300" dirty="0"/>
          </a:p>
        </p:txBody>
      </p:sp>
      <p:sp>
        <p:nvSpPr>
          <p:cNvPr id="21" name="Text 18"/>
          <p:cNvSpPr txBox="1"/>
          <p:nvPr/>
        </p:nvSpPr>
        <p:spPr>
          <a:xfrm>
            <a:off x="3840480" y="4087368"/>
            <a:ext cx="2377440" cy="274320"/>
          </a:xfrm>
          <a:prstGeom prst="rect">
            <a:avLst/>
          </a:prstGeom>
          <a:noFill/>
          <a:ln/>
        </p:spPr>
        <p:txBody>
          <a:bodyPr wrap="square" lIns="0" tIns="0" rIns="0" bIns="0" rtlCol="0" anchor="t"/>
          <a:lstStyle/>
          <a:p>
            <a:pPr indent="0" marL="0">
              <a:buNone/>
            </a:pPr>
            <a:r>
              <a:rPr lang="en-US" sz="1200" dirty="0">
                <a:solidFill>
                  <a:schemeClr val="accent5"/>
                </a:solidFill>
              </a:rPr>
              <a:t>10.42.12.0/24</a:t>
            </a:r>
            <a:endParaRPr lang="en-US" sz="1200" dirty="0"/>
          </a:p>
        </p:txBody>
      </p:sp>
      <p:sp>
        <p:nvSpPr>
          <p:cNvPr id="22" name="icon tile FaServer"/>
          <p:cNvSpPr/>
          <p:nvPr/>
        </p:nvSpPr>
        <p:spPr>
          <a:xfrm>
            <a:off x="3840480" y="4480560"/>
            <a:ext cx="640080" cy="640080"/>
          </a:xfrm>
          <a:prstGeom prst="roundRect">
            <a:avLst>
              <a:gd name="adj" fmla="val 17143"/>
            </a:avLst>
          </a:prstGeom>
          <a:solidFill>
            <a:schemeClr val="accent1"/>
          </a:solidFill>
          <a:ln/>
        </p:spPr>
      </p:sp>
      <p:pic>
        <p:nvPicPr>
          <p:cNvPr id="23" name="Image 1" descr="Server icon">    </p:cNvPr>
          <p:cNvPicPr>
            <a:picLocks noChangeAspect="1"/>
          </p:cNvPicPr>
          <p:nvPr/>
        </p:nvPicPr>
        <p:blipFill>
          <a:blip r:embed="rId2"/>
          <a:stretch>
            <a:fillRect/>
          </a:stretch>
        </p:blipFill>
        <p:spPr>
          <a:xfrm>
            <a:off x="3994099" y="4634179"/>
            <a:ext cx="332842" cy="332842"/>
          </a:xfrm>
          <a:prstGeom prst="rect">
            <a:avLst/>
          </a:prstGeom>
        </p:spPr>
      </p:pic>
      <p:sp>
        <p:nvSpPr>
          <p:cNvPr id="24" name="Text 20"/>
          <p:cNvSpPr txBox="1"/>
          <p:nvPr/>
        </p:nvSpPr>
        <p:spPr>
          <a:xfrm>
            <a:off x="4617720" y="4526280"/>
            <a:ext cx="1645920" cy="594360"/>
          </a:xfrm>
          <a:prstGeom prst="rect">
            <a:avLst/>
          </a:prstGeom>
          <a:noFill/>
          <a:ln/>
        </p:spPr>
        <p:txBody>
          <a:bodyPr wrap="square" lIns="0" tIns="0" rIns="0" bIns="0" rtlCol="0" anchor="t"/>
          <a:lstStyle/>
          <a:p>
            <a:pPr indent="0" marL="0">
              <a:buNone/>
            </a:pPr>
            <a:r>
              <a:rPr lang="en-US" sz="1200" dirty="0">
                <a:solidFill>
                  <a:schemeClr val="tx1"/>
                </a:solidFill>
              </a:rPr>
              <a:t>EKS worker</a:t>
            </a:r>
            <a:endParaRPr lang="en-US" sz="1200" dirty="0"/>
          </a:p>
          <a:p>
            <a:pPr indent="0" marL="0">
              <a:buNone/>
            </a:pPr>
            <a:r>
              <a:rPr lang="en-US" sz="1200" dirty="0">
                <a:solidFill>
                  <a:schemeClr val="tx1"/>
                </a:solidFill>
              </a:rPr>
              <a:t>t3.medium</a:t>
            </a:r>
            <a:endParaRPr lang="en-US" sz="1200" dirty="0"/>
          </a:p>
        </p:txBody>
      </p:sp>
      <p:sp>
        <p:nvSpPr>
          <p:cNvPr id="25" name="Text 21"/>
          <p:cNvSpPr txBox="1"/>
          <p:nvPr/>
        </p:nvSpPr>
        <p:spPr>
          <a:xfrm>
            <a:off x="548640" y="5806440"/>
            <a:ext cx="6035040" cy="457200"/>
          </a:xfrm>
          <a:prstGeom prst="rect">
            <a:avLst/>
          </a:prstGeom>
          <a:noFill/>
          <a:ln/>
        </p:spPr>
        <p:txBody>
          <a:bodyPr wrap="square" lIns="0" tIns="0" rIns="0" bIns="0" rtlCol="0" anchor="t"/>
          <a:lstStyle/>
          <a:p>
            <a:pPr indent="0" marL="0">
              <a:buNone/>
            </a:pPr>
            <a:r>
              <a:rPr lang="en-US" sz="1300" dirty="0">
                <a:solidFill>
                  <a:schemeClr val="accent5"/>
                </a:solidFill>
              </a:rPr>
              <a:t>Managed node group: desired 2, scales 1 to 3. EBS CSI role for volumes. API access limited to trusted CIDRs.</a:t>
            </a:r>
            <a:endParaRPr lang="en-US" sz="1300" dirty="0"/>
          </a:p>
        </p:txBody>
      </p:sp>
      <p:sp>
        <p:nvSpPr>
          <p:cNvPr id="26" name="frame EKS cluster active in the AWS console"/>
          <p:cNvSpPr/>
          <p:nvPr/>
        </p:nvSpPr>
        <p:spPr>
          <a:xfrm>
            <a:off x="6848856" y="1409495"/>
            <a:ext cx="4846320" cy="2484530"/>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27" name="Image 2" descr="EKS cluster active in the AWS console">    </p:cNvPr>
          <p:cNvPicPr>
            <a:picLocks noChangeAspect="1"/>
          </p:cNvPicPr>
          <p:nvPr/>
        </p:nvPicPr>
        <p:blipFill>
          <a:blip r:embed="rId3"/>
          <a:stretch>
            <a:fillRect/>
          </a:stretch>
        </p:blipFill>
        <p:spPr>
          <a:xfrm>
            <a:off x="6903720" y="1464359"/>
            <a:ext cx="4736592" cy="2374802"/>
          </a:xfrm>
          <a:prstGeom prst="rect">
            <a:avLst/>
          </a:prstGeom>
        </p:spPr>
      </p:pic>
      <p:sp>
        <p:nvSpPr>
          <p:cNvPr id="28" name="tf init + validate"/>
          <p:cNvSpPr/>
          <p:nvPr/>
        </p:nvSpPr>
        <p:spPr>
          <a:xfrm>
            <a:off x="6903720" y="4114800"/>
            <a:ext cx="1097280" cy="1005840"/>
          </a:xfrm>
          <a:prstGeom prst="roundRect">
            <a:avLst>
              <a:gd name="adj" fmla="val 9091"/>
            </a:avLst>
          </a:prstGeom>
          <a:solidFill>
            <a:schemeClr val="bg2"/>
          </a:solidFill>
          <a:ln/>
        </p:spPr>
      </p:sp>
      <p:sp>
        <p:nvSpPr>
          <p:cNvPr id="29" name="Text 24"/>
          <p:cNvSpPr txBox="1"/>
          <p:nvPr/>
        </p:nvSpPr>
        <p:spPr>
          <a:xfrm>
            <a:off x="6976872" y="4206240"/>
            <a:ext cx="950976" cy="41148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init + validate</a:t>
            </a:r>
            <a:endParaRPr lang="en-US" sz="1200" dirty="0"/>
          </a:p>
        </p:txBody>
      </p:sp>
      <p:sp>
        <p:nvSpPr>
          <p:cNvPr id="30" name="Text 25"/>
          <p:cNvSpPr txBox="1"/>
          <p:nvPr/>
        </p:nvSpPr>
        <p:spPr>
          <a:xfrm>
            <a:off x="6976872" y="4663440"/>
            <a:ext cx="950976" cy="320040"/>
          </a:xfrm>
          <a:prstGeom prst="rect">
            <a:avLst/>
          </a:prstGeom>
          <a:noFill/>
          <a:ln/>
        </p:spPr>
        <p:txBody>
          <a:bodyPr wrap="square" lIns="0" tIns="0" rIns="0" bIns="0" rtlCol="0" anchor="t"/>
          <a:lstStyle/>
          <a:p>
            <a:pPr algn="ctr" indent="0" marL="0">
              <a:buNone/>
            </a:pPr>
            <a:r>
              <a:rPr lang="en-US" sz="1200" dirty="0">
                <a:solidFill>
                  <a:schemeClr val="accent5"/>
                </a:solidFill>
              </a:rPr>
              <a:t>clean</a:t>
            </a:r>
            <a:endParaRPr lang="en-US" sz="1200" dirty="0"/>
          </a:p>
        </p:txBody>
      </p:sp>
      <p:sp>
        <p:nvSpPr>
          <p:cNvPr id="31" name="tf plan"/>
          <p:cNvSpPr/>
          <p:nvPr/>
        </p:nvSpPr>
        <p:spPr>
          <a:xfrm>
            <a:off x="8119872" y="4114800"/>
            <a:ext cx="1097280" cy="1005840"/>
          </a:xfrm>
          <a:prstGeom prst="roundRect">
            <a:avLst>
              <a:gd name="adj" fmla="val 9091"/>
            </a:avLst>
          </a:prstGeom>
          <a:solidFill>
            <a:schemeClr val="bg2"/>
          </a:solidFill>
          <a:ln/>
        </p:spPr>
      </p:sp>
      <p:sp>
        <p:nvSpPr>
          <p:cNvPr id="32" name="Text 27"/>
          <p:cNvSpPr txBox="1"/>
          <p:nvPr/>
        </p:nvSpPr>
        <p:spPr>
          <a:xfrm>
            <a:off x="8193024" y="4206240"/>
            <a:ext cx="950976" cy="41148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plan</a:t>
            </a:r>
            <a:endParaRPr lang="en-US" sz="1200" dirty="0"/>
          </a:p>
        </p:txBody>
      </p:sp>
      <p:sp>
        <p:nvSpPr>
          <p:cNvPr id="33" name="Text 28"/>
          <p:cNvSpPr txBox="1"/>
          <p:nvPr/>
        </p:nvSpPr>
        <p:spPr>
          <a:xfrm>
            <a:off x="8193024" y="4663440"/>
            <a:ext cx="950976" cy="320040"/>
          </a:xfrm>
          <a:prstGeom prst="rect">
            <a:avLst/>
          </a:prstGeom>
          <a:noFill/>
          <a:ln/>
        </p:spPr>
        <p:txBody>
          <a:bodyPr wrap="square" lIns="0" tIns="0" rIns="0" bIns="0" rtlCol="0" anchor="t"/>
          <a:lstStyle/>
          <a:p>
            <a:pPr algn="ctr" indent="0" marL="0">
              <a:buNone/>
            </a:pPr>
            <a:r>
              <a:rPr lang="en-US" sz="1200" dirty="0">
                <a:solidFill>
                  <a:schemeClr val="accent5"/>
                </a:solidFill>
              </a:rPr>
              <a:t>22 to add</a:t>
            </a:r>
            <a:endParaRPr lang="en-US" sz="1200" dirty="0"/>
          </a:p>
        </p:txBody>
      </p:sp>
      <p:sp>
        <p:nvSpPr>
          <p:cNvPr id="34" name="tf apply"/>
          <p:cNvSpPr/>
          <p:nvPr/>
        </p:nvSpPr>
        <p:spPr>
          <a:xfrm>
            <a:off x="9336024" y="4114800"/>
            <a:ext cx="1097280" cy="1005840"/>
          </a:xfrm>
          <a:prstGeom prst="roundRect">
            <a:avLst>
              <a:gd name="adj" fmla="val 9091"/>
            </a:avLst>
          </a:prstGeom>
          <a:solidFill>
            <a:schemeClr val="bg2"/>
          </a:solidFill>
          <a:ln/>
        </p:spPr>
      </p:sp>
      <p:sp>
        <p:nvSpPr>
          <p:cNvPr id="35" name="Text 30"/>
          <p:cNvSpPr txBox="1"/>
          <p:nvPr/>
        </p:nvSpPr>
        <p:spPr>
          <a:xfrm>
            <a:off x="9409176" y="4206240"/>
            <a:ext cx="950976" cy="41148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apply</a:t>
            </a:r>
            <a:endParaRPr lang="en-US" sz="1200" dirty="0"/>
          </a:p>
        </p:txBody>
      </p:sp>
      <p:sp>
        <p:nvSpPr>
          <p:cNvPr id="36" name="Text 31"/>
          <p:cNvSpPr txBox="1"/>
          <p:nvPr/>
        </p:nvSpPr>
        <p:spPr>
          <a:xfrm>
            <a:off x="9409176" y="4663440"/>
            <a:ext cx="950976" cy="320040"/>
          </a:xfrm>
          <a:prstGeom prst="rect">
            <a:avLst/>
          </a:prstGeom>
          <a:noFill/>
          <a:ln/>
        </p:spPr>
        <p:txBody>
          <a:bodyPr wrap="square" lIns="0" tIns="0" rIns="0" bIns="0" rtlCol="0" anchor="t"/>
          <a:lstStyle/>
          <a:p>
            <a:pPr algn="ctr" indent="0" marL="0">
              <a:buNone/>
            </a:pPr>
            <a:r>
              <a:rPr lang="en-US" sz="1200" dirty="0">
                <a:solidFill>
                  <a:schemeClr val="accent5"/>
                </a:solidFill>
              </a:rPr>
              <a:t>22 added</a:t>
            </a:r>
            <a:endParaRPr lang="en-US" sz="1200" dirty="0"/>
          </a:p>
        </p:txBody>
      </p:sp>
      <p:sp>
        <p:nvSpPr>
          <p:cNvPr id="37" name="tf destroy"/>
          <p:cNvSpPr/>
          <p:nvPr/>
        </p:nvSpPr>
        <p:spPr>
          <a:xfrm>
            <a:off x="10552176" y="4114800"/>
            <a:ext cx="1097280" cy="1005840"/>
          </a:xfrm>
          <a:prstGeom prst="roundRect">
            <a:avLst>
              <a:gd name="adj" fmla="val 9091"/>
            </a:avLst>
          </a:prstGeom>
          <a:solidFill>
            <a:srgbClr val="E3F1EA"/>
          </a:solidFill>
          <a:ln/>
        </p:spPr>
      </p:sp>
      <p:sp>
        <p:nvSpPr>
          <p:cNvPr id="38" name="Text 33"/>
          <p:cNvSpPr txBox="1"/>
          <p:nvPr/>
        </p:nvSpPr>
        <p:spPr>
          <a:xfrm>
            <a:off x="10625328" y="4206240"/>
            <a:ext cx="950976" cy="411480"/>
          </a:xfrm>
          <a:prstGeom prst="rect">
            <a:avLst/>
          </a:prstGeom>
          <a:noFill/>
          <a:ln/>
        </p:spPr>
        <p:txBody>
          <a:bodyPr wrap="square" lIns="0" tIns="0" rIns="0" bIns="0" rtlCol="0" anchor="t"/>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destroy</a:t>
            </a:r>
            <a:endParaRPr lang="en-US" sz="1200" dirty="0"/>
          </a:p>
        </p:txBody>
      </p:sp>
      <p:sp>
        <p:nvSpPr>
          <p:cNvPr id="39" name="Text 34"/>
          <p:cNvSpPr txBox="1"/>
          <p:nvPr/>
        </p:nvSpPr>
        <p:spPr>
          <a:xfrm>
            <a:off x="10625328" y="4663440"/>
            <a:ext cx="950976" cy="320040"/>
          </a:xfrm>
          <a:prstGeom prst="rect">
            <a:avLst/>
          </a:prstGeom>
          <a:noFill/>
          <a:ln/>
        </p:spPr>
        <p:txBody>
          <a:bodyPr wrap="square" lIns="0" tIns="0" rIns="0" bIns="0" rtlCol="0" anchor="t"/>
          <a:lstStyle/>
          <a:p>
            <a:pPr algn="ctr" indent="0" marL="0">
              <a:buNone/>
            </a:pPr>
            <a:r>
              <a:rPr lang="en-US" sz="1200" dirty="0">
                <a:solidFill>
                  <a:schemeClr val="accent5"/>
                </a:solidFill>
              </a:rPr>
              <a:t>22 destroyed</a:t>
            </a:r>
            <a:endParaRPr lang="en-US" sz="1200" dirty="0"/>
          </a:p>
        </p:txBody>
      </p:sp>
      <p:sp>
        <p:nvSpPr>
          <p:cNvPr id="40" name="Text 35"/>
          <p:cNvSpPr txBox="1"/>
          <p:nvPr/>
        </p:nvSpPr>
        <p:spPr>
          <a:xfrm>
            <a:off x="6903720" y="5303520"/>
            <a:ext cx="4736592" cy="822960"/>
          </a:xfrm>
          <a:prstGeom prst="rect">
            <a:avLst/>
          </a:prstGeom>
          <a:noFill/>
          <a:ln/>
        </p:spPr>
        <p:txBody>
          <a:bodyPr wrap="square" lIns="0" tIns="0" rIns="0" bIns="0" rtlCol="0" anchor="t"/>
          <a:lstStyle/>
          <a:p>
            <a:pPr indent="0" marL="0">
              <a:buNone/>
            </a:pPr>
            <a:r>
              <a:rPr lang="en-US" sz="1200" i="1" dirty="0">
                <a:solidFill>
                  <a:schemeClr val="accent5"/>
                </a:solidFill>
              </a:rPr>
              <a:t>Console evidence is from my ShelfWise EKS Terraform run (22 resources, applied and destroyed). The CampusDesk code above is validated in CI on every push.</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Observability: Prometheus + Grafana</a:t>
            </a:r>
            <a:endParaRPr lang="en-US" sz="3600" dirty="0"/>
          </a:p>
        </p:txBody>
      </p:sp>
      <p:sp>
        <p:nvSpPr>
          <p:cNvPr id="3" name="frame Grafana CampusDesk service health dashboard"/>
          <p:cNvSpPr/>
          <p:nvPr/>
        </p:nvSpPr>
        <p:spPr>
          <a:xfrm>
            <a:off x="493776" y="1422146"/>
            <a:ext cx="6784848" cy="4745228"/>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4" name="Image 0" descr="Grafana CampusDesk service health dashboard">    </p:cNvPr>
          <p:cNvPicPr>
            <a:picLocks noChangeAspect="1"/>
          </p:cNvPicPr>
          <p:nvPr/>
        </p:nvPicPr>
        <p:blipFill>
          <a:blip r:embed="rId1"/>
          <a:stretch>
            <a:fillRect/>
          </a:stretch>
        </p:blipFill>
        <p:spPr>
          <a:xfrm>
            <a:off x="548640" y="1477010"/>
            <a:ext cx="6675120" cy="4635500"/>
          </a:xfrm>
          <a:prstGeom prst="rect">
            <a:avLst/>
          </a:prstGeom>
        </p:spPr>
      </p:pic>
      <p:sp>
        <p:nvSpPr>
          <p:cNvPr id="5" name="icon tile FaGaugeHigh"/>
          <p:cNvSpPr/>
          <p:nvPr/>
        </p:nvSpPr>
        <p:spPr>
          <a:xfrm>
            <a:off x="7589520" y="1508760"/>
            <a:ext cx="548640" cy="548640"/>
          </a:xfrm>
          <a:prstGeom prst="roundRect">
            <a:avLst>
              <a:gd name="adj" fmla="val 20000"/>
            </a:avLst>
          </a:prstGeom>
          <a:solidFill>
            <a:schemeClr val="accent1"/>
          </a:solidFill>
          <a:ln/>
        </p:spPr>
      </p:sp>
      <p:pic>
        <p:nvPicPr>
          <p:cNvPr id="6" name="Image 1" descr="GaugeHigh icon">    </p:cNvPr>
          <p:cNvPicPr>
            <a:picLocks noChangeAspect="1"/>
          </p:cNvPicPr>
          <p:nvPr/>
        </p:nvPicPr>
        <p:blipFill>
          <a:blip r:embed="rId2"/>
          <a:stretch>
            <a:fillRect/>
          </a:stretch>
        </p:blipFill>
        <p:spPr>
          <a:xfrm>
            <a:off x="7721194" y="1640434"/>
            <a:ext cx="285293" cy="285293"/>
          </a:xfrm>
          <a:prstGeom prst="rect">
            <a:avLst/>
          </a:prstGeom>
        </p:spPr>
      </p:pic>
      <p:sp>
        <p:nvSpPr>
          <p:cNvPr id="7" name="Text 3"/>
          <p:cNvSpPr txBox="1"/>
          <p:nvPr/>
        </p:nvSpPr>
        <p:spPr>
          <a:xfrm>
            <a:off x="8321040" y="1527048"/>
            <a:ext cx="3319272" cy="274320"/>
          </a:xfrm>
          <a:prstGeom prst="rect">
            <a:avLst/>
          </a:prstGeom>
          <a:noFill/>
          <a:ln/>
        </p:spPr>
        <p:txBody>
          <a:bodyPr wrap="square" lIns="0" tIns="0" rIns="0" bIns="0" rtlCol="0" anchor="t"/>
          <a:lstStyle/>
          <a:p>
            <a:pPr indent="0" marL="0">
              <a:buNone/>
            </a:pPr>
            <a:r>
              <a:rPr lang="en-US" sz="1500" b="1" dirty="0">
                <a:solidFill>
                  <a:schemeClr val="tx1"/>
                </a:solidFill>
              </a:rPr>
              <a:t>Custom /metrics</a:t>
            </a:r>
            <a:endParaRPr lang="en-US" sz="1500" dirty="0"/>
          </a:p>
        </p:txBody>
      </p:sp>
      <p:sp>
        <p:nvSpPr>
          <p:cNvPr id="8" name="Text 4"/>
          <p:cNvSpPr txBox="1"/>
          <p:nvPr/>
        </p:nvSpPr>
        <p:spPr>
          <a:xfrm>
            <a:off x="8321040" y="1819656"/>
            <a:ext cx="3319272" cy="822960"/>
          </a:xfrm>
          <a:prstGeom prst="rect">
            <a:avLst/>
          </a:prstGeom>
          <a:noFill/>
          <a:ln/>
        </p:spPr>
        <p:txBody>
          <a:bodyPr wrap="square" lIns="0" tIns="0" rIns="0" bIns="0" rtlCol="0" anchor="t"/>
          <a:lstStyle/>
          <a:p>
            <a:pPr indent="0" marL="0">
              <a:buNone/>
            </a:pPr>
            <a:r>
              <a:rPr lang="en-US" sz="1300" dirty="0">
                <a:solidFill>
                  <a:schemeClr val="accent5"/>
                </a:solidFill>
              </a:rPr>
              <a:t>campusdesk_http_requests_total and request duration histograms, labelled by route template</a:t>
            </a:r>
            <a:endParaRPr lang="en-US" sz="1300" dirty="0"/>
          </a:p>
        </p:txBody>
      </p:sp>
      <p:sp>
        <p:nvSpPr>
          <p:cNvPr id="9" name="icon tile FaBullseye"/>
          <p:cNvSpPr/>
          <p:nvPr/>
        </p:nvSpPr>
        <p:spPr>
          <a:xfrm>
            <a:off x="7589520" y="2679192"/>
            <a:ext cx="548640" cy="548640"/>
          </a:xfrm>
          <a:prstGeom prst="roundRect">
            <a:avLst>
              <a:gd name="adj" fmla="val 20000"/>
            </a:avLst>
          </a:prstGeom>
          <a:solidFill>
            <a:schemeClr val="accent1"/>
          </a:solidFill>
          <a:ln/>
        </p:spPr>
      </p:sp>
      <p:pic>
        <p:nvPicPr>
          <p:cNvPr id="10" name="Image 2" descr="Bullseye icon">    </p:cNvPr>
          <p:cNvPicPr>
            <a:picLocks noChangeAspect="1"/>
          </p:cNvPicPr>
          <p:nvPr/>
        </p:nvPicPr>
        <p:blipFill>
          <a:blip r:embed="rId3"/>
          <a:stretch>
            <a:fillRect/>
          </a:stretch>
        </p:blipFill>
        <p:spPr>
          <a:xfrm>
            <a:off x="7721194" y="2810866"/>
            <a:ext cx="285293" cy="285293"/>
          </a:xfrm>
          <a:prstGeom prst="rect">
            <a:avLst/>
          </a:prstGeom>
        </p:spPr>
      </p:pic>
      <p:sp>
        <p:nvSpPr>
          <p:cNvPr id="11" name="Text 6"/>
          <p:cNvSpPr txBox="1"/>
          <p:nvPr/>
        </p:nvSpPr>
        <p:spPr>
          <a:xfrm>
            <a:off x="8321040" y="2697480"/>
            <a:ext cx="3319272" cy="274320"/>
          </a:xfrm>
          <a:prstGeom prst="rect">
            <a:avLst/>
          </a:prstGeom>
          <a:noFill/>
          <a:ln/>
        </p:spPr>
        <p:txBody>
          <a:bodyPr wrap="square" lIns="0" tIns="0" rIns="0" bIns="0" rtlCol="0" anchor="t"/>
          <a:lstStyle/>
          <a:p>
            <a:pPr indent="0" marL="0">
              <a:buNone/>
            </a:pPr>
            <a:r>
              <a:rPr lang="en-US" sz="1500" b="1" dirty="0">
                <a:solidFill>
                  <a:schemeClr val="tx1"/>
                </a:solidFill>
              </a:rPr>
              <a:t>Per-pod scraping</a:t>
            </a:r>
            <a:endParaRPr lang="en-US" sz="1500" dirty="0"/>
          </a:p>
        </p:txBody>
      </p:sp>
      <p:sp>
        <p:nvSpPr>
          <p:cNvPr id="12" name="Text 7"/>
          <p:cNvSpPr txBox="1"/>
          <p:nvPr/>
        </p:nvSpPr>
        <p:spPr>
          <a:xfrm>
            <a:off x="8321040" y="2990088"/>
            <a:ext cx="3319272" cy="822960"/>
          </a:xfrm>
          <a:prstGeom prst="rect">
            <a:avLst/>
          </a:prstGeom>
          <a:noFill/>
          <a:ln/>
        </p:spPr>
        <p:txBody>
          <a:bodyPr wrap="square" lIns="0" tIns="0" rIns="0" bIns="0" rtlCol="0" anchor="t"/>
          <a:lstStyle/>
          <a:p>
            <a:pPr indent="0" marL="0">
              <a:buNone/>
            </a:pPr>
            <a:r>
              <a:rPr lang="en-US" sz="1300" dirty="0">
                <a:solidFill>
                  <a:schemeClr val="accent5"/>
                </a:solidFill>
              </a:rPr>
              <a:t>A headless backend-metrics Service lets Prometheus scrape every replica</a:t>
            </a:r>
            <a:endParaRPr lang="en-US" sz="1300" dirty="0"/>
          </a:p>
        </p:txBody>
      </p:sp>
      <p:sp>
        <p:nvSpPr>
          <p:cNvPr id="13" name="icon tile FaChartColumn"/>
          <p:cNvSpPr/>
          <p:nvPr/>
        </p:nvSpPr>
        <p:spPr>
          <a:xfrm>
            <a:off x="7589520" y="3849624"/>
            <a:ext cx="548640" cy="548640"/>
          </a:xfrm>
          <a:prstGeom prst="roundRect">
            <a:avLst>
              <a:gd name="adj" fmla="val 20000"/>
            </a:avLst>
          </a:prstGeom>
          <a:solidFill>
            <a:schemeClr val="accent1"/>
          </a:solidFill>
          <a:ln/>
        </p:spPr>
      </p:sp>
      <p:pic>
        <p:nvPicPr>
          <p:cNvPr id="14" name="Image 3" descr="ChartColumn icon">    </p:cNvPr>
          <p:cNvPicPr>
            <a:picLocks noChangeAspect="1"/>
          </p:cNvPicPr>
          <p:nvPr/>
        </p:nvPicPr>
        <p:blipFill>
          <a:blip r:embed="rId4"/>
          <a:stretch>
            <a:fillRect/>
          </a:stretch>
        </p:blipFill>
        <p:spPr>
          <a:xfrm>
            <a:off x="7721194" y="3981298"/>
            <a:ext cx="285293" cy="285293"/>
          </a:xfrm>
          <a:prstGeom prst="rect">
            <a:avLst/>
          </a:prstGeom>
        </p:spPr>
      </p:pic>
      <p:sp>
        <p:nvSpPr>
          <p:cNvPr id="15" name="Text 9"/>
          <p:cNvSpPr txBox="1"/>
          <p:nvPr/>
        </p:nvSpPr>
        <p:spPr>
          <a:xfrm>
            <a:off x="8321040" y="3867912"/>
            <a:ext cx="3319272" cy="274320"/>
          </a:xfrm>
          <a:prstGeom prst="rect">
            <a:avLst/>
          </a:prstGeom>
          <a:noFill/>
          <a:ln/>
        </p:spPr>
        <p:txBody>
          <a:bodyPr wrap="square" lIns="0" tIns="0" rIns="0" bIns="0" rtlCol="0" anchor="t"/>
          <a:lstStyle/>
          <a:p>
            <a:pPr indent="0" marL="0">
              <a:buNone/>
            </a:pPr>
            <a:r>
              <a:rPr lang="en-US" sz="1500" b="1" dirty="0">
                <a:solidFill>
                  <a:schemeClr val="tx1"/>
                </a:solidFill>
              </a:rPr>
              <a:t>5 dashboard panels</a:t>
            </a:r>
            <a:endParaRPr lang="en-US" sz="1500" dirty="0"/>
          </a:p>
        </p:txBody>
      </p:sp>
      <p:sp>
        <p:nvSpPr>
          <p:cNvPr id="16" name="Text 10"/>
          <p:cNvSpPr txBox="1"/>
          <p:nvPr/>
        </p:nvSpPr>
        <p:spPr>
          <a:xfrm>
            <a:off x="8321040" y="4160520"/>
            <a:ext cx="3319272" cy="822960"/>
          </a:xfrm>
          <a:prstGeom prst="rect">
            <a:avLst/>
          </a:prstGeom>
          <a:noFill/>
          <a:ln/>
        </p:spPr>
        <p:txBody>
          <a:bodyPr wrap="square" lIns="0" tIns="0" rIns="0" bIns="0" rtlCol="0" anchor="t"/>
          <a:lstStyle/>
          <a:p>
            <a:pPr indent="0" marL="0">
              <a:buNone/>
            </a:pPr>
            <a:r>
              <a:rPr lang="en-US" sz="1300" dirty="0">
                <a:solidFill>
                  <a:schemeClr val="accent5"/>
                </a:solidFill>
              </a:rPr>
              <a:t>Healthy replicas, requests/s, P95 latency, traffic by route, status codes</a:t>
            </a:r>
            <a:endParaRPr lang="en-US" sz="1300" dirty="0"/>
          </a:p>
        </p:txBody>
      </p:sp>
      <p:sp>
        <p:nvSpPr>
          <p:cNvPr id="17" name="icon tile FaBell"/>
          <p:cNvSpPr/>
          <p:nvPr/>
        </p:nvSpPr>
        <p:spPr>
          <a:xfrm>
            <a:off x="7589520" y="5020056"/>
            <a:ext cx="548640" cy="548640"/>
          </a:xfrm>
          <a:prstGeom prst="roundRect">
            <a:avLst>
              <a:gd name="adj" fmla="val 20000"/>
            </a:avLst>
          </a:prstGeom>
          <a:solidFill>
            <a:schemeClr val="accent2"/>
          </a:solidFill>
          <a:ln/>
        </p:spPr>
      </p:sp>
      <p:pic>
        <p:nvPicPr>
          <p:cNvPr id="18" name="Image 4" descr="Bell icon">    </p:cNvPr>
          <p:cNvPicPr>
            <a:picLocks noChangeAspect="1"/>
          </p:cNvPicPr>
          <p:nvPr/>
        </p:nvPicPr>
        <p:blipFill>
          <a:blip r:embed="rId5"/>
          <a:stretch>
            <a:fillRect/>
          </a:stretch>
        </p:blipFill>
        <p:spPr>
          <a:xfrm>
            <a:off x="7721194" y="5151730"/>
            <a:ext cx="285293" cy="285293"/>
          </a:xfrm>
          <a:prstGeom prst="rect">
            <a:avLst/>
          </a:prstGeom>
        </p:spPr>
      </p:pic>
      <p:sp>
        <p:nvSpPr>
          <p:cNvPr id="19" name="Text 12"/>
          <p:cNvSpPr txBox="1"/>
          <p:nvPr/>
        </p:nvSpPr>
        <p:spPr>
          <a:xfrm>
            <a:off x="8321040" y="5038344"/>
            <a:ext cx="3319272" cy="274320"/>
          </a:xfrm>
          <a:prstGeom prst="rect">
            <a:avLst/>
          </a:prstGeom>
          <a:noFill/>
          <a:ln/>
        </p:spPr>
        <p:txBody>
          <a:bodyPr wrap="square" lIns="0" tIns="0" rIns="0" bIns="0" rtlCol="0" anchor="t"/>
          <a:lstStyle/>
          <a:p>
            <a:pPr indent="0" marL="0">
              <a:buNone/>
            </a:pPr>
            <a:r>
              <a:rPr lang="en-US" sz="1500" b="1" dirty="0">
                <a:solidFill>
                  <a:schemeClr val="tx1"/>
                </a:solidFill>
              </a:rPr>
              <a:t>2 alert rules</a:t>
            </a:r>
            <a:endParaRPr lang="en-US" sz="1500" dirty="0"/>
          </a:p>
        </p:txBody>
      </p:sp>
      <p:sp>
        <p:nvSpPr>
          <p:cNvPr id="20" name="Text 13"/>
          <p:cNvSpPr txBox="1"/>
          <p:nvPr/>
        </p:nvSpPr>
        <p:spPr>
          <a:xfrm>
            <a:off x="8321040" y="5330952"/>
            <a:ext cx="3319272" cy="822960"/>
          </a:xfrm>
          <a:prstGeom prst="rect">
            <a:avLst/>
          </a:prstGeom>
          <a:noFill/>
          <a:ln/>
        </p:spPr>
        <p:txBody>
          <a:bodyPr wrap="square" lIns="0" tIns="0" rIns="0" bIns="0" rtlCol="0" anchor="t"/>
          <a:lstStyle/>
          <a:p>
            <a:pPr indent="0" marL="0">
              <a:buNone/>
            </a:pPr>
            <a:r>
              <a:rPr lang="en-US" sz="1300" dirty="0">
                <a:solidFill>
                  <a:schemeClr val="accent5"/>
                </a:solidFill>
              </a:rPr>
              <a:t>Backend unavailable 2 min; 5xx above 5% for 5 min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Autoscaling under real load</a:t>
            </a:r>
            <a:endParaRPr lang="en-US" sz="3600" dirty="0"/>
          </a:p>
        </p:txBody>
      </p:sp>
      <p:sp>
        <p:nvSpPr>
          <p:cNvPr id="3" name="stat 2 to 4"/>
          <p:cNvSpPr/>
          <p:nvPr/>
        </p:nvSpPr>
        <p:spPr>
          <a:xfrm>
            <a:off x="548640" y="1508760"/>
            <a:ext cx="2423160" cy="1828800"/>
          </a:xfrm>
          <a:prstGeom prst="roundRect">
            <a:avLst>
              <a:gd name="adj" fmla="val 5000"/>
            </a:avLst>
          </a:prstGeom>
          <a:solidFill>
            <a:schemeClr val="bg2"/>
          </a:solidFill>
          <a:ln/>
        </p:spPr>
      </p:sp>
      <p:sp>
        <p:nvSpPr>
          <p:cNvPr id="4" name="Text 2"/>
          <p:cNvSpPr txBox="1"/>
          <p:nvPr/>
        </p:nvSpPr>
        <p:spPr>
          <a:xfrm>
            <a:off x="731520" y="1691640"/>
            <a:ext cx="2103120" cy="86868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 to 4</a:t>
            </a:r>
            <a:endParaRPr lang="en-US" sz="4000" dirty="0"/>
          </a:p>
        </p:txBody>
      </p:sp>
      <p:sp>
        <p:nvSpPr>
          <p:cNvPr id="5" name="Text 3"/>
          <p:cNvSpPr txBox="1"/>
          <p:nvPr/>
        </p:nvSpPr>
        <p:spPr>
          <a:xfrm>
            <a:off x="731520" y="2606040"/>
            <a:ext cx="2103120" cy="594360"/>
          </a:xfrm>
          <a:prstGeom prst="rect">
            <a:avLst/>
          </a:prstGeom>
          <a:noFill/>
          <a:ln/>
        </p:spPr>
        <p:txBody>
          <a:bodyPr wrap="square" lIns="0" tIns="0" rIns="0" bIns="0" rtlCol="0" anchor="t"/>
          <a:lstStyle/>
          <a:p>
            <a:pPr indent="0" marL="0">
              <a:buNone/>
            </a:pPr>
            <a:r>
              <a:rPr lang="en-US" sz="1300" dirty="0">
                <a:solidFill>
                  <a:schemeClr val="accent5"/>
                </a:solidFill>
              </a:rPr>
              <a:t>backend pods (the HPA maximum)</a:t>
            </a:r>
            <a:endParaRPr lang="en-US" sz="1300" dirty="0"/>
          </a:p>
        </p:txBody>
      </p:sp>
      <p:sp>
        <p:nvSpPr>
          <p:cNvPr id="6" name="stat 442%"/>
          <p:cNvSpPr/>
          <p:nvPr/>
        </p:nvSpPr>
        <p:spPr>
          <a:xfrm>
            <a:off x="3154680" y="1508760"/>
            <a:ext cx="2423160" cy="1828800"/>
          </a:xfrm>
          <a:prstGeom prst="roundRect">
            <a:avLst>
              <a:gd name="adj" fmla="val 5000"/>
            </a:avLst>
          </a:prstGeom>
          <a:solidFill>
            <a:schemeClr val="bg2"/>
          </a:solidFill>
          <a:ln/>
        </p:spPr>
      </p:sp>
      <p:sp>
        <p:nvSpPr>
          <p:cNvPr id="7" name="Text 5"/>
          <p:cNvSpPr txBox="1"/>
          <p:nvPr/>
        </p:nvSpPr>
        <p:spPr>
          <a:xfrm>
            <a:off x="3337560" y="1691640"/>
            <a:ext cx="210312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442%</a:t>
            </a:r>
            <a:endParaRPr lang="en-US" sz="4400" dirty="0"/>
          </a:p>
        </p:txBody>
      </p:sp>
      <p:sp>
        <p:nvSpPr>
          <p:cNvPr id="8" name="Text 6"/>
          <p:cNvSpPr txBox="1"/>
          <p:nvPr/>
        </p:nvSpPr>
        <p:spPr>
          <a:xfrm>
            <a:off x="3337560" y="2606040"/>
            <a:ext cx="2103120" cy="594360"/>
          </a:xfrm>
          <a:prstGeom prst="rect">
            <a:avLst/>
          </a:prstGeom>
          <a:noFill/>
          <a:ln/>
        </p:spPr>
        <p:txBody>
          <a:bodyPr wrap="square" lIns="0" tIns="0" rIns="0" bIns="0" rtlCol="0" anchor="t"/>
          <a:lstStyle/>
          <a:p>
            <a:pPr indent="0" marL="0">
              <a:buNone/>
            </a:pPr>
            <a:r>
              <a:rPr lang="en-US" sz="1300" dirty="0">
                <a:solidFill>
                  <a:schemeClr val="accent5"/>
                </a:solidFill>
              </a:rPr>
              <a:t>of the 70% CPU target at peak</a:t>
            </a:r>
            <a:endParaRPr lang="en-US" sz="1300" dirty="0"/>
          </a:p>
        </p:txBody>
      </p:sp>
      <p:sp>
        <p:nvSpPr>
          <p:cNvPr id="9" name="stat 15,833"/>
          <p:cNvSpPr/>
          <p:nvPr/>
        </p:nvSpPr>
        <p:spPr>
          <a:xfrm>
            <a:off x="548640" y="3566160"/>
            <a:ext cx="2423160" cy="1828800"/>
          </a:xfrm>
          <a:prstGeom prst="roundRect">
            <a:avLst>
              <a:gd name="adj" fmla="val 5000"/>
            </a:avLst>
          </a:prstGeom>
          <a:solidFill>
            <a:schemeClr val="bg2"/>
          </a:solidFill>
          <a:ln/>
        </p:spPr>
      </p:sp>
      <p:sp>
        <p:nvSpPr>
          <p:cNvPr id="10" name="Text 8"/>
          <p:cNvSpPr txBox="1"/>
          <p:nvPr/>
        </p:nvSpPr>
        <p:spPr>
          <a:xfrm>
            <a:off x="731520" y="3749040"/>
            <a:ext cx="210312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15,833</a:t>
            </a:r>
            <a:endParaRPr lang="en-US" sz="4400" dirty="0"/>
          </a:p>
        </p:txBody>
      </p:sp>
      <p:sp>
        <p:nvSpPr>
          <p:cNvPr id="11" name="Text 9"/>
          <p:cNvSpPr txBox="1"/>
          <p:nvPr/>
        </p:nvSpPr>
        <p:spPr>
          <a:xfrm>
            <a:off x="731520" y="4663440"/>
            <a:ext cx="2103120" cy="594360"/>
          </a:xfrm>
          <a:prstGeom prst="rect">
            <a:avLst/>
          </a:prstGeom>
          <a:noFill/>
          <a:ln/>
        </p:spPr>
        <p:txBody>
          <a:bodyPr wrap="square" lIns="0" tIns="0" rIns="0" bIns="0" rtlCol="0" anchor="t"/>
          <a:lstStyle/>
          <a:p>
            <a:pPr indent="0" marL="0">
              <a:buNone/>
            </a:pPr>
            <a:r>
              <a:rPr lang="en-US" sz="1300" dirty="0">
                <a:solidFill>
                  <a:schemeClr val="accent5"/>
                </a:solidFill>
              </a:rPr>
              <a:t>successful requests</a:t>
            </a:r>
            <a:endParaRPr lang="en-US" sz="1300" dirty="0"/>
          </a:p>
        </p:txBody>
      </p:sp>
      <p:sp>
        <p:nvSpPr>
          <p:cNvPr id="12" name="stat 0"/>
          <p:cNvSpPr/>
          <p:nvPr/>
        </p:nvSpPr>
        <p:spPr>
          <a:xfrm>
            <a:off x="3154680" y="3566160"/>
            <a:ext cx="2423160" cy="1828800"/>
          </a:xfrm>
          <a:prstGeom prst="roundRect">
            <a:avLst>
              <a:gd name="adj" fmla="val 5000"/>
            </a:avLst>
          </a:prstGeom>
          <a:solidFill>
            <a:srgbClr val="E3F1EA"/>
          </a:solidFill>
          <a:ln/>
        </p:spPr>
      </p:sp>
      <p:sp>
        <p:nvSpPr>
          <p:cNvPr id="13" name="Text 11"/>
          <p:cNvSpPr txBox="1"/>
          <p:nvPr/>
        </p:nvSpPr>
        <p:spPr>
          <a:xfrm>
            <a:off x="3337560" y="3749040"/>
            <a:ext cx="2103120" cy="86868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14" name="Text 12"/>
          <p:cNvSpPr txBox="1"/>
          <p:nvPr/>
        </p:nvSpPr>
        <p:spPr>
          <a:xfrm>
            <a:off x="3337560" y="4663440"/>
            <a:ext cx="2103120" cy="594360"/>
          </a:xfrm>
          <a:prstGeom prst="rect">
            <a:avLst/>
          </a:prstGeom>
          <a:noFill/>
          <a:ln/>
        </p:spPr>
        <p:txBody>
          <a:bodyPr wrap="square" lIns="0" tIns="0" rIns="0" bIns="0" rtlCol="0" anchor="t"/>
          <a:lstStyle/>
          <a:p>
            <a:pPr indent="0" marL="0">
              <a:buNone/>
            </a:pPr>
            <a:r>
              <a:rPr lang="en-US" sz="1300" dirty="0">
                <a:solidFill>
                  <a:schemeClr val="accent5"/>
                </a:solidFill>
              </a:rPr>
              <a:t>failed requests</a:t>
            </a:r>
            <a:endParaRPr lang="en-US" sz="1300" dirty="0"/>
          </a:p>
        </p:txBody>
      </p:sp>
      <p:sp>
        <p:nvSpPr>
          <p:cNvPr id="15" name="Text 13"/>
          <p:cNvSpPr txBox="1"/>
          <p:nvPr/>
        </p:nvSpPr>
        <p:spPr>
          <a:xfrm>
            <a:off x="548640" y="5715000"/>
            <a:ext cx="5120640" cy="32004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python scripts/load.py --seconds 60 --workers 4</a:t>
            </a:r>
            <a:endParaRPr lang="en-US" sz="1300" dirty="0"/>
          </a:p>
        </p:txBody>
      </p:sp>
      <p:sp>
        <p:nvSpPr>
          <p:cNvPr id="16" name="frame kubectl get hpa showing scale up to 4 replicas"/>
          <p:cNvSpPr/>
          <p:nvPr/>
        </p:nvSpPr>
        <p:spPr>
          <a:xfrm>
            <a:off x="5980176" y="1871472"/>
            <a:ext cx="5715000" cy="3846576"/>
          </a:xfrm>
          <a:prstGeom prst="rect">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pic>
        <p:nvPicPr>
          <p:cNvPr id="17" name="Image 0" descr="kubectl get hpa showing scale up to 4 replicas">    </p:cNvPr>
          <p:cNvPicPr>
            <a:picLocks noChangeAspect="1"/>
          </p:cNvPicPr>
          <p:nvPr/>
        </p:nvPicPr>
        <p:blipFill>
          <a:blip r:embed="rId1"/>
          <a:stretch>
            <a:fillRect/>
          </a:stretch>
        </p:blipFill>
        <p:spPr>
          <a:xfrm>
            <a:off x="6035040" y="1926336"/>
            <a:ext cx="5605272" cy="3736848"/>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Troubleshooting labs: symptom, cause, fix</a:t>
            </a:r>
            <a:endParaRPr lang="en-US" sz="3600" dirty="0"/>
          </a:p>
        </p:txBody>
      </p:sp>
      <p:sp>
        <p:nvSpPr>
          <p:cNvPr id="3" name="lab Broken image"/>
          <p:cNvSpPr/>
          <p:nvPr/>
        </p:nvSpPr>
        <p:spPr>
          <a:xfrm>
            <a:off x="548640" y="1508760"/>
            <a:ext cx="3515258" cy="4206240"/>
          </a:xfrm>
          <a:prstGeom prst="roundRect">
            <a:avLst>
              <a:gd name="adj" fmla="val 2601"/>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4" name="icon tile FaImage"/>
          <p:cNvSpPr/>
          <p:nvPr/>
        </p:nvSpPr>
        <p:spPr>
          <a:xfrm>
            <a:off x="822960" y="1737360"/>
            <a:ext cx="640080" cy="640080"/>
          </a:xfrm>
          <a:prstGeom prst="roundRect">
            <a:avLst>
              <a:gd name="adj" fmla="val 17143"/>
            </a:avLst>
          </a:prstGeom>
          <a:solidFill>
            <a:schemeClr val="accent4"/>
          </a:solidFill>
          <a:ln/>
        </p:spPr>
      </p:sp>
      <p:pic>
        <p:nvPicPr>
          <p:cNvPr id="5" name="Image 0" descr="Image icon">    </p:cNvPr>
          <p:cNvPicPr>
            <a:picLocks noChangeAspect="1"/>
          </p:cNvPicPr>
          <p:nvPr/>
        </p:nvPicPr>
        <p:blipFill>
          <a:blip r:embed="rId1"/>
          <a:stretch>
            <a:fillRect/>
          </a:stretch>
        </p:blipFill>
        <p:spPr>
          <a:xfrm>
            <a:off x="976579" y="1890979"/>
            <a:ext cx="332842" cy="332842"/>
          </a:xfrm>
          <a:prstGeom prst="rect">
            <a:avLst/>
          </a:prstGeom>
        </p:spPr>
      </p:pic>
      <p:sp>
        <p:nvSpPr>
          <p:cNvPr id="6" name="Text 3"/>
          <p:cNvSpPr txBox="1"/>
          <p:nvPr/>
        </p:nvSpPr>
        <p:spPr>
          <a:xfrm>
            <a:off x="1645920" y="1874520"/>
            <a:ext cx="2235098"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Broken image</a:t>
            </a:r>
            <a:endParaRPr lang="en-US" sz="1800" dirty="0"/>
          </a:p>
        </p:txBody>
      </p:sp>
      <p:sp>
        <p:nvSpPr>
          <p:cNvPr id="7" name="Text 4"/>
          <p:cNvSpPr txBox="1"/>
          <p:nvPr/>
        </p:nvSpPr>
        <p:spPr>
          <a:xfrm>
            <a:off x="822960" y="265176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SYMPTOM</a:t>
            </a:r>
            <a:endParaRPr lang="en-US" sz="1100" dirty="0"/>
          </a:p>
        </p:txBody>
      </p:sp>
      <p:sp>
        <p:nvSpPr>
          <p:cNvPr id="8" name="Text 5"/>
          <p:cNvSpPr txBox="1"/>
          <p:nvPr/>
        </p:nvSpPr>
        <p:spPr>
          <a:xfrm>
            <a:off x="822960" y="2926080"/>
            <a:ext cx="2966618" cy="640080"/>
          </a:xfrm>
          <a:prstGeom prst="rect">
            <a:avLst/>
          </a:prstGeom>
          <a:noFill/>
          <a:ln/>
        </p:spPr>
        <p:txBody>
          <a:bodyPr wrap="square" lIns="0" tIns="0" rIns="0" bIns="0" rtlCol="0" anchor="t"/>
          <a:lstStyle/>
          <a:p>
            <a:pPr indent="0" marL="0">
              <a:buNone/>
            </a:pPr>
            <a:r>
              <a:rPr lang="en-US" sz="1400" dirty="0">
                <a:solidFill>
                  <a:schemeClr val="tx1"/>
                </a:solidFill>
              </a:rPr>
              <a:t>Pods stuck in ImagePullBackOff</a:t>
            </a:r>
            <a:endParaRPr lang="en-US" sz="1400" dirty="0"/>
          </a:p>
        </p:txBody>
      </p:sp>
      <p:sp>
        <p:nvSpPr>
          <p:cNvPr id="9" name="Text 6"/>
          <p:cNvSpPr txBox="1"/>
          <p:nvPr/>
        </p:nvSpPr>
        <p:spPr>
          <a:xfrm>
            <a:off x="822960" y="365760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CAUSE</a:t>
            </a:r>
            <a:endParaRPr lang="en-US" sz="1100" dirty="0"/>
          </a:p>
        </p:txBody>
      </p:sp>
      <p:sp>
        <p:nvSpPr>
          <p:cNvPr id="10" name="Text 7"/>
          <p:cNvSpPr txBox="1"/>
          <p:nvPr/>
        </p:nvSpPr>
        <p:spPr>
          <a:xfrm>
            <a:off x="822960" y="3931920"/>
            <a:ext cx="2966618" cy="640080"/>
          </a:xfrm>
          <a:prstGeom prst="rect">
            <a:avLst/>
          </a:prstGeom>
          <a:noFill/>
          <a:ln/>
        </p:spPr>
        <p:txBody>
          <a:bodyPr wrap="square" lIns="0" tIns="0" rIns="0" bIns="0" rtlCol="0" anchor="t"/>
          <a:lstStyle/>
          <a:p>
            <a:pPr indent="0" marL="0">
              <a:buNone/>
            </a:pPr>
            <a:r>
              <a:rPr lang="en-US" sz="1400" dirty="0">
                <a:solidFill>
                  <a:schemeClr val="tx1"/>
                </a:solidFill>
              </a:rPr>
              <a:t>Pod events name a tag that does not exist</a:t>
            </a:r>
            <a:endParaRPr lang="en-US" sz="1400" dirty="0"/>
          </a:p>
        </p:txBody>
      </p:sp>
      <p:sp>
        <p:nvSpPr>
          <p:cNvPr id="11" name="Text 8"/>
          <p:cNvSpPr txBox="1"/>
          <p:nvPr/>
        </p:nvSpPr>
        <p:spPr>
          <a:xfrm>
            <a:off x="822960" y="4663440"/>
            <a:ext cx="2966618"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FIX</a:t>
            </a:r>
            <a:endParaRPr lang="en-US" sz="1100" dirty="0"/>
          </a:p>
        </p:txBody>
      </p:sp>
      <p:sp>
        <p:nvSpPr>
          <p:cNvPr id="12" name="Text 9"/>
          <p:cNvSpPr txBox="1"/>
          <p:nvPr/>
        </p:nvSpPr>
        <p:spPr>
          <a:xfrm>
            <a:off x="822960" y="4937760"/>
            <a:ext cx="2966618" cy="640080"/>
          </a:xfrm>
          <a:prstGeom prst="rect">
            <a:avLst/>
          </a:prstGeom>
          <a:noFill/>
          <a:ln/>
        </p:spPr>
        <p:txBody>
          <a:bodyPr wrap="square" lIns="0" tIns="0" rIns="0" bIns="0" rtlCol="0" anchor="t"/>
          <a:lstStyle/>
          <a:p>
            <a:pPr indent="0" marL="0">
              <a:buNone/>
            </a:pPr>
            <a:r>
              <a:rPr lang="en-US" sz="1400" dirty="0">
                <a:solidFill>
                  <a:schemeClr val="tx1"/>
                </a:solidFill>
              </a:rPr>
              <a:t>kubectl set image to a real tag, watch the rollout</a:t>
            </a:r>
            <a:endParaRPr lang="en-US" sz="1400" dirty="0"/>
          </a:p>
        </p:txBody>
      </p:sp>
      <p:sp>
        <p:nvSpPr>
          <p:cNvPr id="13" name="lab Broken Service"/>
          <p:cNvSpPr/>
          <p:nvPr/>
        </p:nvSpPr>
        <p:spPr>
          <a:xfrm>
            <a:off x="4338218" y="1508760"/>
            <a:ext cx="3515258" cy="4206240"/>
          </a:xfrm>
          <a:prstGeom prst="roundRect">
            <a:avLst>
              <a:gd name="adj" fmla="val 2601"/>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14" name="icon tile FaPlug"/>
          <p:cNvSpPr/>
          <p:nvPr/>
        </p:nvSpPr>
        <p:spPr>
          <a:xfrm>
            <a:off x="4612538" y="1737360"/>
            <a:ext cx="640080" cy="640080"/>
          </a:xfrm>
          <a:prstGeom prst="roundRect">
            <a:avLst>
              <a:gd name="adj" fmla="val 17143"/>
            </a:avLst>
          </a:prstGeom>
          <a:solidFill>
            <a:schemeClr val="accent4"/>
          </a:solidFill>
          <a:ln/>
        </p:spPr>
      </p:sp>
      <p:pic>
        <p:nvPicPr>
          <p:cNvPr id="15" name="Image 1" descr="Plug icon">    </p:cNvPr>
          <p:cNvPicPr>
            <a:picLocks noChangeAspect="1"/>
          </p:cNvPicPr>
          <p:nvPr/>
        </p:nvPicPr>
        <p:blipFill>
          <a:blip r:embed="rId2"/>
          <a:stretch>
            <a:fillRect/>
          </a:stretch>
        </p:blipFill>
        <p:spPr>
          <a:xfrm>
            <a:off x="4766158" y="1890979"/>
            <a:ext cx="332842" cy="332842"/>
          </a:xfrm>
          <a:prstGeom prst="rect">
            <a:avLst/>
          </a:prstGeom>
        </p:spPr>
      </p:pic>
      <p:sp>
        <p:nvSpPr>
          <p:cNvPr id="16" name="Text 12"/>
          <p:cNvSpPr txBox="1"/>
          <p:nvPr/>
        </p:nvSpPr>
        <p:spPr>
          <a:xfrm>
            <a:off x="5435498" y="1874520"/>
            <a:ext cx="2235098"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Broken Service</a:t>
            </a:r>
            <a:endParaRPr lang="en-US" sz="1800" dirty="0"/>
          </a:p>
        </p:txBody>
      </p:sp>
      <p:sp>
        <p:nvSpPr>
          <p:cNvPr id="17" name="Text 13"/>
          <p:cNvSpPr txBox="1"/>
          <p:nvPr/>
        </p:nvSpPr>
        <p:spPr>
          <a:xfrm>
            <a:off x="4612538" y="265176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SYMPTOM</a:t>
            </a:r>
            <a:endParaRPr lang="en-US" sz="1100" dirty="0"/>
          </a:p>
        </p:txBody>
      </p:sp>
      <p:sp>
        <p:nvSpPr>
          <p:cNvPr id="18" name="Text 14"/>
          <p:cNvSpPr txBox="1"/>
          <p:nvPr/>
        </p:nvSpPr>
        <p:spPr>
          <a:xfrm>
            <a:off x="4612538" y="2926080"/>
            <a:ext cx="2966618" cy="640080"/>
          </a:xfrm>
          <a:prstGeom prst="rect">
            <a:avLst/>
          </a:prstGeom>
          <a:noFill/>
          <a:ln/>
        </p:spPr>
        <p:txBody>
          <a:bodyPr wrap="square" lIns="0" tIns="0" rIns="0" bIns="0" rtlCol="0" anchor="t"/>
          <a:lstStyle/>
          <a:p>
            <a:pPr indent="0" marL="0">
              <a:buNone/>
            </a:pPr>
            <a:r>
              <a:rPr lang="en-US" sz="1400" dirty="0">
                <a:solidFill>
                  <a:schemeClr val="tx1"/>
                </a:solidFill>
              </a:rPr>
              <a:t>ClusterIP exists, but no endpoints</a:t>
            </a:r>
            <a:endParaRPr lang="en-US" sz="1400" dirty="0"/>
          </a:p>
        </p:txBody>
      </p:sp>
      <p:sp>
        <p:nvSpPr>
          <p:cNvPr id="19" name="Text 15"/>
          <p:cNvSpPr txBox="1"/>
          <p:nvPr/>
        </p:nvSpPr>
        <p:spPr>
          <a:xfrm>
            <a:off x="4612538" y="365760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CAUSE</a:t>
            </a:r>
            <a:endParaRPr lang="en-US" sz="1100" dirty="0"/>
          </a:p>
        </p:txBody>
      </p:sp>
      <p:sp>
        <p:nvSpPr>
          <p:cNvPr id="20" name="Text 16"/>
          <p:cNvSpPr txBox="1"/>
          <p:nvPr/>
        </p:nvSpPr>
        <p:spPr>
          <a:xfrm>
            <a:off x="4612538" y="3931920"/>
            <a:ext cx="2966618" cy="640080"/>
          </a:xfrm>
          <a:prstGeom prst="rect">
            <a:avLst/>
          </a:prstGeom>
          <a:noFill/>
          <a:ln/>
        </p:spPr>
        <p:txBody>
          <a:bodyPr wrap="square" lIns="0" tIns="0" rIns="0" bIns="0" rtlCol="0" anchor="t"/>
          <a:lstStyle/>
          <a:p>
            <a:pPr indent="0" marL="0">
              <a:buNone/>
            </a:pPr>
            <a:r>
              <a:rPr lang="en-US" sz="1400" dirty="0">
                <a:solidFill>
                  <a:schemeClr val="tx1"/>
                </a:solidFill>
              </a:rPr>
              <a:t>Selector app=nonexistent-backend matches no pod labels</a:t>
            </a:r>
            <a:endParaRPr lang="en-US" sz="1400" dirty="0"/>
          </a:p>
        </p:txBody>
      </p:sp>
      <p:sp>
        <p:nvSpPr>
          <p:cNvPr id="21" name="Text 17"/>
          <p:cNvSpPr txBox="1"/>
          <p:nvPr/>
        </p:nvSpPr>
        <p:spPr>
          <a:xfrm>
            <a:off x="4612538" y="4663440"/>
            <a:ext cx="2966618"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FIX</a:t>
            </a:r>
            <a:endParaRPr lang="en-US" sz="1100" dirty="0"/>
          </a:p>
        </p:txBody>
      </p:sp>
      <p:sp>
        <p:nvSpPr>
          <p:cNvPr id="22" name="Text 18"/>
          <p:cNvSpPr txBox="1"/>
          <p:nvPr/>
        </p:nvSpPr>
        <p:spPr>
          <a:xfrm>
            <a:off x="4612538" y="4937760"/>
            <a:ext cx="2966618" cy="640080"/>
          </a:xfrm>
          <a:prstGeom prst="rect">
            <a:avLst/>
          </a:prstGeom>
          <a:noFill/>
          <a:ln/>
        </p:spPr>
        <p:txBody>
          <a:bodyPr wrap="square" lIns="0" tIns="0" rIns="0" bIns="0" rtlCol="0" anchor="t"/>
          <a:lstStyle/>
          <a:p>
            <a:pPr indent="0" marL="0">
              <a:buNone/>
            </a:pPr>
            <a:r>
              <a:rPr lang="en-US" sz="1400" dirty="0">
                <a:solidFill>
                  <a:schemeClr val="tx1"/>
                </a:solidFill>
              </a:rPr>
              <a:t>kubectl set selector app=backend</a:t>
            </a:r>
            <a:endParaRPr lang="en-US" sz="1400" dirty="0"/>
          </a:p>
        </p:txBody>
      </p:sp>
      <p:sp>
        <p:nvSpPr>
          <p:cNvPr id="23" name="lab Not ready"/>
          <p:cNvSpPr/>
          <p:nvPr/>
        </p:nvSpPr>
        <p:spPr>
          <a:xfrm>
            <a:off x="8127797" y="1508760"/>
            <a:ext cx="3515258" cy="4206240"/>
          </a:xfrm>
          <a:prstGeom prst="roundRect">
            <a:avLst>
              <a:gd name="adj" fmla="val 2601"/>
            </a:avLst>
          </a:prstGeom>
          <a:solidFill>
            <a:schemeClr val="bg1"/>
          </a:solidFill>
          <a:ln w="9525">
            <a:solidFill>
              <a:srgbClr val="D7E3DD"/>
            </a:solidFill>
            <a:prstDash val="solid"/>
          </a:ln>
          <a:effectLst>
            <a:outerShdw sx="100000" sy="100000" kx="0" ky="0" algn="bl" rotWithShape="0" blurRad="101600" dist="25400" dir="5400000">
              <a:srgbClr val="14261F">
                <a:alpha val="14000"/>
              </a:srgbClr>
            </a:outerShdw>
          </a:effectLst>
        </p:spPr>
      </p:sp>
      <p:sp>
        <p:nvSpPr>
          <p:cNvPr id="24" name="icon tile FaHeartPulse"/>
          <p:cNvSpPr/>
          <p:nvPr/>
        </p:nvSpPr>
        <p:spPr>
          <a:xfrm>
            <a:off x="8402117" y="1737360"/>
            <a:ext cx="640080" cy="640080"/>
          </a:xfrm>
          <a:prstGeom prst="roundRect">
            <a:avLst>
              <a:gd name="adj" fmla="val 17143"/>
            </a:avLst>
          </a:prstGeom>
          <a:solidFill>
            <a:schemeClr val="accent4"/>
          </a:solidFill>
          <a:ln/>
        </p:spPr>
      </p:sp>
      <p:pic>
        <p:nvPicPr>
          <p:cNvPr id="25" name="Image 2" descr="HeartPulse icon">    </p:cNvPr>
          <p:cNvPicPr>
            <a:picLocks noChangeAspect="1"/>
          </p:cNvPicPr>
          <p:nvPr/>
        </p:nvPicPr>
        <p:blipFill>
          <a:blip r:embed="rId3"/>
          <a:stretch>
            <a:fillRect/>
          </a:stretch>
        </p:blipFill>
        <p:spPr>
          <a:xfrm>
            <a:off x="8555736" y="1890979"/>
            <a:ext cx="332842" cy="332842"/>
          </a:xfrm>
          <a:prstGeom prst="rect">
            <a:avLst/>
          </a:prstGeom>
        </p:spPr>
      </p:pic>
      <p:sp>
        <p:nvSpPr>
          <p:cNvPr id="26" name="Text 21"/>
          <p:cNvSpPr txBox="1"/>
          <p:nvPr/>
        </p:nvSpPr>
        <p:spPr>
          <a:xfrm>
            <a:off x="9225077" y="1874520"/>
            <a:ext cx="2235098"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Not ready</a:t>
            </a:r>
            <a:endParaRPr lang="en-US" sz="1800" dirty="0"/>
          </a:p>
        </p:txBody>
      </p:sp>
      <p:sp>
        <p:nvSpPr>
          <p:cNvPr id="27" name="Text 22"/>
          <p:cNvSpPr txBox="1"/>
          <p:nvPr/>
        </p:nvSpPr>
        <p:spPr>
          <a:xfrm>
            <a:off x="8402117" y="265176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SYMPTOM</a:t>
            </a:r>
            <a:endParaRPr lang="en-US" sz="1100" dirty="0"/>
          </a:p>
        </p:txBody>
      </p:sp>
      <p:sp>
        <p:nvSpPr>
          <p:cNvPr id="28" name="Text 23"/>
          <p:cNvSpPr txBox="1"/>
          <p:nvPr/>
        </p:nvSpPr>
        <p:spPr>
          <a:xfrm>
            <a:off x="8402117" y="2926080"/>
            <a:ext cx="2966618" cy="640080"/>
          </a:xfrm>
          <a:prstGeom prst="rect">
            <a:avLst/>
          </a:prstGeom>
          <a:noFill/>
          <a:ln/>
        </p:spPr>
        <p:txBody>
          <a:bodyPr wrap="square" lIns="0" tIns="0" rIns="0" bIns="0" rtlCol="0" anchor="t"/>
          <a:lstStyle/>
          <a:p>
            <a:pPr indent="0" marL="0">
              <a:buNone/>
            </a:pPr>
            <a:r>
              <a:rPr lang="en-US" sz="1400" dirty="0">
                <a:solidFill>
                  <a:schemeClr val="tx1"/>
                </a:solidFill>
              </a:rPr>
              <a:t>Pod Running but 0/1, no endpoint</a:t>
            </a:r>
            <a:endParaRPr lang="en-US" sz="1400" dirty="0"/>
          </a:p>
        </p:txBody>
      </p:sp>
      <p:sp>
        <p:nvSpPr>
          <p:cNvPr id="29" name="Text 24"/>
          <p:cNvSpPr txBox="1"/>
          <p:nvPr/>
        </p:nvSpPr>
        <p:spPr>
          <a:xfrm>
            <a:off x="8402117" y="3657600"/>
            <a:ext cx="2966618" cy="256032"/>
          </a:xfrm>
          <a:prstGeom prst="rect">
            <a:avLst/>
          </a:prstGeom>
          <a:noFill/>
          <a:ln/>
        </p:spPr>
        <p:txBody>
          <a:bodyPr wrap="square" lIns="0" tIns="0" rIns="0" bIns="0" rtlCol="0" anchor="t"/>
          <a:lstStyle/>
          <a:p>
            <a:pPr indent="0" marL="0">
              <a:buNone/>
            </a:pPr>
            <a:r>
              <a:rPr lang="en-US" sz="1100" b="1" spc="200" kern="0" dirty="0">
                <a:solidFill>
                  <a:schemeClr val="accent6"/>
                </a:solidFill>
              </a:rPr>
              <a:t>CAUSE</a:t>
            </a:r>
            <a:endParaRPr lang="en-US" sz="1100" dirty="0"/>
          </a:p>
        </p:txBody>
      </p:sp>
      <p:sp>
        <p:nvSpPr>
          <p:cNvPr id="30" name="Text 25"/>
          <p:cNvSpPr txBox="1"/>
          <p:nvPr/>
        </p:nvSpPr>
        <p:spPr>
          <a:xfrm>
            <a:off x="8402117" y="3931920"/>
            <a:ext cx="2966618" cy="640080"/>
          </a:xfrm>
          <a:prstGeom prst="rect">
            <a:avLst/>
          </a:prstGeom>
          <a:noFill/>
          <a:ln/>
        </p:spPr>
        <p:txBody>
          <a:bodyPr wrap="square" lIns="0" tIns="0" rIns="0" bIns="0" rtlCol="0" anchor="t"/>
          <a:lstStyle/>
          <a:p>
            <a:pPr indent="0" marL="0">
              <a:buNone/>
            </a:pPr>
            <a:r>
              <a:rPr lang="en-US" sz="1400" dirty="0">
                <a:solidFill>
                  <a:schemeClr val="tx1"/>
                </a:solidFill>
              </a:rPr>
              <a:t>Readiness probe on /missing-probe returns 404</a:t>
            </a:r>
            <a:endParaRPr lang="en-US" sz="1400" dirty="0"/>
          </a:p>
        </p:txBody>
      </p:sp>
      <p:sp>
        <p:nvSpPr>
          <p:cNvPr id="31" name="Text 26"/>
          <p:cNvSpPr txBox="1"/>
          <p:nvPr/>
        </p:nvSpPr>
        <p:spPr>
          <a:xfrm>
            <a:off x="8402117" y="4663440"/>
            <a:ext cx="2966618" cy="256032"/>
          </a:xfrm>
          <a:prstGeom prst="rect">
            <a:avLst/>
          </a:prstGeom>
          <a:noFill/>
          <a:ln/>
        </p:spPr>
        <p:txBody>
          <a:bodyPr wrap="square" lIns="0" tIns="0" rIns="0" bIns="0" rtlCol="0" anchor="t"/>
          <a:lstStyle/>
          <a:p>
            <a:pPr indent="0" marL="0">
              <a:buNone/>
            </a:pPr>
            <a:r>
              <a:rPr lang="en-US" sz="1100" b="1" spc="200" kern="0" dirty="0">
                <a:solidFill>
                  <a:schemeClr val="accent1"/>
                </a:solidFill>
              </a:rPr>
              <a:t>FIX</a:t>
            </a:r>
            <a:endParaRPr lang="en-US" sz="1100" dirty="0"/>
          </a:p>
        </p:txBody>
      </p:sp>
      <p:sp>
        <p:nvSpPr>
          <p:cNvPr id="32" name="Text 27"/>
          <p:cNvSpPr txBox="1"/>
          <p:nvPr/>
        </p:nvSpPr>
        <p:spPr>
          <a:xfrm>
            <a:off x="8402117" y="4937760"/>
            <a:ext cx="2966618" cy="640080"/>
          </a:xfrm>
          <a:prstGeom prst="rect">
            <a:avLst/>
          </a:prstGeom>
          <a:noFill/>
          <a:ln/>
        </p:spPr>
        <p:txBody>
          <a:bodyPr wrap="square" lIns="0" tIns="0" rIns="0" bIns="0" rtlCol="0" anchor="t"/>
          <a:lstStyle/>
          <a:p>
            <a:pPr indent="0" marL="0">
              <a:buNone/>
            </a:pPr>
            <a:r>
              <a:rPr lang="en-US" sz="1400" dirty="0">
                <a:solidFill>
                  <a:schemeClr val="tx1"/>
                </a:solidFill>
              </a:rPr>
              <a:t>Fix the probe path; the pod becomes Ready</a:t>
            </a:r>
            <a:endParaRPr lang="en-US" sz="1400" dirty="0"/>
          </a:p>
        </p:txBody>
      </p:sp>
      <p:sp>
        <p:nvSpPr>
          <p:cNvPr id="33" name="Text 28"/>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300" dirty="0">
                <a:solidFill>
                  <a:schemeClr val="accent5"/>
                </a:solidFill>
              </a:rPr>
              <a:t>Each lab uses separate demo objects, so the real backend is never broken. helm rollback restores chart config, but not a database migration.</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latin typeface="Cambria" pitchFamily="34" charset="0"/>
                <a:ea typeface="Cambria" pitchFamily="34" charset="-122"/>
                <a:cs typeface="Cambria" pitchFamily="34" charset="-120"/>
              </a:rPr>
              <a:t>Design decisions and why</a:t>
            </a:r>
            <a:endParaRPr lang="en-US" sz="3600" dirty="0"/>
          </a:p>
        </p:txBody>
      </p:sp>
      <p:sp>
        <p:nvSpPr>
          <p:cNvPr id="3" name="decision"/>
          <p:cNvSpPr/>
          <p:nvPr/>
        </p:nvSpPr>
        <p:spPr>
          <a:xfrm>
            <a:off x="548640" y="1508760"/>
            <a:ext cx="5410048" cy="1280160"/>
          </a:xfrm>
          <a:prstGeom prst="roundRect">
            <a:avLst>
              <a:gd name="adj" fmla="val 7143"/>
            </a:avLst>
          </a:prstGeom>
          <a:solidFill>
            <a:schemeClr val="bg2"/>
          </a:solidFill>
          <a:ln/>
        </p:spPr>
      </p:sp>
      <p:sp>
        <p:nvSpPr>
          <p:cNvPr id="4" name="icon tile FaHeartPulse"/>
          <p:cNvSpPr/>
          <p:nvPr/>
        </p:nvSpPr>
        <p:spPr>
          <a:xfrm>
            <a:off x="777240" y="1828800"/>
            <a:ext cx="640080" cy="640080"/>
          </a:xfrm>
          <a:prstGeom prst="roundRect">
            <a:avLst>
              <a:gd name="adj" fmla="val 17143"/>
            </a:avLst>
          </a:prstGeom>
          <a:solidFill>
            <a:schemeClr val="accent1"/>
          </a:solidFill>
          <a:ln/>
        </p:spPr>
      </p:sp>
      <p:pic>
        <p:nvPicPr>
          <p:cNvPr id="5" name="Image 0" descr="HeartPulse icon">    </p:cNvPr>
          <p:cNvPicPr>
            <a:picLocks noChangeAspect="1"/>
          </p:cNvPicPr>
          <p:nvPr/>
        </p:nvPicPr>
        <p:blipFill>
          <a:blip r:embed="rId1"/>
          <a:stretch>
            <a:fillRect/>
          </a:stretch>
        </p:blipFill>
        <p:spPr>
          <a:xfrm>
            <a:off x="930859" y="1982419"/>
            <a:ext cx="332842" cy="332842"/>
          </a:xfrm>
          <a:prstGeom prst="rect">
            <a:avLst/>
          </a:prstGeom>
        </p:spPr>
      </p:pic>
      <p:sp>
        <p:nvSpPr>
          <p:cNvPr id="6" name="Text 3"/>
          <p:cNvSpPr txBox="1"/>
          <p:nvPr/>
        </p:nvSpPr>
        <p:spPr>
          <a:xfrm>
            <a:off x="1645920" y="1709928"/>
            <a:ext cx="4129888" cy="320040"/>
          </a:xfrm>
          <a:prstGeom prst="rect">
            <a:avLst/>
          </a:prstGeom>
          <a:noFill/>
          <a:ln/>
        </p:spPr>
        <p:txBody>
          <a:bodyPr wrap="square" lIns="0" tIns="0" rIns="0" bIns="0" rtlCol="0" anchor="t"/>
          <a:lstStyle/>
          <a:p>
            <a:pPr indent="0" marL="0">
              <a:buNone/>
            </a:pPr>
            <a:r>
              <a:rPr lang="en-US" sz="1600" b="1" dirty="0">
                <a:solidFill>
                  <a:schemeClr val="tx1"/>
                </a:solidFill>
              </a:rPr>
              <a:t>/health skips the DB, /ready checks it</a:t>
            </a:r>
            <a:endParaRPr lang="en-US" sz="1600" dirty="0"/>
          </a:p>
        </p:txBody>
      </p:sp>
      <p:sp>
        <p:nvSpPr>
          <p:cNvPr id="7" name="Text 4"/>
          <p:cNvSpPr txBox="1"/>
          <p:nvPr/>
        </p:nvSpPr>
        <p:spPr>
          <a:xfrm>
            <a:off x="1645920" y="207568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A database outage stops traffic instead of restarting healthy pods in a loop</a:t>
            </a:r>
            <a:endParaRPr lang="en-US" sz="1300" dirty="0"/>
          </a:p>
        </p:txBody>
      </p:sp>
      <p:sp>
        <p:nvSpPr>
          <p:cNvPr id="8" name="decision"/>
          <p:cNvSpPr/>
          <p:nvPr/>
        </p:nvSpPr>
        <p:spPr>
          <a:xfrm>
            <a:off x="6233008" y="1508760"/>
            <a:ext cx="5410048" cy="1280160"/>
          </a:xfrm>
          <a:prstGeom prst="roundRect">
            <a:avLst>
              <a:gd name="adj" fmla="val 7143"/>
            </a:avLst>
          </a:prstGeom>
          <a:solidFill>
            <a:schemeClr val="bg2"/>
          </a:solidFill>
          <a:ln/>
        </p:spPr>
      </p:sp>
      <p:sp>
        <p:nvSpPr>
          <p:cNvPr id="9" name="icon tile FaTag"/>
          <p:cNvSpPr/>
          <p:nvPr/>
        </p:nvSpPr>
        <p:spPr>
          <a:xfrm>
            <a:off x="6461608" y="1828800"/>
            <a:ext cx="640080" cy="640080"/>
          </a:xfrm>
          <a:prstGeom prst="roundRect">
            <a:avLst>
              <a:gd name="adj" fmla="val 17143"/>
            </a:avLst>
          </a:prstGeom>
          <a:solidFill>
            <a:schemeClr val="accent1"/>
          </a:solidFill>
          <a:ln/>
        </p:spPr>
      </p:sp>
      <p:pic>
        <p:nvPicPr>
          <p:cNvPr id="10" name="Image 1" descr="Tag icon">    </p:cNvPr>
          <p:cNvPicPr>
            <a:picLocks noChangeAspect="1"/>
          </p:cNvPicPr>
          <p:nvPr/>
        </p:nvPicPr>
        <p:blipFill>
          <a:blip r:embed="rId2"/>
          <a:stretch>
            <a:fillRect/>
          </a:stretch>
        </p:blipFill>
        <p:spPr>
          <a:xfrm>
            <a:off x="6615227" y="1982419"/>
            <a:ext cx="332842" cy="332842"/>
          </a:xfrm>
          <a:prstGeom prst="rect">
            <a:avLst/>
          </a:prstGeom>
        </p:spPr>
      </p:pic>
      <p:sp>
        <p:nvSpPr>
          <p:cNvPr id="11" name="Text 7"/>
          <p:cNvSpPr txBox="1"/>
          <p:nvPr/>
        </p:nvSpPr>
        <p:spPr>
          <a:xfrm>
            <a:off x="7330288" y="1709928"/>
            <a:ext cx="4129888" cy="320040"/>
          </a:xfrm>
          <a:prstGeom prst="rect">
            <a:avLst/>
          </a:prstGeom>
          <a:noFill/>
          <a:ln/>
        </p:spPr>
        <p:txBody>
          <a:bodyPr wrap="square" lIns="0" tIns="0" rIns="0" bIns="0" rtlCol="0" anchor="t"/>
          <a:lstStyle/>
          <a:p>
            <a:pPr indent="0" marL="0">
              <a:buNone/>
            </a:pPr>
            <a:r>
              <a:rPr lang="en-US" sz="1600" b="1" dirty="0">
                <a:solidFill>
                  <a:schemeClr val="tx1"/>
                </a:solidFill>
              </a:rPr>
              <a:t>Image tag = full commit SHA</a:t>
            </a:r>
            <a:endParaRPr lang="en-US" sz="1600" dirty="0"/>
          </a:p>
        </p:txBody>
      </p:sp>
      <p:sp>
        <p:nvSpPr>
          <p:cNvPr id="12" name="Text 8"/>
          <p:cNvSpPr txBox="1"/>
          <p:nvPr/>
        </p:nvSpPr>
        <p:spPr>
          <a:xfrm>
            <a:off x="7330288" y="207568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Immutable, traceable deployments: commit A is image A</a:t>
            </a:r>
            <a:endParaRPr lang="en-US" sz="1300" dirty="0"/>
          </a:p>
        </p:txBody>
      </p:sp>
      <p:sp>
        <p:nvSpPr>
          <p:cNvPr id="13" name="decision"/>
          <p:cNvSpPr/>
          <p:nvPr/>
        </p:nvSpPr>
        <p:spPr>
          <a:xfrm>
            <a:off x="548640" y="2971800"/>
            <a:ext cx="5410048" cy="1280160"/>
          </a:xfrm>
          <a:prstGeom prst="roundRect">
            <a:avLst>
              <a:gd name="adj" fmla="val 7143"/>
            </a:avLst>
          </a:prstGeom>
          <a:solidFill>
            <a:schemeClr val="bg2"/>
          </a:solidFill>
          <a:ln/>
        </p:spPr>
      </p:sp>
      <p:sp>
        <p:nvSpPr>
          <p:cNvPr id="14" name="icon tile FaLock"/>
          <p:cNvSpPr/>
          <p:nvPr/>
        </p:nvSpPr>
        <p:spPr>
          <a:xfrm>
            <a:off x="777240" y="3291840"/>
            <a:ext cx="640080" cy="640080"/>
          </a:xfrm>
          <a:prstGeom prst="roundRect">
            <a:avLst>
              <a:gd name="adj" fmla="val 17143"/>
            </a:avLst>
          </a:prstGeom>
          <a:solidFill>
            <a:schemeClr val="accent1"/>
          </a:solidFill>
          <a:ln/>
        </p:spPr>
      </p:sp>
      <p:pic>
        <p:nvPicPr>
          <p:cNvPr id="15" name="Image 2" descr="Lock icon">    </p:cNvPr>
          <p:cNvPicPr>
            <a:picLocks noChangeAspect="1"/>
          </p:cNvPicPr>
          <p:nvPr/>
        </p:nvPicPr>
        <p:blipFill>
          <a:blip r:embed="rId3"/>
          <a:stretch>
            <a:fillRect/>
          </a:stretch>
        </p:blipFill>
        <p:spPr>
          <a:xfrm>
            <a:off x="930859" y="3445459"/>
            <a:ext cx="332842" cy="332842"/>
          </a:xfrm>
          <a:prstGeom prst="rect">
            <a:avLst/>
          </a:prstGeom>
        </p:spPr>
      </p:pic>
      <p:sp>
        <p:nvSpPr>
          <p:cNvPr id="16" name="Text 11"/>
          <p:cNvSpPr txBox="1"/>
          <p:nvPr/>
        </p:nvSpPr>
        <p:spPr>
          <a:xfrm>
            <a:off x="1645920" y="3172968"/>
            <a:ext cx="4129888" cy="320040"/>
          </a:xfrm>
          <a:prstGeom prst="rect">
            <a:avLst/>
          </a:prstGeom>
          <a:noFill/>
          <a:ln/>
        </p:spPr>
        <p:txBody>
          <a:bodyPr wrap="square" lIns="0" tIns="0" rIns="0" bIns="0" rtlCol="0" anchor="t"/>
          <a:lstStyle/>
          <a:p>
            <a:pPr indent="0" marL="0">
              <a:buNone/>
            </a:pPr>
            <a:r>
              <a:rPr lang="en-US" sz="1600" b="1" dirty="0">
                <a:solidFill>
                  <a:schemeClr val="tx1"/>
                </a:solidFill>
              </a:rPr>
              <a:t>Publish only after scan + deploy</a:t>
            </a:r>
            <a:endParaRPr lang="en-US" sz="1600" dirty="0"/>
          </a:p>
        </p:txBody>
      </p:sp>
      <p:sp>
        <p:nvSpPr>
          <p:cNvPr id="17" name="Text 12"/>
          <p:cNvSpPr txBox="1"/>
          <p:nvPr/>
        </p:nvSpPr>
        <p:spPr>
          <a:xfrm>
            <a:off x="1645920" y="353872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A vulnerable or broken image is never pushed; one job holds write access</a:t>
            </a:r>
            <a:endParaRPr lang="en-US" sz="1300" dirty="0"/>
          </a:p>
        </p:txBody>
      </p:sp>
      <p:sp>
        <p:nvSpPr>
          <p:cNvPr id="18" name="decision"/>
          <p:cNvSpPr/>
          <p:nvPr/>
        </p:nvSpPr>
        <p:spPr>
          <a:xfrm>
            <a:off x="6233008" y="2971800"/>
            <a:ext cx="5410048" cy="1280160"/>
          </a:xfrm>
          <a:prstGeom prst="roundRect">
            <a:avLst>
              <a:gd name="adj" fmla="val 7143"/>
            </a:avLst>
          </a:prstGeom>
          <a:solidFill>
            <a:schemeClr val="bg2"/>
          </a:solidFill>
          <a:ln/>
        </p:spPr>
      </p:sp>
      <p:sp>
        <p:nvSpPr>
          <p:cNvPr id="19" name="icon tile FaGears"/>
          <p:cNvSpPr/>
          <p:nvPr/>
        </p:nvSpPr>
        <p:spPr>
          <a:xfrm>
            <a:off x="6461608" y="3291840"/>
            <a:ext cx="640080" cy="640080"/>
          </a:xfrm>
          <a:prstGeom prst="roundRect">
            <a:avLst>
              <a:gd name="adj" fmla="val 17143"/>
            </a:avLst>
          </a:prstGeom>
          <a:solidFill>
            <a:schemeClr val="accent1"/>
          </a:solidFill>
          <a:ln/>
        </p:spPr>
      </p:sp>
      <p:pic>
        <p:nvPicPr>
          <p:cNvPr id="20" name="Image 3" descr="Gears icon">    </p:cNvPr>
          <p:cNvPicPr>
            <a:picLocks noChangeAspect="1"/>
          </p:cNvPicPr>
          <p:nvPr/>
        </p:nvPicPr>
        <p:blipFill>
          <a:blip r:embed="rId4"/>
          <a:stretch>
            <a:fillRect/>
          </a:stretch>
        </p:blipFill>
        <p:spPr>
          <a:xfrm>
            <a:off x="6615227" y="3445459"/>
            <a:ext cx="332842" cy="332842"/>
          </a:xfrm>
          <a:prstGeom prst="rect">
            <a:avLst/>
          </a:prstGeom>
        </p:spPr>
      </p:pic>
      <p:sp>
        <p:nvSpPr>
          <p:cNvPr id="21" name="Text 15"/>
          <p:cNvSpPr txBox="1"/>
          <p:nvPr/>
        </p:nvSpPr>
        <p:spPr>
          <a:xfrm>
            <a:off x="7330288" y="3172968"/>
            <a:ext cx="4129888" cy="320040"/>
          </a:xfrm>
          <a:prstGeom prst="rect">
            <a:avLst/>
          </a:prstGeom>
          <a:noFill/>
          <a:ln/>
        </p:spPr>
        <p:txBody>
          <a:bodyPr wrap="square" lIns="0" tIns="0" rIns="0" bIns="0" rtlCol="0" anchor="t"/>
          <a:lstStyle/>
          <a:p>
            <a:pPr indent="0" marL="0">
              <a:buNone/>
            </a:pPr>
            <a:r>
              <a:rPr lang="en-US" sz="1600" b="1" dirty="0">
                <a:solidFill>
                  <a:schemeClr val="tx1"/>
                </a:solidFill>
              </a:rPr>
              <a:t>Migrations in a separate Job</a:t>
            </a:r>
            <a:endParaRPr lang="en-US" sz="1600" dirty="0"/>
          </a:p>
        </p:txBody>
      </p:sp>
      <p:sp>
        <p:nvSpPr>
          <p:cNvPr id="22" name="Text 16"/>
          <p:cNvSpPr txBox="1"/>
          <p:nvPr/>
        </p:nvSpPr>
        <p:spPr>
          <a:xfrm>
            <a:off x="7330288" y="353872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One migration per release; backend is ready only once the schema exists</a:t>
            </a:r>
            <a:endParaRPr lang="en-US" sz="1300" dirty="0"/>
          </a:p>
        </p:txBody>
      </p:sp>
      <p:sp>
        <p:nvSpPr>
          <p:cNvPr id="23" name="decision"/>
          <p:cNvSpPr/>
          <p:nvPr/>
        </p:nvSpPr>
        <p:spPr>
          <a:xfrm>
            <a:off x="548640" y="4434840"/>
            <a:ext cx="5410048" cy="1280160"/>
          </a:xfrm>
          <a:prstGeom prst="roundRect">
            <a:avLst>
              <a:gd name="adj" fmla="val 7143"/>
            </a:avLst>
          </a:prstGeom>
          <a:solidFill>
            <a:schemeClr val="bg2"/>
          </a:solidFill>
          <a:ln/>
        </p:spPr>
      </p:sp>
      <p:sp>
        <p:nvSpPr>
          <p:cNvPr id="24" name="icon tile FaTags"/>
          <p:cNvSpPr/>
          <p:nvPr/>
        </p:nvSpPr>
        <p:spPr>
          <a:xfrm>
            <a:off x="777240" y="4754880"/>
            <a:ext cx="640080" cy="640080"/>
          </a:xfrm>
          <a:prstGeom prst="roundRect">
            <a:avLst>
              <a:gd name="adj" fmla="val 17143"/>
            </a:avLst>
          </a:prstGeom>
          <a:solidFill>
            <a:schemeClr val="accent1"/>
          </a:solidFill>
          <a:ln/>
        </p:spPr>
      </p:sp>
      <p:pic>
        <p:nvPicPr>
          <p:cNvPr id="25" name="Image 4" descr="Tags icon">    </p:cNvPr>
          <p:cNvPicPr>
            <a:picLocks noChangeAspect="1"/>
          </p:cNvPicPr>
          <p:nvPr/>
        </p:nvPicPr>
        <p:blipFill>
          <a:blip r:embed="rId5"/>
          <a:stretch>
            <a:fillRect/>
          </a:stretch>
        </p:blipFill>
        <p:spPr>
          <a:xfrm>
            <a:off x="930859" y="4908499"/>
            <a:ext cx="332842" cy="332842"/>
          </a:xfrm>
          <a:prstGeom prst="rect">
            <a:avLst/>
          </a:prstGeom>
        </p:spPr>
      </p:pic>
      <p:sp>
        <p:nvSpPr>
          <p:cNvPr id="26" name="Text 19"/>
          <p:cNvSpPr txBox="1"/>
          <p:nvPr/>
        </p:nvSpPr>
        <p:spPr>
          <a:xfrm>
            <a:off x="1645920" y="4636008"/>
            <a:ext cx="4129888" cy="320040"/>
          </a:xfrm>
          <a:prstGeom prst="rect">
            <a:avLst/>
          </a:prstGeom>
          <a:noFill/>
          <a:ln/>
        </p:spPr>
        <p:txBody>
          <a:bodyPr wrap="square" lIns="0" tIns="0" rIns="0" bIns="0" rtlCol="0" anchor="t"/>
          <a:lstStyle/>
          <a:p>
            <a:pPr indent="0" marL="0">
              <a:buNone/>
            </a:pPr>
            <a:r>
              <a:rPr lang="en-US" sz="1600" b="1" dirty="0">
                <a:solidFill>
                  <a:schemeClr val="tx1"/>
                </a:solidFill>
              </a:rPr>
              <a:t>Route templates as metric labels</a:t>
            </a:r>
            <a:endParaRPr lang="en-US" sz="1600" dirty="0"/>
          </a:p>
        </p:txBody>
      </p:sp>
      <p:sp>
        <p:nvSpPr>
          <p:cNvPr id="27" name="Text 20"/>
          <p:cNvSpPr txBox="1"/>
          <p:nvPr/>
        </p:nvSpPr>
        <p:spPr>
          <a:xfrm>
            <a:off x="1645920" y="500176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Ticket IDs as labels would create unbounded time series</a:t>
            </a:r>
            <a:endParaRPr lang="en-US" sz="1300" dirty="0"/>
          </a:p>
        </p:txBody>
      </p:sp>
      <p:sp>
        <p:nvSpPr>
          <p:cNvPr id="28" name="decision"/>
          <p:cNvSpPr/>
          <p:nvPr/>
        </p:nvSpPr>
        <p:spPr>
          <a:xfrm>
            <a:off x="6233008" y="4434840"/>
            <a:ext cx="5410048" cy="1280160"/>
          </a:xfrm>
          <a:prstGeom prst="roundRect">
            <a:avLst>
              <a:gd name="adj" fmla="val 7143"/>
            </a:avLst>
          </a:prstGeom>
          <a:solidFill>
            <a:schemeClr val="bg2"/>
          </a:solidFill>
          <a:ln/>
        </p:spPr>
      </p:sp>
      <p:sp>
        <p:nvSpPr>
          <p:cNvPr id="29" name="icon tile FaShieldHalved"/>
          <p:cNvSpPr/>
          <p:nvPr/>
        </p:nvSpPr>
        <p:spPr>
          <a:xfrm>
            <a:off x="6461608" y="4754880"/>
            <a:ext cx="640080" cy="640080"/>
          </a:xfrm>
          <a:prstGeom prst="roundRect">
            <a:avLst>
              <a:gd name="adj" fmla="val 17143"/>
            </a:avLst>
          </a:prstGeom>
          <a:solidFill>
            <a:schemeClr val="accent1"/>
          </a:solidFill>
          <a:ln/>
        </p:spPr>
      </p:sp>
      <p:pic>
        <p:nvPicPr>
          <p:cNvPr id="30" name="Image 5" descr="ShieldHalved icon">    </p:cNvPr>
          <p:cNvPicPr>
            <a:picLocks noChangeAspect="1"/>
          </p:cNvPicPr>
          <p:nvPr/>
        </p:nvPicPr>
        <p:blipFill>
          <a:blip r:embed="rId6"/>
          <a:stretch>
            <a:fillRect/>
          </a:stretch>
        </p:blipFill>
        <p:spPr>
          <a:xfrm>
            <a:off x="6615227" y="4908499"/>
            <a:ext cx="332842" cy="332842"/>
          </a:xfrm>
          <a:prstGeom prst="rect">
            <a:avLst/>
          </a:prstGeom>
        </p:spPr>
      </p:pic>
      <p:sp>
        <p:nvSpPr>
          <p:cNvPr id="31" name="Text 23"/>
          <p:cNvSpPr txBox="1"/>
          <p:nvPr/>
        </p:nvSpPr>
        <p:spPr>
          <a:xfrm>
            <a:off x="7330288" y="4636008"/>
            <a:ext cx="4129888" cy="320040"/>
          </a:xfrm>
          <a:prstGeom prst="rect">
            <a:avLst/>
          </a:prstGeom>
          <a:noFill/>
          <a:ln/>
        </p:spPr>
        <p:txBody>
          <a:bodyPr wrap="square" lIns="0" tIns="0" rIns="0" bIns="0" rtlCol="0" anchor="t"/>
          <a:lstStyle/>
          <a:p>
            <a:pPr indent="0" marL="0">
              <a:buNone/>
            </a:pPr>
            <a:r>
              <a:rPr lang="en-US" sz="1600" b="1" dirty="0">
                <a:solidFill>
                  <a:schemeClr val="tx1"/>
                </a:solidFill>
              </a:rPr>
              <a:t>Argo CD pruning disabled</a:t>
            </a:r>
            <a:endParaRPr lang="en-US" sz="1600" dirty="0"/>
          </a:p>
        </p:txBody>
      </p:sp>
      <p:sp>
        <p:nvSpPr>
          <p:cNvPr id="32" name="Text 24"/>
          <p:cNvSpPr txBox="1"/>
          <p:nvPr/>
        </p:nvSpPr>
        <p:spPr>
          <a:xfrm>
            <a:off x="7330288" y="5001768"/>
            <a:ext cx="4129888" cy="594360"/>
          </a:xfrm>
          <a:prstGeom prst="rect">
            <a:avLst/>
          </a:prstGeom>
          <a:noFill/>
          <a:ln/>
        </p:spPr>
        <p:txBody>
          <a:bodyPr wrap="square" lIns="0" tIns="0" rIns="0" bIns="0" rtlCol="0" anchor="t"/>
          <a:lstStyle/>
          <a:p>
            <a:pPr indent="0" marL="0">
              <a:buNone/>
            </a:pPr>
            <a:r>
              <a:rPr lang="en-US" sz="1300" dirty="0">
                <a:solidFill>
                  <a:schemeClr val="accent5"/>
                </a:solidFill>
              </a:rPr>
              <a:t>A bad commit cannot delete resources such as the database volume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777240"/>
          </a:xfrm>
          <a:prstGeom prst="rect">
            <a:avLst/>
          </a:prstGeom>
          <a:noFill/>
          <a:ln/>
        </p:spPr>
        <p:txBody>
          <a:bodyPr wrap="square" lIns="0" tIns="0" rIns="0" bIns="0" rtlCol="0" anchor="ctr"/>
          <a:lstStyle/>
          <a:p>
            <a:pPr algn="l" indent="0" marL="0">
              <a:buNone/>
            </a:pPr>
            <a:r>
              <a:rPr lang="en-US" sz="3600" b="1" dirty="0">
                <a:solidFill>
                  <a:schemeClr val="bg1"/>
                </a:solidFill>
                <a:latin typeface="Cambria" pitchFamily="34" charset="0"/>
                <a:ea typeface="Cambria" pitchFamily="34" charset="-122"/>
                <a:cs typeface="Cambria" pitchFamily="34" charset="-120"/>
              </a:rPr>
              <a:t>Key learnings and known limits</a:t>
            </a:r>
            <a:endParaRPr lang="en-US" sz="3600" dirty="0"/>
          </a:p>
        </p:txBody>
      </p:sp>
      <p:sp>
        <p:nvSpPr>
          <p:cNvPr id="3" name="Text 1"/>
          <p:cNvSpPr txBox="1"/>
          <p:nvPr/>
        </p:nvSpPr>
        <p:spPr>
          <a:xfrm>
            <a:off x="548640" y="1463040"/>
            <a:ext cx="548640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LEARNED</a:t>
            </a:r>
            <a:endParaRPr lang="en-US" sz="1300" dirty="0"/>
          </a:p>
        </p:txBody>
      </p:sp>
      <p:sp>
        <p:nvSpPr>
          <p:cNvPr id="4" name="icon tile FaCheck"/>
          <p:cNvSpPr/>
          <p:nvPr/>
        </p:nvSpPr>
        <p:spPr>
          <a:xfrm>
            <a:off x="548640" y="1874520"/>
            <a:ext cx="457200" cy="457200"/>
          </a:xfrm>
          <a:prstGeom prst="roundRect">
            <a:avLst>
              <a:gd name="adj" fmla="val 24000"/>
            </a:avLst>
          </a:prstGeom>
          <a:solidFill>
            <a:schemeClr val="accent1"/>
          </a:solidFill>
          <a:ln/>
        </p:spPr>
      </p:sp>
      <p:pic>
        <p:nvPicPr>
          <p:cNvPr id="5" name="Image 0" descr="Check icon">    </p:cNvPr>
          <p:cNvPicPr>
            <a:picLocks noChangeAspect="1"/>
          </p:cNvPicPr>
          <p:nvPr/>
        </p:nvPicPr>
        <p:blipFill>
          <a:blip r:embed="rId1"/>
          <a:stretch>
            <a:fillRect/>
          </a:stretch>
        </p:blipFill>
        <p:spPr>
          <a:xfrm>
            <a:off x="658368" y="1984248"/>
            <a:ext cx="237744" cy="237744"/>
          </a:xfrm>
          <a:prstGeom prst="rect">
            <a:avLst/>
          </a:prstGeom>
        </p:spPr>
      </p:pic>
      <p:sp>
        <p:nvSpPr>
          <p:cNvPr id="6" name="Text 3"/>
          <p:cNvSpPr txBox="1"/>
          <p:nvPr/>
        </p:nvSpPr>
        <p:spPr>
          <a:xfrm>
            <a:off x="1234440" y="1856232"/>
            <a:ext cx="5120640" cy="822960"/>
          </a:xfrm>
          <a:prstGeom prst="rect">
            <a:avLst/>
          </a:prstGeom>
          <a:noFill/>
          <a:ln/>
        </p:spPr>
        <p:txBody>
          <a:bodyPr wrap="square" lIns="0" tIns="0" rIns="0" bIns="0" rtlCol="0" anchor="t"/>
          <a:lstStyle/>
          <a:p>
            <a:pPr indent="0" marL="0">
              <a:buNone/>
            </a:pPr>
            <a:r>
              <a:rPr lang="en-US" sz="1500" dirty="0">
                <a:solidFill>
                  <a:schemeClr val="bg1"/>
                </a:solidFill>
              </a:rPr>
              <a:t>A gate only helps if a failure really blocks the release: Trivy stopped a vulnerable image</a:t>
            </a:r>
            <a:endParaRPr lang="en-US" sz="1500" dirty="0"/>
          </a:p>
        </p:txBody>
      </p:sp>
      <p:sp>
        <p:nvSpPr>
          <p:cNvPr id="7" name="icon tile FaCheck"/>
          <p:cNvSpPr/>
          <p:nvPr/>
        </p:nvSpPr>
        <p:spPr>
          <a:xfrm>
            <a:off x="548640" y="2807208"/>
            <a:ext cx="457200" cy="457200"/>
          </a:xfrm>
          <a:prstGeom prst="roundRect">
            <a:avLst>
              <a:gd name="adj" fmla="val 24000"/>
            </a:avLst>
          </a:prstGeom>
          <a:solidFill>
            <a:schemeClr val="accent1"/>
          </a:solidFill>
          <a:ln/>
        </p:spPr>
      </p:sp>
      <p:pic>
        <p:nvPicPr>
          <p:cNvPr id="8" name="Image 1" descr="Check icon">    </p:cNvPr>
          <p:cNvPicPr>
            <a:picLocks noChangeAspect="1"/>
          </p:cNvPicPr>
          <p:nvPr/>
        </p:nvPicPr>
        <p:blipFill>
          <a:blip r:embed="rId2"/>
          <a:stretch>
            <a:fillRect/>
          </a:stretch>
        </p:blipFill>
        <p:spPr>
          <a:xfrm>
            <a:off x="658368" y="2916936"/>
            <a:ext cx="237744" cy="237744"/>
          </a:xfrm>
          <a:prstGeom prst="rect">
            <a:avLst/>
          </a:prstGeom>
        </p:spPr>
      </p:pic>
      <p:sp>
        <p:nvSpPr>
          <p:cNvPr id="9" name="Text 5"/>
          <p:cNvSpPr txBox="1"/>
          <p:nvPr/>
        </p:nvSpPr>
        <p:spPr>
          <a:xfrm>
            <a:off x="1234440" y="2788920"/>
            <a:ext cx="5120640" cy="822960"/>
          </a:xfrm>
          <a:prstGeom prst="rect">
            <a:avLst/>
          </a:prstGeom>
          <a:noFill/>
          <a:ln/>
        </p:spPr>
        <p:txBody>
          <a:bodyPr wrap="square" lIns="0" tIns="0" rIns="0" bIns="0" rtlCol="0" anchor="t"/>
          <a:lstStyle/>
          <a:p>
            <a:pPr indent="0" marL="0">
              <a:buNone/>
            </a:pPr>
            <a:r>
              <a:rPr lang="en-US" sz="1500" dirty="0">
                <a:solidFill>
                  <a:schemeClr val="bg1"/>
                </a:solidFill>
              </a:rPr>
              <a:t>Git as the deployment record makes every release traceable to one commit</a:t>
            </a:r>
            <a:endParaRPr lang="en-US" sz="1500" dirty="0"/>
          </a:p>
        </p:txBody>
      </p:sp>
      <p:sp>
        <p:nvSpPr>
          <p:cNvPr id="10" name="icon tile FaCheck"/>
          <p:cNvSpPr/>
          <p:nvPr/>
        </p:nvSpPr>
        <p:spPr>
          <a:xfrm>
            <a:off x="548640" y="3739896"/>
            <a:ext cx="457200" cy="457200"/>
          </a:xfrm>
          <a:prstGeom prst="roundRect">
            <a:avLst>
              <a:gd name="adj" fmla="val 24000"/>
            </a:avLst>
          </a:prstGeom>
          <a:solidFill>
            <a:schemeClr val="accent1"/>
          </a:solidFill>
          <a:ln/>
        </p:spPr>
      </p:sp>
      <p:pic>
        <p:nvPicPr>
          <p:cNvPr id="11" name="Image 2" descr="Check icon">    </p:cNvPr>
          <p:cNvPicPr>
            <a:picLocks noChangeAspect="1"/>
          </p:cNvPicPr>
          <p:nvPr/>
        </p:nvPicPr>
        <p:blipFill>
          <a:blip r:embed="rId3"/>
          <a:stretch>
            <a:fillRect/>
          </a:stretch>
        </p:blipFill>
        <p:spPr>
          <a:xfrm>
            <a:off x="658368" y="3849624"/>
            <a:ext cx="237744" cy="237744"/>
          </a:xfrm>
          <a:prstGeom prst="rect">
            <a:avLst/>
          </a:prstGeom>
        </p:spPr>
      </p:pic>
      <p:sp>
        <p:nvSpPr>
          <p:cNvPr id="12" name="Text 7"/>
          <p:cNvSpPr txBox="1"/>
          <p:nvPr/>
        </p:nvSpPr>
        <p:spPr>
          <a:xfrm>
            <a:off x="1234440" y="3721608"/>
            <a:ext cx="5120640" cy="822960"/>
          </a:xfrm>
          <a:prstGeom prst="rect">
            <a:avLst/>
          </a:prstGeom>
          <a:noFill/>
          <a:ln/>
        </p:spPr>
        <p:txBody>
          <a:bodyPr wrap="square" lIns="0" tIns="0" rIns="0" bIns="0" rtlCol="0" anchor="t"/>
          <a:lstStyle/>
          <a:p>
            <a:pPr indent="0" marL="0">
              <a:buNone/>
            </a:pPr>
            <a:r>
              <a:rPr lang="en-US" sz="1500" dirty="0">
                <a:solidFill>
                  <a:schemeClr val="bg1"/>
                </a:solidFill>
              </a:rPr>
              <a:t>Separate liveness and readiness, and run migrations once, not in every replica</a:t>
            </a:r>
            <a:endParaRPr lang="en-US" sz="1500" dirty="0"/>
          </a:p>
        </p:txBody>
      </p:sp>
      <p:sp>
        <p:nvSpPr>
          <p:cNvPr id="13" name="icon tile FaCheck"/>
          <p:cNvSpPr/>
          <p:nvPr/>
        </p:nvSpPr>
        <p:spPr>
          <a:xfrm>
            <a:off x="548640" y="4672584"/>
            <a:ext cx="457200" cy="457200"/>
          </a:xfrm>
          <a:prstGeom prst="roundRect">
            <a:avLst>
              <a:gd name="adj" fmla="val 24000"/>
            </a:avLst>
          </a:prstGeom>
          <a:solidFill>
            <a:schemeClr val="accent1"/>
          </a:solidFill>
          <a:ln/>
        </p:spPr>
      </p:sp>
      <p:pic>
        <p:nvPicPr>
          <p:cNvPr id="14" name="Image 3" descr="Check icon">    </p:cNvPr>
          <p:cNvPicPr>
            <a:picLocks noChangeAspect="1"/>
          </p:cNvPicPr>
          <p:nvPr/>
        </p:nvPicPr>
        <p:blipFill>
          <a:blip r:embed="rId4"/>
          <a:stretch>
            <a:fillRect/>
          </a:stretch>
        </p:blipFill>
        <p:spPr>
          <a:xfrm>
            <a:off x="658368" y="4782312"/>
            <a:ext cx="237744" cy="237744"/>
          </a:xfrm>
          <a:prstGeom prst="rect">
            <a:avLst/>
          </a:prstGeom>
        </p:spPr>
      </p:pic>
      <p:sp>
        <p:nvSpPr>
          <p:cNvPr id="15" name="Text 9"/>
          <p:cNvSpPr txBox="1"/>
          <p:nvPr/>
        </p:nvSpPr>
        <p:spPr>
          <a:xfrm>
            <a:off x="1234440" y="4654296"/>
            <a:ext cx="5120640" cy="822960"/>
          </a:xfrm>
          <a:prstGeom prst="rect">
            <a:avLst/>
          </a:prstGeom>
          <a:noFill/>
          <a:ln/>
        </p:spPr>
        <p:txBody>
          <a:bodyPr wrap="square" lIns="0" tIns="0" rIns="0" bIns="0" rtlCol="0" anchor="t"/>
          <a:lstStyle/>
          <a:p>
            <a:pPr indent="0" marL="0">
              <a:buNone/>
            </a:pPr>
            <a:r>
              <a:rPr lang="en-US" sz="1500" dirty="0">
                <a:solidFill>
                  <a:schemeClr val="bg1"/>
                </a:solidFill>
              </a:rPr>
              <a:t>Evidence should show real runs and name the environment it came from</a:t>
            </a:r>
            <a:endParaRPr lang="en-US" sz="1500" dirty="0"/>
          </a:p>
        </p:txBody>
      </p:sp>
      <p:sp>
        <p:nvSpPr>
          <p:cNvPr id="16" name="Text 10"/>
          <p:cNvSpPr txBox="1"/>
          <p:nvPr/>
        </p:nvSpPr>
        <p:spPr>
          <a:xfrm>
            <a:off x="6720840" y="1463040"/>
            <a:ext cx="457200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NEXT STEPS</a:t>
            </a:r>
            <a:endParaRPr lang="en-US" sz="1300" dirty="0"/>
          </a:p>
        </p:txBody>
      </p:sp>
      <p:sp>
        <p:nvSpPr>
          <p:cNvPr id="17" name="icon tile FaArrowRight"/>
          <p:cNvSpPr/>
          <p:nvPr/>
        </p:nvSpPr>
        <p:spPr>
          <a:xfrm>
            <a:off x="6720840" y="1874520"/>
            <a:ext cx="457200" cy="457200"/>
          </a:xfrm>
          <a:prstGeom prst="roundRect">
            <a:avLst>
              <a:gd name="adj" fmla="val 24000"/>
            </a:avLst>
          </a:prstGeom>
          <a:solidFill>
            <a:schemeClr val="tx2"/>
          </a:solidFill>
          <a:ln/>
        </p:spPr>
      </p:sp>
      <p:pic>
        <p:nvPicPr>
          <p:cNvPr id="18" name="Image 4" descr="ArrowRight icon">    </p:cNvPr>
          <p:cNvPicPr>
            <a:picLocks noChangeAspect="1"/>
          </p:cNvPicPr>
          <p:nvPr/>
        </p:nvPicPr>
        <p:blipFill>
          <a:blip r:embed="rId5"/>
          <a:stretch>
            <a:fillRect/>
          </a:stretch>
        </p:blipFill>
        <p:spPr>
          <a:xfrm>
            <a:off x="6830568" y="1984248"/>
            <a:ext cx="237744" cy="237744"/>
          </a:xfrm>
          <a:prstGeom prst="rect">
            <a:avLst/>
          </a:prstGeom>
        </p:spPr>
      </p:pic>
      <p:sp>
        <p:nvSpPr>
          <p:cNvPr id="19" name="Text 12"/>
          <p:cNvSpPr txBox="1"/>
          <p:nvPr/>
        </p:nvSpPr>
        <p:spPr>
          <a:xfrm>
            <a:off x="7406640" y="1856232"/>
            <a:ext cx="4206240" cy="822960"/>
          </a:xfrm>
          <a:prstGeom prst="rect">
            <a:avLst/>
          </a:prstGeom>
          <a:noFill/>
          <a:ln/>
        </p:spPr>
        <p:txBody>
          <a:bodyPr wrap="square" lIns="0" tIns="0" rIns="0" bIns="0" rtlCol="0" anchor="t"/>
          <a:lstStyle/>
          <a:p>
            <a:pPr indent="0" marL="0">
              <a:buNone/>
            </a:pPr>
            <a:r>
              <a:rPr lang="en-US" sz="1500" dirty="0">
                <a:solidFill>
                  <a:schemeClr val="bg1"/>
                </a:solidFill>
              </a:rPr>
              <a:t>No authentication or RBAC yet</a:t>
            </a:r>
            <a:endParaRPr lang="en-US" sz="1500" dirty="0"/>
          </a:p>
        </p:txBody>
      </p:sp>
      <p:sp>
        <p:nvSpPr>
          <p:cNvPr id="20" name="icon tile FaArrowRight"/>
          <p:cNvSpPr/>
          <p:nvPr/>
        </p:nvSpPr>
        <p:spPr>
          <a:xfrm>
            <a:off x="6720840" y="2807208"/>
            <a:ext cx="457200" cy="457200"/>
          </a:xfrm>
          <a:prstGeom prst="roundRect">
            <a:avLst>
              <a:gd name="adj" fmla="val 24000"/>
            </a:avLst>
          </a:prstGeom>
          <a:solidFill>
            <a:schemeClr val="tx2"/>
          </a:solidFill>
          <a:ln/>
        </p:spPr>
      </p:sp>
      <p:pic>
        <p:nvPicPr>
          <p:cNvPr id="21" name="Image 5" descr="ArrowRight icon">    </p:cNvPr>
          <p:cNvPicPr>
            <a:picLocks noChangeAspect="1"/>
          </p:cNvPicPr>
          <p:nvPr/>
        </p:nvPicPr>
        <p:blipFill>
          <a:blip r:embed="rId6"/>
          <a:stretch>
            <a:fillRect/>
          </a:stretch>
        </p:blipFill>
        <p:spPr>
          <a:xfrm>
            <a:off x="6830568" y="2916936"/>
            <a:ext cx="237744" cy="237744"/>
          </a:xfrm>
          <a:prstGeom prst="rect">
            <a:avLst/>
          </a:prstGeom>
        </p:spPr>
      </p:pic>
      <p:sp>
        <p:nvSpPr>
          <p:cNvPr id="22" name="Text 14"/>
          <p:cNvSpPr txBox="1"/>
          <p:nvPr/>
        </p:nvSpPr>
        <p:spPr>
          <a:xfrm>
            <a:off x="7406640" y="2788920"/>
            <a:ext cx="4206240" cy="822960"/>
          </a:xfrm>
          <a:prstGeom prst="rect">
            <a:avLst/>
          </a:prstGeom>
          <a:noFill/>
          <a:ln/>
        </p:spPr>
        <p:txBody>
          <a:bodyPr wrap="square" lIns="0" tIns="0" rIns="0" bIns="0" rtlCol="0" anchor="t"/>
          <a:lstStyle/>
          <a:p>
            <a:pPr indent="0" marL="0">
              <a:buNone/>
            </a:pPr>
            <a:r>
              <a:rPr lang="en-US" sz="1500" dirty="0">
                <a:solidFill>
                  <a:schemeClr val="bg1"/>
                </a:solidFill>
              </a:rPr>
              <a:t>Single PostgreSQL instance; production wants RDS + backups</a:t>
            </a:r>
            <a:endParaRPr lang="en-US" sz="1500" dirty="0"/>
          </a:p>
        </p:txBody>
      </p:sp>
      <p:sp>
        <p:nvSpPr>
          <p:cNvPr id="23" name="icon tile FaArrowRight"/>
          <p:cNvSpPr/>
          <p:nvPr/>
        </p:nvSpPr>
        <p:spPr>
          <a:xfrm>
            <a:off x="6720840" y="3739896"/>
            <a:ext cx="457200" cy="457200"/>
          </a:xfrm>
          <a:prstGeom prst="roundRect">
            <a:avLst>
              <a:gd name="adj" fmla="val 24000"/>
            </a:avLst>
          </a:prstGeom>
          <a:solidFill>
            <a:schemeClr val="tx2"/>
          </a:solidFill>
          <a:ln/>
        </p:spPr>
      </p:sp>
      <p:pic>
        <p:nvPicPr>
          <p:cNvPr id="24" name="Image 6" descr="ArrowRight icon">    </p:cNvPr>
          <p:cNvPicPr>
            <a:picLocks noChangeAspect="1"/>
          </p:cNvPicPr>
          <p:nvPr/>
        </p:nvPicPr>
        <p:blipFill>
          <a:blip r:embed="rId7"/>
          <a:stretch>
            <a:fillRect/>
          </a:stretch>
        </p:blipFill>
        <p:spPr>
          <a:xfrm>
            <a:off x="6830568" y="3849624"/>
            <a:ext cx="237744" cy="237744"/>
          </a:xfrm>
          <a:prstGeom prst="rect">
            <a:avLst/>
          </a:prstGeom>
        </p:spPr>
      </p:pic>
      <p:sp>
        <p:nvSpPr>
          <p:cNvPr id="25" name="Text 16"/>
          <p:cNvSpPr txBox="1"/>
          <p:nvPr/>
        </p:nvSpPr>
        <p:spPr>
          <a:xfrm>
            <a:off x="7406640" y="3721608"/>
            <a:ext cx="4206240" cy="822960"/>
          </a:xfrm>
          <a:prstGeom prst="rect">
            <a:avLst/>
          </a:prstGeom>
          <a:noFill/>
          <a:ln/>
        </p:spPr>
        <p:txBody>
          <a:bodyPr wrap="square" lIns="0" tIns="0" rIns="0" bIns="0" rtlCol="0" anchor="t"/>
          <a:lstStyle/>
          <a:p>
            <a:pPr indent="0" marL="0">
              <a:buNone/>
            </a:pPr>
            <a:r>
              <a:rPr lang="en-US" sz="1500" dirty="0">
                <a:solidFill>
                  <a:schemeClr val="bg1"/>
                </a:solidFill>
              </a:rPr>
              <a:t>Plain HTTP Ingress; production adds TLS (cert-manager)</a:t>
            </a:r>
            <a:endParaRPr lang="en-US" sz="1500" dirty="0"/>
          </a:p>
        </p:txBody>
      </p:sp>
      <p:sp>
        <p:nvSpPr>
          <p:cNvPr id="26" name="icon tile FaArrowRight"/>
          <p:cNvSpPr/>
          <p:nvPr/>
        </p:nvSpPr>
        <p:spPr>
          <a:xfrm>
            <a:off x="6720840" y="4672584"/>
            <a:ext cx="457200" cy="457200"/>
          </a:xfrm>
          <a:prstGeom prst="roundRect">
            <a:avLst>
              <a:gd name="adj" fmla="val 24000"/>
            </a:avLst>
          </a:prstGeom>
          <a:solidFill>
            <a:schemeClr val="tx2"/>
          </a:solidFill>
          <a:ln/>
        </p:spPr>
      </p:sp>
      <p:pic>
        <p:nvPicPr>
          <p:cNvPr id="27" name="Image 7" descr="ArrowRight icon">    </p:cNvPr>
          <p:cNvPicPr>
            <a:picLocks noChangeAspect="1"/>
          </p:cNvPicPr>
          <p:nvPr/>
        </p:nvPicPr>
        <p:blipFill>
          <a:blip r:embed="rId8"/>
          <a:stretch>
            <a:fillRect/>
          </a:stretch>
        </p:blipFill>
        <p:spPr>
          <a:xfrm>
            <a:off x="6830568" y="4782312"/>
            <a:ext cx="237744" cy="237744"/>
          </a:xfrm>
          <a:prstGeom prst="rect">
            <a:avLst/>
          </a:prstGeom>
        </p:spPr>
      </p:pic>
      <p:sp>
        <p:nvSpPr>
          <p:cNvPr id="28" name="Text 18"/>
          <p:cNvSpPr txBox="1"/>
          <p:nvPr/>
        </p:nvSpPr>
        <p:spPr>
          <a:xfrm>
            <a:off x="7406640" y="4654296"/>
            <a:ext cx="4206240" cy="822960"/>
          </a:xfrm>
          <a:prstGeom prst="rect">
            <a:avLst/>
          </a:prstGeom>
          <a:noFill/>
          <a:ln/>
        </p:spPr>
        <p:txBody>
          <a:bodyPr wrap="square" lIns="0" tIns="0" rIns="0" bIns="0" rtlCol="0" anchor="t"/>
          <a:lstStyle/>
          <a:p>
            <a:pPr indent="0" marL="0">
              <a:buNone/>
            </a:pPr>
            <a:r>
              <a:rPr lang="en-US" sz="1500" dirty="0">
                <a:solidFill>
                  <a:schemeClr val="bg1"/>
                </a:solidFill>
              </a:rPr>
              <a:t>Local Prometheus/Grafana storage is ephemeral</a:t>
            </a:r>
            <a:endParaRPr lang="en-US" sz="1500" dirty="0"/>
          </a:p>
        </p:txBody>
      </p:sp>
      <p:sp>
        <p:nvSpPr>
          <p:cNvPr id="29" name="Text 19"/>
          <p:cNvSpPr txBox="1"/>
          <p:nvPr/>
        </p:nvSpPr>
        <p:spPr>
          <a:xfrm>
            <a:off x="548640" y="5715000"/>
            <a:ext cx="10972800" cy="41148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Thank you   </a:t>
            </a:r>
            <a:pPr indent="0" marL="0">
              <a:buNone/>
            </a:pPr>
            <a:r>
              <a:rPr lang="en-US" sz="1600" dirty="0">
                <a:solidFill>
                  <a:schemeClr val="accent3"/>
                </a:solidFill>
              </a:rPr>
              <a:t>github.com/abdulkalamazad1001/scaler-devops-homework</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ampusDesk">
  <a:themeElements>
    <a:clrScheme name="CampusDesk">
      <a:dk1>
        <a:srgbClr val="14261F"/>
      </a:dk1>
      <a:lt1>
        <a:srgbClr val="FFFFFF"/>
      </a:lt1>
      <a:dk2>
        <a:srgbClr val="1E4A3B"/>
      </a:dk2>
      <a:lt2>
        <a:srgbClr val="EEF4F1"/>
      </a:lt2>
      <a:accent1>
        <a:srgbClr val="2E8B6A"/>
      </a:accent1>
      <a:accent2>
        <a:srgbClr val="F2A93B"/>
      </a:accent2>
      <a:accent3>
        <a:srgbClr val="8FC2AA"/>
      </a:accent3>
      <a:accent4>
        <a:srgbClr val="C8553D"/>
      </a:accent4>
      <a:accent5>
        <a:srgbClr val="4F6F64"/>
      </a:accent5>
      <a:accent6>
        <a:srgbClr val="6B7C75"/>
      </a:accent6>
      <a:hlink>
        <a:srgbClr val="2E8B6A"/>
      </a:hlink>
      <a:folHlink>
        <a:srgbClr val="4F6F64"/>
      </a:folHlink>
    </a:clrScheme>
    <a:fontScheme name="CampusDe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CampusDesk - DevOps Capstone</dc:title>
  <dc:subject>CampusDesk: campus IT helpdesk from laptop to GitOps-managed Kubernetes</dc:subject>
  <dc:creator>T. Abdul Kalam Azad (24BCS10053)</dc:creator>
  <cp:lastModifiedBy>T. Abdul Kalam Azad (24BCS10053)</cp:lastModifiedBy>
  <cp:revision>1</cp:revision>
  <dcterms:created xsi:type="dcterms:W3CDTF">2026-10-16T18:35:17Z</dcterms:created>
  <dcterms:modified xsi:type="dcterms:W3CDTF">2026-10-16T18:35:17Z</dcterms:modified>
</cp:coreProperties>
</file>